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6858000" y="0"/>
            <a:ext cx="5486400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77240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84124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TIRAHOU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15214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C5FD"/>
                </a:solidFill>
                <a:latin typeface="Segoe UI"/>
              </a:rPr>
              <a:t>Plateforme Universitaire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8686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FFFFFF"/>
                </a:solidFill>
                <a:latin typeface="Segoe UI Semibold"/>
              </a:rPr>
              <a:t>TIRAHOU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4290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CBD5E1"/>
                </a:solidFill>
                <a:latin typeface="Segoe UI"/>
              </a:rPr>
              <a:t>Conception et développement d'un système d'information</a:t>
            </a:r>
          </a:p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CBD5E1"/>
                </a:solidFill>
                <a:latin typeface="Segoe UI"/>
              </a:rPr>
              <a:t>universitaire intégré, du besoin métier au déploiement en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44348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MÉMOIRE DE FIN D'ÉTUDES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07492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E2E8F0"/>
                </a:solidFill>
                <a:latin typeface="Segoe UI"/>
              </a:rPr>
              <a:t>Présenté par : [Votre nom]</a:t>
            </a:r>
          </a:p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E2E8F0"/>
                </a:solidFill>
                <a:latin typeface="Segoe UI"/>
              </a:rPr>
              <a:t>Filière : Génie Logiciel / Informatique</a:t>
            </a:r>
          </a:p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E2E8F0"/>
                </a:solidFill>
                <a:latin typeface="Segoe UI"/>
              </a:rPr>
              <a:t>Encadreur : [Nom de l'encadreur]</a:t>
            </a:r>
          </a:p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E2E8F0"/>
                </a:solidFill>
                <a:latin typeface="Segoe UI"/>
              </a:rPr>
              <a:t>Année académique : 2024–2025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4A3B8"/>
                </a:solidFill>
                <a:latin typeface="Segoe UI"/>
              </a:rPr>
              <a:t>Soutenance publique — [Établissement] —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Plan de la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1874519"/>
            <a:ext cx="3520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280" y="2026919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2E8F0"/>
                </a:solidFill>
                <a:latin typeface="Segoe UI Semibol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280" y="2611119"/>
            <a:ext cx="3114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Contexte, problématique &amp; objectifs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74519"/>
            <a:ext cx="3520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6600" y="2026919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2E8F0"/>
                </a:solidFill>
                <a:latin typeface="Segoe UI Semi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6600" y="2611119"/>
            <a:ext cx="3114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Méthodologie &amp; état de l'art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74519"/>
            <a:ext cx="3520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9920" y="2026919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2E8F0"/>
                </a:solidFill>
                <a:latin typeface="Segoe UI Semi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9920" y="2611119"/>
            <a:ext cx="3114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Conception : acteurs, UML, architecture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91839"/>
            <a:ext cx="3520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280" y="3444239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2E8F0"/>
                </a:solidFill>
                <a:latin typeface="Segoe UI Semibol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80" y="4028439"/>
            <a:ext cx="3114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Sécurité &amp; choix technologiques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291839"/>
            <a:ext cx="3520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6600" y="3444239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2E8F0"/>
                </a:solidFill>
                <a:latin typeface="Segoe UI Semibold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6600" y="4028439"/>
            <a:ext cx="3114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Réalisation : modules &amp; interfaces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291839"/>
            <a:ext cx="3520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9920" y="3444239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2E8F0"/>
                </a:solidFill>
                <a:latin typeface="Segoe UI Semibold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9920" y="4028439"/>
            <a:ext cx="3114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Application mobile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709159"/>
            <a:ext cx="3520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280" y="4861559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2E8F0"/>
                </a:solidFill>
                <a:latin typeface="Segoe UI Semibold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" y="5445759"/>
            <a:ext cx="3114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Tests, validation &amp; résultats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4709159"/>
            <a:ext cx="3520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46600" y="4861559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2E8F0"/>
                </a:solidFill>
                <a:latin typeface="Segoe UI Semibold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6600" y="5445759"/>
            <a:ext cx="3114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Déploiement en production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4709159"/>
            <a:ext cx="3520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9920" y="4861559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2E8F0"/>
                </a:solidFill>
                <a:latin typeface="Segoe UI Semibold"/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9920" y="5445759"/>
            <a:ext cx="3114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Limites, perspectives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CHAPITRE 1 ·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Contexte : une gestion universitaire fragmentée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1828800"/>
            <a:ext cx="612648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2563EB"/>
                </a:solidFill>
                <a:latin typeface="Segoe UI"/>
              </a:rPr>
              <a:t>●  </a:t>
            </a:r>
            <a:r>
              <a:rPr b="1" sz="1500">
                <a:solidFill>
                  <a:srgbClr val="0F172A"/>
                </a:solidFill>
                <a:latin typeface="Segoe UI"/>
              </a:rPr>
              <a:t>Adoption du système LMD </a:t>
            </a:r>
            <a:r>
              <a:rPr sz="1500">
                <a:solidFill>
                  <a:srgbClr val="334155"/>
                </a:solidFill>
                <a:latin typeface="Segoe UI"/>
              </a:rPr>
              <a:t>→ organisation semestrielle, UE/EC, crédits, compensation, jurys : une complexité que les outils existants ne couvrent plus.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2563EB"/>
                </a:solidFill>
                <a:latin typeface="Segoe UI"/>
              </a:rPr>
              <a:t>●  </a:t>
            </a:r>
            <a:r>
              <a:rPr b="1" sz="1500">
                <a:solidFill>
                  <a:srgbClr val="0F172A"/>
                </a:solidFill>
                <a:latin typeface="Segoe UI"/>
              </a:rPr>
              <a:t>Croissance des effectifs </a:t>
            </a:r>
            <a:r>
              <a:rPr sz="1500">
                <a:solidFill>
                  <a:srgbClr val="334155"/>
                </a:solidFill>
                <a:latin typeface="Segoe UI"/>
              </a:rPr>
              <a:t>→ plusieurs centaines de milliers d'étudiants dans les établissements ivoiriens, services de scolarité sous pression.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2563EB"/>
                </a:solidFill>
                <a:latin typeface="Segoe UI"/>
              </a:rPr>
              <a:t>●  </a:t>
            </a:r>
            <a:r>
              <a:rPr b="1" sz="1500">
                <a:solidFill>
                  <a:srgbClr val="0F172A"/>
                </a:solidFill>
                <a:latin typeface="Segoe UI"/>
              </a:rPr>
              <a:t>Fragmentation des outils </a:t>
            </a:r>
            <a:r>
              <a:rPr sz="1500">
                <a:solidFill>
                  <a:srgbClr val="334155"/>
                </a:solidFill>
                <a:latin typeface="Segoe UI"/>
              </a:rPr>
              <a:t>→ inscriptions sur Excel, notes sur Word, comptabilité déconnectée, suivi pédagogique encore largement papier.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2563EB"/>
                </a:solidFill>
                <a:latin typeface="Segoe UI"/>
              </a:rPr>
              <a:t>●  </a:t>
            </a:r>
            <a:r>
              <a:rPr b="1" sz="1500">
                <a:solidFill>
                  <a:srgbClr val="0F172A"/>
                </a:solidFill>
                <a:latin typeface="Segoe UI"/>
              </a:rPr>
              <a:t>Conséquences </a:t>
            </a:r>
            <a:r>
              <a:rPr sz="1500">
                <a:solidFill>
                  <a:srgbClr val="334155"/>
                </a:solidFill>
                <a:latin typeface="Segoe UI"/>
              </a:rPr>
              <a:t>→ délais de traitement, erreurs de calcul de moyennes/crédits, absence de traçabilité, statistiques institutionnelles peu fiables.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828800"/>
            <a:ext cx="42062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21031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Réalité opérationnelle observée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560320"/>
            <a:ext cx="365760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00">
                <a:solidFill>
                  <a:srgbClr val="D97706"/>
                </a:solidFill>
                <a:latin typeface="Segoe UI"/>
              </a:rPr>
              <a:t>●  </a:t>
            </a:r>
            <a:r>
              <a:rPr sz="1300">
                <a:solidFill>
                  <a:srgbClr val="334155"/>
                </a:solidFill>
                <a:latin typeface="Segoe UI"/>
              </a:rPr>
              <a:t>Fichiers Excel/Word non synchronisés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00">
                <a:solidFill>
                  <a:srgbClr val="D97706"/>
                </a:solidFill>
                <a:latin typeface="Segoe UI"/>
              </a:rPr>
              <a:t>●  </a:t>
            </a:r>
            <a:r>
              <a:rPr sz="1300">
                <a:solidFill>
                  <a:srgbClr val="334155"/>
                </a:solidFill>
                <a:latin typeface="Segoe UI"/>
              </a:rPr>
              <a:t>Files d'attente aux guichets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00">
                <a:solidFill>
                  <a:srgbClr val="D97706"/>
                </a:solidFill>
                <a:latin typeface="Segoe UI"/>
              </a:rPr>
              <a:t>●  </a:t>
            </a:r>
            <a:r>
              <a:rPr sz="1300">
                <a:solidFill>
                  <a:srgbClr val="334155"/>
                </a:solidFill>
                <a:latin typeface="Segoe UI"/>
              </a:rPr>
              <a:t>Aucun croisement données académiques ↔ financières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00">
                <a:solidFill>
                  <a:srgbClr val="D97706"/>
                </a:solidFill>
                <a:latin typeface="Segoe UI"/>
              </a:rPr>
              <a:t>●  </a:t>
            </a:r>
            <a:r>
              <a:rPr sz="1300">
                <a:solidFill>
                  <a:srgbClr val="334155"/>
                </a:solidFill>
                <a:latin typeface="Segoe UI"/>
              </a:rPr>
              <a:t>Communication étudiants quasi exclusivement papier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CHAPITRE 1 ·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" y="1874519"/>
            <a:ext cx="10744200" cy="13716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29968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0F172A"/>
                </a:solidFill>
                <a:latin typeface="Segoe UI"/>
              </a:rPr>
              <a:t>« Comment concevoir et développer un système d'information universitaire intégré, capable de couvrir l'ensemble des domaines de gestion d'un établissement — académique, pédagogique, financier et analytique — tout en respectant les contraintes du LMD, le contexte ivoirien, et les exigences de sécurité et de performance d'une application web moderne ?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520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Segoe UI"/>
              </a:rPr>
              <a:t>Sous-questions de recherche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931920"/>
            <a:ext cx="1069848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>
                <a:solidFill>
                  <a:srgbClr val="2563EB"/>
                </a:solidFill>
                <a:latin typeface="Segoe UI"/>
              </a:rPr>
              <a:t>●  </a:t>
            </a:r>
            <a:r>
              <a:rPr sz="1350">
                <a:solidFill>
                  <a:srgbClr val="334155"/>
                </a:solidFill>
                <a:latin typeface="Segoe UI"/>
              </a:rPr>
              <a:t>Comment modéliser la structure académique LMD de manière générique, pour s'adapter à des établissements différents ?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>
                <a:solidFill>
                  <a:srgbClr val="2563EB"/>
                </a:solidFill>
                <a:latin typeface="Segoe UI"/>
              </a:rPr>
              <a:t>●  </a:t>
            </a:r>
            <a:r>
              <a:rPr sz="1350">
                <a:solidFill>
                  <a:srgbClr val="334155"/>
                </a:solidFill>
                <a:latin typeface="Segoe UI"/>
              </a:rPr>
              <a:t>Comment garantir la cohérence des données entre modules fortement interdépendants (inscription, finance, évaluation, présences) ?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>
                <a:solidFill>
                  <a:srgbClr val="2563EB"/>
                </a:solidFill>
                <a:latin typeface="Segoe UI"/>
              </a:rPr>
              <a:t>●  </a:t>
            </a:r>
            <a:r>
              <a:rPr sz="1350">
                <a:solidFill>
                  <a:srgbClr val="334155"/>
                </a:solidFill>
                <a:latin typeface="Segoe UI"/>
              </a:rPr>
              <a:t>Comment implémenter un contrôle d'accès fin pour 13 profils d'utilisateurs sans alourdir l'expérience ?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>
                <a:solidFill>
                  <a:srgbClr val="2563EB"/>
                </a:solidFill>
                <a:latin typeface="Segoe UI"/>
              </a:rPr>
              <a:t>●  </a:t>
            </a:r>
            <a:r>
              <a:rPr sz="1350">
                <a:solidFill>
                  <a:srgbClr val="334155"/>
                </a:solidFill>
                <a:latin typeface="Segoe UI"/>
              </a:rPr>
              <a:t>Comment exploiter les données comportementales pour détecter précocement le risque de décrochage scolaire ?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>
                <a:solidFill>
                  <a:srgbClr val="2563EB"/>
                </a:solidFill>
                <a:latin typeface="Segoe UI"/>
              </a:rPr>
              <a:t>●  </a:t>
            </a:r>
            <a:r>
              <a:rPr sz="1350">
                <a:solidFill>
                  <a:srgbClr val="334155"/>
                </a:solidFill>
                <a:latin typeface="Segoe UI"/>
              </a:rPr>
              <a:t>Quelle architecture garantit à la fois richesse fonctionnelle, réactivité et capacité d'évolution multi-établissements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CHAPITRE 1 ·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Objectifs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1783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334155"/>
                </a:solidFill>
                <a:latin typeface="Segoe UI"/>
              </a:rPr>
              <a:t>Objectif général : concevoir, développer et valider une plateforme fullstack couvrant l'intégralité du cycle de vie étudiant, de la candidature à la diplomation.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514600"/>
            <a:ext cx="2514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5632" y="266700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632" y="320040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Modéliser la structure académique LMD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2514600"/>
            <a:ext cx="2514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63112" y="266700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OS2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3112" y="320040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Automatiser la gestion des inscriptions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8192" y="2514600"/>
            <a:ext cx="2514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0592" y="266700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0592" y="320040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Intégrer un module financier complet (FCFA)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05672" y="2514600"/>
            <a:ext cx="2514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58072" y="266700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OS4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8072" y="320040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Déployer un campus numérique (LMS)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206240"/>
            <a:ext cx="2514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5632" y="43586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OS5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632" y="489204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Automatiser évaluation &amp; délibérations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10712" y="4206240"/>
            <a:ext cx="2514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63112" y="43586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OS6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3112" y="489204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Implémenter un contrôle d'accès RBAC 13 rôles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08192" y="4206240"/>
            <a:ext cx="2514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0592" y="43586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OS7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0592" y="489204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Produire des analytics éducatifs prédictifs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05672" y="4206240"/>
            <a:ext cx="2514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58072" y="43586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OS8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58072" y="489204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Garantir sécurité &amp; traçabilité complètes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CHAPITRE 1 ·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Méthodologie de conception et de développement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40080" y="1874519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2011680"/>
            <a:ext cx="256032" cy="182880"/>
          </a:xfrm>
          <a:prstGeom prst="rightArrow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Segoe UI"/>
              </a:rPr>
              <a:t>Analyse des besoins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26060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Étude des processus universitaires, des textes LMD, des solutions existantes et des parties prenantes → 16 domaines fonctionnels, 13 profils.</a:t>
            </a:r>
          </a:p>
        </p:txBody>
      </p:sp>
      <p:sp>
        <p:nvSpPr>
          <p:cNvPr id="13" name="Oval 12"/>
          <p:cNvSpPr/>
          <p:nvPr/>
        </p:nvSpPr>
        <p:spPr>
          <a:xfrm>
            <a:off x="3429000" y="1874519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43600" y="2011680"/>
            <a:ext cx="256032" cy="182880"/>
          </a:xfrm>
          <a:prstGeom prst="rightArrow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51460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Segoe UI"/>
              </a:rPr>
              <a:t>Conception UML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926080"/>
            <a:ext cx="26060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Cas d'utilisation, diagrammes de classes et de séquence ; architecture modulaire ; design-first API (OpenAPI).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1874519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32520" y="2011680"/>
            <a:ext cx="256032" cy="182880"/>
          </a:xfrm>
          <a:prstGeom prst="rightArrow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51460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Segoe UI"/>
              </a:rPr>
              <a:t>Développement itératif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926080"/>
            <a:ext cx="26060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Chaque module traité de bout en bout (modèles → migrations → serializers → vues → tests → frontend) avant le suivant.</a:t>
            </a:r>
          </a:p>
        </p:txBody>
      </p:sp>
      <p:sp>
        <p:nvSpPr>
          <p:cNvPr id="21" name="Oval 20"/>
          <p:cNvSpPr/>
          <p:nvPr/>
        </p:nvSpPr>
        <p:spPr>
          <a:xfrm>
            <a:off x="9006840" y="1874519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51460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Segoe UI"/>
              </a:rPr>
              <a:t>Validation multi-niveaux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926080"/>
            <a:ext cx="26060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Tests unitaires, intégration API, fonctionnels par rôle, sécurité (accès non autorisé, rate limiting, JWT).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394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334155"/>
                </a:solidFill>
                <a:latin typeface="Segoe UI"/>
              </a:rPr>
              <a:t>Hypothèses de travail : une architecture découplée REST facilite la maintenabilité (H1) ; le système LMD peut être modélisé génériquement sans modification de code pour des structures différentes (H2).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CHAPITRE 2 · ÉTAT DE L'ART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Solutions existantes : pourquoi une solution locale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920240"/>
          <a:ext cx="10744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377440"/>
                <a:gridCol w="534924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Solution</a:t>
                      </a:r>
                    </a:p>
                  </a:txBody>
                  <a:tcPr marL="101600" marR="101600" marT="50800" marB="50800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L="101600" marR="101600" marT="50800" marB="50800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Limite principale face au contexte visé</a:t>
                      </a:r>
                    </a:p>
                  </a:txBody>
                  <a:tcPr marL="101600" marR="101600" marT="50800" marB="50800" anchor="ctr">
                    <a:solidFill>
                      <a:srgbClr val="0F172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Banner / PeopleSoft (Ellucian, Oracle)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Propriétaire international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Conçues pour le contexte nord-américain/européen ; adaptation au LMD francophone impossible ou prohibitive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OpenEduCat / ERPNext Education</a:t>
                      </a:r>
                    </a:p>
                  </a:txBody>
                  <a:tcPr marL="101600" marR="101600"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Open-source générique</a:t>
                      </a:r>
                    </a:p>
                  </a:txBody>
                  <a:tcPr marL="101600" marR="101600"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Pas de gestion native des règles LMD (compensation, capitalisation) ; interface non localisée</a:t>
                      </a:r>
                    </a:p>
                  </a:txBody>
                  <a:tcPr marL="101600" marR="101600" marT="50800" marB="50800" anchor="ctr"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Odoo Education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Open-source modulaire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Intégration LMS moderne limitée ; effort de personnalisation important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TIRAHOU (ce projet)</a:t>
                      </a:r>
                    </a:p>
                  </a:txBody>
                  <a:tcPr marL="101600" marR="101600"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Sur mesure, open</a:t>
                      </a:r>
                    </a:p>
                  </a:txBody>
                  <a:tcPr marL="101600" marR="101600"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4155"/>
                          </a:solidFill>
                          <a:latin typeface="Segoe UI"/>
                        </a:rPr>
                        <a:t>Conçu nativement pour le LMD, le FCFA et le contexte ivoirien ; 16 domaines couverts en un seul système</a:t>
                      </a:r>
                    </a:p>
                  </a:txBody>
                  <a:tcPr marL="101600" marR="101600" marT="50800" marB="508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3232" y="54864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334155"/>
                </a:solidFill>
                <a:latin typeface="Segoe UI"/>
              </a:rPr>
              <a:t>Opportunité technologique : la maturité de Django/DRF et React, combinée à JWT et à la documentation OpenAPI automatique, rend accessible le développement d'un ERP universitaire complet par une équipe réduite.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CHAPITRE 2 · ÉTAT DE L'ART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Choix technologiques —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1874519"/>
            <a:ext cx="530352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>
                <a:solidFill>
                  <a:srgbClr val="2563EB"/>
                </a:solidFill>
                <a:latin typeface="Segoe UI"/>
              </a:rPr>
              <a:t>●  </a:t>
            </a:r>
            <a:r>
              <a:rPr b="1" sz="1350">
                <a:solidFill>
                  <a:srgbClr val="0F172A"/>
                </a:solidFill>
                <a:latin typeface="Segoe UI"/>
              </a:rPr>
              <a:t>Django 5.2 (LTS) + DRF</a:t>
            </a:r>
            <a:r>
              <a:rPr sz="1350">
                <a:solidFill>
                  <a:srgbClr val="334155"/>
                </a:solidFill>
                <a:latin typeface="Segoe UI"/>
              </a:rPr>
              <a:t>ORM puissant, sécurité intégrée (CSRF/XSS/injection SQL), admin auto-généré, architecture en applications modulaires.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>
                <a:solidFill>
                  <a:srgbClr val="2563EB"/>
                </a:solidFill>
                <a:latin typeface="Segoe UI"/>
              </a:rPr>
              <a:t>●  </a:t>
            </a:r>
            <a:r>
              <a:rPr b="1" sz="1350">
                <a:solidFill>
                  <a:srgbClr val="0F172A"/>
                </a:solidFill>
                <a:latin typeface="Segoe UI"/>
              </a:rPr>
              <a:t>JWT — djangorestframework-simplejwt</a:t>
            </a:r>
            <a:r>
              <a:rPr sz="1350">
                <a:solidFill>
                  <a:srgbClr val="334155"/>
                </a:solidFill>
                <a:latin typeface="Segoe UI"/>
              </a:rPr>
              <a:t>Access token courte durée + refresh token 7 jours avec rotation et blacklist ; adapté aux SPA découplées.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>
                <a:solidFill>
                  <a:srgbClr val="2563EB"/>
                </a:solidFill>
                <a:latin typeface="Segoe UI"/>
              </a:rPr>
              <a:t>●  </a:t>
            </a:r>
            <a:r>
              <a:rPr b="1" sz="1350">
                <a:solidFill>
                  <a:srgbClr val="0F172A"/>
                </a:solidFill>
                <a:latin typeface="Segoe UI"/>
              </a:rPr>
              <a:t>PostgreSQL (prod) / SQLite (dev)</a:t>
            </a:r>
            <a:r>
              <a:rPr sz="1350">
                <a:solidFill>
                  <a:srgbClr val="334155"/>
                </a:solidFill>
                <a:latin typeface="Segoe UI"/>
              </a:rPr>
              <a:t>ORM Django abstrait totalement la différence : développement local simple, robustesse ACID en production.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874519"/>
            <a:ext cx="530352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>
                <a:solidFill>
                  <a:srgbClr val="7C3AED"/>
                </a:solidFill>
                <a:latin typeface="Segoe UI"/>
              </a:rPr>
              <a:t>●  </a:t>
            </a:r>
            <a:r>
              <a:rPr b="1" sz="1350">
                <a:solidFill>
                  <a:srgbClr val="0F172A"/>
                </a:solidFill>
                <a:latin typeface="Segoe UI"/>
              </a:rPr>
              <a:t>Redis + Celery</a:t>
            </a:r>
            <a:r>
              <a:rPr sz="1350">
                <a:solidFill>
                  <a:srgbClr val="334155"/>
                </a:solidFill>
                <a:latin typeface="Segoe UI"/>
              </a:rPr>
              <a:t>Cache applicatif (statistiques, listes) et broker pour les tâches asynchrones : scores d'engagement, emails/SMS, rapports.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>
                <a:solidFill>
                  <a:srgbClr val="7C3AED"/>
                </a:solidFill>
                <a:latin typeface="Segoe UI"/>
              </a:rPr>
              <a:t>●  </a:t>
            </a:r>
            <a:r>
              <a:rPr b="1" sz="1350">
                <a:solidFill>
                  <a:srgbClr val="0F172A"/>
                </a:solidFill>
                <a:latin typeface="Segoe UI"/>
              </a:rPr>
              <a:t>drf-spectacular</a:t>
            </a:r>
            <a:r>
              <a:rPr sz="1350">
                <a:solidFill>
                  <a:srgbClr val="334155"/>
                </a:solidFill>
                <a:latin typeface="Segoe UI"/>
              </a:rPr>
              <a:t>Schéma OpenAPI 3.0 généré automatiquement, exposé via Swagger UI interactive sur /api/docs/.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50">
                <a:solidFill>
                  <a:srgbClr val="7C3AED"/>
                </a:solidFill>
                <a:latin typeface="Segoe UI"/>
              </a:rPr>
              <a:t>●  </a:t>
            </a:r>
            <a:r>
              <a:rPr b="1" sz="1350">
                <a:solidFill>
                  <a:srgbClr val="0F172A"/>
                </a:solidFill>
                <a:latin typeface="Segoe UI"/>
              </a:rPr>
              <a:t>Sécurité applicative</a:t>
            </a:r>
            <a:r>
              <a:rPr sz="1350">
                <a:solidFill>
                  <a:srgbClr val="334155"/>
                </a:solidFill>
                <a:latin typeface="Segoe UI"/>
              </a:rPr>
              <a:t>Rate limiting par classe d'utilisateur, CORS strict, audit log exhaustif sur les opérations sensibles.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CHAPITRE 2 · ÉTAT DE L'ART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Choix technologiques — Frontend, PWA &amp;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74519"/>
          <a:ext cx="5577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834640"/>
              </a:tblGrid>
              <a:tr h="51435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Bibliothèque</a:t>
                      </a:r>
                    </a:p>
                  </a:txBody>
                  <a:tcPr marL="101600" marR="101600" marT="50800" marB="50800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Rôle</a:t>
                      </a:r>
                    </a:p>
                  </a:txBody>
                  <a:tcPr marL="101600" marR="101600" marT="50800" marB="50800" anchor="ctr">
                    <a:solidFill>
                      <a:srgbClr val="0F172A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React 19 + TypeScript + Vite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SPA typée, build ultra-rapide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React Router v7</a:t>
                      </a:r>
                    </a:p>
                  </a:txBody>
                  <a:tcPr marL="101600" marR="101600"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Routage, routes protégées par rôle</a:t>
                      </a:r>
                    </a:p>
                  </a:txBody>
                  <a:tcPr marL="101600" marR="101600" marT="50800" marB="50800" anchor="ctr">
                    <a:solidFill>
                      <a:srgbClr val="F1F5F9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TanStack Query v5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Cache serveur, synchronisation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Zustand</a:t>
                      </a:r>
                    </a:p>
                  </a:txBody>
                  <a:tcPr marL="101600" marR="101600"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État global (authentification)</a:t>
                      </a:r>
                    </a:p>
                  </a:txBody>
                  <a:tcPr marL="101600" marR="101600" marT="50800" marB="50800" anchor="ctr">
                    <a:solidFill>
                      <a:srgbClr val="F1F5F9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Tailwind CSS + Radix UI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Design system utilitaire, accessible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Recharts</a:t>
                      </a:r>
                    </a:p>
                  </a:txBody>
                  <a:tcPr marL="101600" marR="101600"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Graphiques &amp; visualisations analytics</a:t>
                      </a:r>
                    </a:p>
                  </a:txBody>
                  <a:tcPr marL="101600" marR="101600" marT="50800" marB="50800" anchor="ctr">
                    <a:solidFill>
                      <a:srgbClr val="F1F5F9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React Hook Form + Zod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4155"/>
                          </a:solidFill>
                          <a:latin typeface="Segoe UI"/>
                        </a:rPr>
                        <a:t>Formulaires &amp; validation typée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29400" y="187451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Segoe UI"/>
              </a:rPr>
              <a:t>PWA &amp; Mobile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331720"/>
            <a:ext cx="484632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00">
                <a:solidFill>
                  <a:srgbClr val="7C3AED"/>
                </a:solidFill>
                <a:latin typeface="Segoe UI"/>
              </a:rPr>
              <a:t>●  </a:t>
            </a:r>
            <a:r>
              <a:rPr b="1" sz="1300">
                <a:solidFill>
                  <a:srgbClr val="0F172A"/>
                </a:solidFill>
                <a:latin typeface="Segoe UI"/>
              </a:rPr>
              <a:t>Progressive Web App </a:t>
            </a:r>
            <a:r>
              <a:rPr sz="1300">
                <a:solidFill>
                  <a:srgbClr val="334155"/>
                </a:solidFill>
                <a:latin typeface="Segoe UI"/>
              </a:rPr>
              <a:t>(vite-plugin-pwa) : installation mobile, fonctionnement partiel hors-ligne — pertinent en contexte de connectivité intermittente.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000">
                <a:solidFill>
                  <a:srgbClr val="7C3AED"/>
                </a:solidFill>
                <a:latin typeface="Segoe UI"/>
              </a:rPr>
              <a:t>●  </a:t>
            </a:r>
            <a:r>
              <a:rPr b="1" sz="1300">
                <a:solidFill>
                  <a:srgbClr val="0F172A"/>
                </a:solidFill>
                <a:latin typeface="Segoe UI"/>
              </a:rPr>
              <a:t>Application mobile native </a:t>
            </a:r>
            <a:r>
              <a:rPr sz="1300">
                <a:solidFill>
                  <a:srgbClr val="334155"/>
                </a:solidFill>
                <a:latin typeface="Segoe UI"/>
              </a:rPr>
              <a:t>(Expo / React Native + TypeScript) : espace dédié étudiants &amp; enseignants, même API REST.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4297680"/>
            <a:ext cx="4846320" cy="17373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4480560"/>
            <a:ext cx="4389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1D4ED8"/>
                </a:solidFill>
                <a:latin typeface="Segoe UI"/>
              </a:rPr>
              <a:t>expo-router (navigation par fichiers) · zustand (auth) · axios avec refresh JWT automatique — mêmes conventions que le client web, pour une cohérence totale entre les trois surfaces.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CHAPITRE 3 · 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Acteurs du système — 13 profils utilisateurs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" y="1874519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874519"/>
            <a:ext cx="352044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032" y="1965960"/>
            <a:ext cx="316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Acteurs internes (9)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032" y="2560320"/>
            <a:ext cx="316484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059669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Super Administrateur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059669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Admin. Institutionnel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059669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Admin. Scolarité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059669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Admin. Financier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059669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Responsable Pédagogique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059669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Chef de Département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059669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Enseignant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059669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Tuteur / Encadreur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059669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Bibliothécaire · Support technique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874519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874519"/>
            <a:ext cx="352044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9488" y="1965960"/>
            <a:ext cx="316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Acteurs directs (2)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9488" y="2560320"/>
            <a:ext cx="316484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2563EB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Étudiant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2563EB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Doctorant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874519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1874519"/>
            <a:ext cx="3520440" cy="5029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7944" y="1965960"/>
            <a:ext cx="316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Acteurs externes (3)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7944" y="2560320"/>
            <a:ext cx="316484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7C3AED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Candidat (non inscrit)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7C3AED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Vérificateur (public, sans compte)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7C3AED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Invité / Intervenant externe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CHAPITRE 3 · 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Modélisation UML — Cas d'utilisation (vue globale)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828800"/>
            <a:ext cx="1371600" cy="50292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Admin. Scolarité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04872" y="1783080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Gérer les candidatures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084832" y="1984248"/>
            <a:ext cx="320040" cy="91440"/>
          </a:xfrm>
          <a:prstGeom prst="line">
            <a:avLst/>
          </a:prstGeom>
          <a:ln w="1270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04872" y="2313432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Gérer les inscriptions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84832" y="2075688"/>
            <a:ext cx="320040" cy="438912"/>
          </a:xfrm>
          <a:prstGeom prst="line">
            <a:avLst/>
          </a:prstGeom>
          <a:ln w="1270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04872" y="2843784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Générer documents officiels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84832" y="2075688"/>
            <a:ext cx="320040" cy="969264"/>
          </a:xfrm>
          <a:prstGeom prst="line">
            <a:avLst/>
          </a:prstGeom>
          <a:ln w="1270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404872" y="3374136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Suivre les dossiers étudiants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84832" y="2075688"/>
            <a:ext cx="320040" cy="1499616"/>
          </a:xfrm>
          <a:prstGeom prst="line">
            <a:avLst/>
          </a:prstGeom>
          <a:ln w="1270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199632" y="1828800"/>
            <a:ext cx="1371600" cy="50292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Admin. Financier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91272" y="1783080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Gérer les factures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571232" y="1984248"/>
            <a:ext cx="320040" cy="91440"/>
          </a:xfrm>
          <a:prstGeom prst="line">
            <a:avLst/>
          </a:prstGeom>
          <a:ln w="127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891272" y="2313432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Enregistrer les paiements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71232" y="2075688"/>
            <a:ext cx="320040" cy="438912"/>
          </a:xfrm>
          <a:prstGeom prst="line">
            <a:avLst/>
          </a:prstGeom>
          <a:ln w="127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891272" y="2843784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Gérer bourses / exonérations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71232" y="2075688"/>
            <a:ext cx="320040" cy="969264"/>
          </a:xfrm>
          <a:prstGeom prst="line">
            <a:avLst/>
          </a:prstGeom>
          <a:ln w="127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891272" y="3374136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Consulter le journal de caisse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71232" y="2075688"/>
            <a:ext cx="320040" cy="1499616"/>
          </a:xfrm>
          <a:prstGeom prst="line">
            <a:avLst/>
          </a:prstGeom>
          <a:ln w="127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13232" y="4069080"/>
            <a:ext cx="137160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Enseignant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04872" y="4023360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Gérer ses espaces LMS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2084832" y="4224528"/>
            <a:ext cx="320040" cy="91440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404872" y="4553712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Saisir les notes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084832" y="4315968"/>
            <a:ext cx="320040" cy="438912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404872" y="5084064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Prendre les présences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84832" y="4315968"/>
            <a:ext cx="320040" cy="969264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404872" y="5614416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Superviser devoirs &amp; classes virtuelles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084832" y="4315968"/>
            <a:ext cx="320040" cy="1499616"/>
          </a:xfrm>
          <a:prstGeom prst="line">
            <a:avLst/>
          </a:prstGeom>
          <a:ln w="127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199632" y="4069080"/>
            <a:ext cx="137160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Étudiant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91272" y="4023360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Consulter notes &amp; emploi du temps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7571232" y="4224528"/>
            <a:ext cx="320040" cy="9144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891272" y="4553712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Accéder au campus numérique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571232" y="4315968"/>
            <a:ext cx="320040" cy="438912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891272" y="5084064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Suivre sa situation financière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571232" y="4315968"/>
            <a:ext cx="320040" cy="969264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891272" y="5614416"/>
            <a:ext cx="361188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Vérifier ses documents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571232" y="4315968"/>
            <a:ext cx="320040" cy="1499616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CHAPITRE 3 · 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Architecture du système — 3 couches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280160" y="1783080"/>
            <a:ext cx="9601200" cy="12344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9100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COUCHE PRÉSENTATION — 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16480"/>
            <a:ext cx="9144000" cy="599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E2E8F0"/>
                </a:solidFill>
                <a:latin typeface="Segoe UI"/>
              </a:rPr>
              <a:t>React 19 SPA/PWA · TypeScript · Vite · Tailwind CSS + Radix UI · React Router v7 (routes protégées par rôle) · TanStack Query + Zustand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008376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HTTPS · JSON · JWT Bearer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43600" y="3209544"/>
            <a:ext cx="256032" cy="137160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280160" y="3364992"/>
            <a:ext cx="9601200" cy="14173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49199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COUCHE APPLICATIVE — API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898392"/>
            <a:ext cx="9144000" cy="782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E2E8F0"/>
                </a:solidFill>
                <a:latin typeface="Segoe UI"/>
              </a:rPr>
              <a:t>Django 5.2 + DRF · 19 applications à responsabilité unique · JWT Auth · RBAC (Role/Permission) · Audit Log · Rate Limiting · CORS · OpenAPI/Swagger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291840" y="4828032"/>
            <a:ext cx="274320" cy="219456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8138160" y="4828032"/>
            <a:ext cx="274320" cy="219456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80160" y="5074920"/>
            <a:ext cx="4663440" cy="114300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8760" y="514807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COUCHE DONNÉES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468112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E2E8F0"/>
                </a:solidFill>
                <a:latin typeface="Segoe UI"/>
              </a:rPr>
              <a:t>PostgreSQL (prod) / SQLite (dev) · Django ORM · Migrations versionnées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5074920"/>
            <a:ext cx="4663440" cy="114300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14807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SERVICES EXTERNES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468112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E2E8F0"/>
                </a:solidFill>
                <a:latin typeface="Segoe UI"/>
              </a:rPr>
              <a:t>Redis (cache + broker Celery) · SMTP · BBB/Jitsi/Zoom · Stockage fichiers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CHAPITRE 3 · 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19 modules Django à responsabilité unique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" y="1828800"/>
            <a:ext cx="52578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032" y="19558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Académique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032" y="2489200"/>
            <a:ext cx="713232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05864" y="2489200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apps.accounts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1320" y="2489200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apps.academic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76776" y="2489200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apps.programs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032" y="2946400"/>
            <a:ext cx="923544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apps.people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828800"/>
            <a:ext cx="52578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7432" y="19558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Parcours étudiant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77432" y="2489200"/>
            <a:ext cx="1344168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apps.admissions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23200" y="2489200"/>
            <a:ext cx="1344168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apps.enrollment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8968" y="2489200"/>
            <a:ext cx="1028700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apps.finance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7432" y="2946400"/>
            <a:ext cx="1239012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apps.documents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114800"/>
            <a:ext cx="52578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032" y="42418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Pédagogie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032" y="4775200"/>
            <a:ext cx="1344168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apps.evaluation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36800" y="4775200"/>
            <a:ext cx="608076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apps.lms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46476" y="4775200"/>
            <a:ext cx="1659636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apps.virtual_class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032" y="5232400"/>
            <a:ext cx="1344168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apps.attendance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36800" y="5232400"/>
            <a:ext cx="1764792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apps.scheduling_app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4114800"/>
            <a:ext cx="52578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7432" y="42418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Support &amp; pilotage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77432" y="4775200"/>
            <a:ext cx="1449324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apps.internships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28356" y="4775200"/>
            <a:ext cx="1659636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apps.communication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77432" y="5232400"/>
            <a:ext cx="1659636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apps.analytics_app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668" y="5232400"/>
            <a:ext cx="1028700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apps.library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68968" y="5232400"/>
            <a:ext cx="608076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/>
              </a:rPr>
              <a:t>apps.api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CHAPITRE 3 · 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Sécurité de la plateforme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" y="1874519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1032" y="2052319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EF2F2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032" y="2712719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RBAC granulaire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032" y="3144519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13 rôles × permissions par module et par action ; contrôle d'accès vérifié à chaque requête.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874519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94352" y="2052319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EF2F2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4352" y="2712719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JWT avec rotation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4352" y="3144519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Access token courte durée, refresh token 7 jours, blacklist des tokens révoqués à la déconnexion.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874519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97672" y="2052319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EF2F2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7672" y="2712719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Audit log exhaustif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7672" y="3144519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Journalisation de toutes les opérations sensibles : qui, quoi, quand, sur quelle ressource.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023359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1032" y="4201159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EF2F2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032" y="4861559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Rate limiting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032" y="5293359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Throttling par classe d'utilisateur pour limiter les abus et les attaques par force brute.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6552" y="4023359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94352" y="4201159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EF2F2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4352" y="4861559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Vérification de documents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4352" y="5293359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QR code + code unique sur chaque document généré, vérifiable publiquement sans compte (/verify/[code]).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2" y="4023359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97672" y="4201159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EF2F2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7672" y="4861559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Sécurité HTTP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7672" y="5293359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HTTPS forcé, HSTS, CORS strict, protections CSRF/XSS/injection SQL natives Django.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CHAPITRE 5 · RÉALISATION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Interface — Tableau de bord institutionnel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0700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64748B"/>
                </a:solidFill>
                <a:latin typeface="Segoe UI"/>
              </a:rPr>
              <a:t>Capture réelle de la plateforme déployée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62432" y="1823719"/>
            <a:ext cx="7051040" cy="4353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dmin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74519"/>
            <a:ext cx="6949440" cy="4251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09560" y="19659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Ce que voit l'administrateur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423160"/>
            <a:ext cx="365760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2563EB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4 KPI en un coup d'œil : étudiants, enseignants, revenus, cours actifs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2563EB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Résumé financier : encaissé vs facturé, taux de collecte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2563EB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Indicateurs pédagogiques : taux de réussite, documents générés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2563EB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Journal d'audit et actions rapides contextualisées par rôle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CHAPITRE 5 · RÉALISATION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Interfaces — Espace étudiant &amp; enseignant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0700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64748B"/>
                </a:solidFill>
                <a:latin typeface="Segoe UI"/>
              </a:rPr>
              <a:t>Navigation simplifiée, une vue résumée par domaine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7840" y="1823719"/>
            <a:ext cx="5542280" cy="4262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tudent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5440680" cy="416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111239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64748B"/>
                </a:solidFill>
                <a:latin typeface="Segoe UI"/>
              </a:rPr>
              <a:t>Espace étudiant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1400" y="1823719"/>
            <a:ext cx="5542280" cy="4262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eacher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74519"/>
            <a:ext cx="5440680" cy="416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72200" y="6111239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64748B"/>
                </a:solidFill>
                <a:latin typeface="Segoe UI"/>
              </a:rPr>
              <a:t>Espace enseignant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CHAPITRE 5 · RÉALISATION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Fonctionnalité phare — Évaluation &amp; délibérations LMD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2103120"/>
            <a:ext cx="2011680" cy="100584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Saisie CC + Examen
par enseignant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77160" y="2450592"/>
            <a:ext cx="146304" cy="256032"/>
          </a:xfrm>
          <a:prstGeom prst="rightArrow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88920" y="2103120"/>
            <a:ext cx="2011680" cy="100584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Calcul auto pondéré
(40% / 60%)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26000" y="2450592"/>
            <a:ext cx="146304" cy="256032"/>
          </a:xfrm>
          <a:prstGeom prst="rightArrow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37760" y="2103120"/>
            <a:ext cx="2011680" cy="100584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Compensation
EC → UE → Semestre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974840" y="2450592"/>
            <a:ext cx="146304" cy="256032"/>
          </a:xfrm>
          <a:prstGeom prst="rightArrow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086600" y="2103120"/>
            <a:ext cx="2011680" cy="100584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Décision de jury
+ mentions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123680" y="2450592"/>
            <a:ext cx="146304" cy="256032"/>
          </a:xfrm>
          <a:prstGeom prst="rightArrow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0" y="2103120"/>
            <a:ext cx="2011680" cy="100584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Publication
&amp; notification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657600"/>
            <a:ext cx="1060704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●  </a:t>
            </a:r>
            <a:r>
              <a:rPr b="1" sz="1400">
                <a:solidFill>
                  <a:srgbClr val="0F172A"/>
                </a:solidFill>
                <a:latin typeface="Segoe UI"/>
              </a:rPr>
              <a:t>Règles LMD respectées </a:t>
            </a:r>
            <a:r>
              <a:rPr sz="1400">
                <a:solidFill>
                  <a:srgbClr val="334155"/>
                </a:solidFill>
                <a:latin typeface="Segoe UI"/>
              </a:rPr>
              <a:t>— compensation entre EC d'une même UE, capitalisation des crédits validés.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●  </a:t>
            </a:r>
            <a:r>
              <a:rPr b="1" sz="1400">
                <a:solidFill>
                  <a:srgbClr val="0F172A"/>
                </a:solidFill>
                <a:latin typeface="Segoe UI"/>
              </a:rPr>
              <a:t>Réclamations gérées </a:t>
            </a:r>
            <a:r>
              <a:rPr sz="1400">
                <a:solidFill>
                  <a:srgbClr val="334155"/>
                </a:solidFill>
                <a:latin typeface="Segoe UI"/>
              </a:rPr>
              <a:t>— un étudiant peut contester une note publiée ; workflow de traitement dédié.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●  </a:t>
            </a:r>
            <a:r>
              <a:rPr b="1" sz="1400">
                <a:solidFill>
                  <a:srgbClr val="0F172A"/>
                </a:solidFill>
                <a:latin typeface="Segoe UI"/>
              </a:rPr>
              <a:t>Génération automatique </a:t>
            </a:r>
            <a:r>
              <a:rPr sz="1400">
                <a:solidFill>
                  <a:srgbClr val="334155"/>
                </a:solidFill>
                <a:latin typeface="Segoe UI"/>
              </a:rPr>
              <a:t>— relevés de notes, attestations, diplômes en PDF avec QR code de vérification.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●  </a:t>
            </a:r>
            <a:r>
              <a:rPr b="1" sz="1400">
                <a:solidFill>
                  <a:srgbClr val="0F172A"/>
                </a:solidFill>
                <a:latin typeface="Segoe UI"/>
              </a:rPr>
              <a:t>3 modes d'évaluation </a:t>
            </a:r>
            <a:r>
              <a:rPr sz="1400">
                <a:solidFill>
                  <a:srgbClr val="334155"/>
                </a:solidFill>
                <a:latin typeface="Segoe UI"/>
              </a:rPr>
              <a:t>supportés : Contrôle Continu, Examen, Mixte.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CHAPITRE 5 · RÉALISATION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Fonctionnalité phare — Analytics prédictif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18288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Segoe UI"/>
              </a:rPr>
              <a:t>Score d'engagement — 7 indicateurs comportementaux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86000"/>
            <a:ext cx="576072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7C3AED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Assiduité aux séances (présentiel &amp; virtuel)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7C3AED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Résultats académiques (notes, moyennes)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7C3AED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Activité sur le campus numérique (LMS)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7C3AED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Ponctualité des paiements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7C3AED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Interactions avec les enseignants / forums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7C3AED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Complétion des devoirs et quiz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7C3AED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Régularité de connexion à la plateforme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8288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Segoe UI"/>
              </a:rPr>
              <a:t>4 niveaux de risque de décrochage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0" y="2331720"/>
            <a:ext cx="320040" cy="3200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235712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Faible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0" y="3017520"/>
            <a:ext cx="320040" cy="320040"/>
          </a:xfrm>
          <a:prstGeom prst="ellipse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304292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Modéré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0" y="3703320"/>
            <a:ext cx="320040" cy="3200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372872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Élevé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0" y="4389120"/>
            <a:ext cx="320040" cy="3200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441452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Critique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5166360"/>
            <a:ext cx="4617720" cy="8686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9168" y="5285232"/>
            <a:ext cx="4206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7C3AED"/>
                </a:solidFill>
                <a:latin typeface="Segoe UI"/>
              </a:rPr>
              <a:t>Objectif : permettre une intervention pédagogique précoce, avant l'échec ou l'abandon.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CHAPITRE 5 · RÉALISATION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Fonctionnalité phare — Campus numérique &amp; présences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" y="1874519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874519"/>
            <a:ext cx="35204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632" y="194767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Campus numérique (LMS)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032" y="2514600"/>
            <a:ext cx="324612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Espaces de cours par EC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Modules, ressources, devoirs, quiz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Suivi de progression par étudiant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Statistiques de vues/téléchargements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874519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1874519"/>
            <a:ext cx="35204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4767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Classes virtuelles hybrides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4352" y="2514600"/>
            <a:ext cx="324612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7C3AED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5 fournisseurs : BBB, Jitsi, Zoom, Meet, Teams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7C3AED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Sessions planifiées liées à l'emploi du temps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7C3AED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Suivi des participants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874519"/>
            <a:ext cx="35204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1874519"/>
            <a:ext cx="3520440" cy="4572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2272" y="194767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Présences intelligentes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7672" y="2514600"/>
            <a:ext cx="3246120" cy="3383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059669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QR code plein écran + minuterie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059669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Code de séance saisi par l'étudiant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059669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Pointage manuel en repli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059669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Alertes automatiques sous 75%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CHAPITRE 5 · RÉALISATION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Application mobile TIRAHOU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0700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64748B"/>
                </a:solidFill>
                <a:latin typeface="Segoe UI"/>
              </a:rPr>
              <a:t>Expo / React Native — étudiants &amp; enseignants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7880" y="1732280"/>
            <a:ext cx="2067560" cy="43444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obile-slide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83080"/>
            <a:ext cx="1965960" cy="424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10209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64748B"/>
                </a:solidFill>
                <a:latin typeface="Segoe UI"/>
              </a:rPr>
              <a:t>Connexion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95320" y="1732280"/>
            <a:ext cx="2067560" cy="43444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obile-slide-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783080"/>
            <a:ext cx="1965960" cy="42428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246120" y="610209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64748B"/>
                </a:solidFill>
                <a:latin typeface="Segoe UI"/>
              </a:rPr>
              <a:t>Dashboard étudiant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1874519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Segoe UI"/>
              </a:rPr>
              <a:t>Pourquoi une app dédiée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331720"/>
            <a:ext cx="576072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7C3AED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Périmètre volontairement restreint (étudiant + enseignant) pour un développement rapide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7C3AED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Réutilise directement l'API REST de production — aucun backend séparé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50">
                <a:solidFill>
                  <a:srgbClr val="7C3AED"/>
                </a:solidFill>
                <a:latin typeface="Segoe UI"/>
              </a:rPr>
              <a:t>●  </a:t>
            </a:r>
            <a:r>
              <a:rPr sz="1250">
                <a:solidFill>
                  <a:srgbClr val="334155"/>
                </a:solidFill>
                <a:latin typeface="Segoe UI"/>
              </a:rPr>
              <a:t>Auth JWT avec refresh automatique, stockage sécurisé (Keychain/Keystore)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4663440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Fonctionnalités livrées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5029200"/>
            <a:ext cx="576072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850">
                <a:solidFill>
                  <a:srgbClr val="2563EB"/>
                </a:solidFill>
                <a:latin typeface="Segoe UI"/>
              </a:rPr>
              <a:t>●  </a:t>
            </a:r>
            <a:r>
              <a:rPr sz="1150">
                <a:solidFill>
                  <a:srgbClr val="334155"/>
                </a:solidFill>
                <a:latin typeface="Segoe UI"/>
              </a:rPr>
              <a:t>Étudiant : dashboard, notes, emploi du temps, assiduité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850">
                <a:solidFill>
                  <a:srgbClr val="2563EB"/>
                </a:solidFill>
                <a:latin typeface="Segoe UI"/>
              </a:rPr>
              <a:t>●  </a:t>
            </a:r>
            <a:r>
              <a:rPr sz="1150">
                <a:solidFill>
                  <a:srgbClr val="334155"/>
                </a:solidFill>
                <a:latin typeface="Segoe UI"/>
              </a:rPr>
              <a:t>Enseignant : saisie des notes, cours, gestion des présences (code de séance)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CHAPITRE 4 · RÉALISATION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Tests et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21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" y="1874519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5632" y="2011680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Django TestCase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5632" y="24688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Tests unitaires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632" y="2880360"/>
            <a:ext cx="2377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Modèles, calculs de notes/moyennes/scores, règles de validation des données.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1874519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4552" y="2011680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Swagger / Postman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4552" y="24688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Tests d'intégration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4552" y="2880360"/>
            <a:ext cx="2377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Endpoints REST : authentification, permissions, filtres, pagination.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1874519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3472" y="2011680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Parcours par rôle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3472" y="24688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Tests fonctionnels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472" y="2880360"/>
            <a:ext cx="2377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Scénarios complets simulés pour étudiant, enseignant, scolarité, finance...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9992" y="1874519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32392" y="2011680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Accès &amp; JWT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2392" y="24688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Segoe UI"/>
              </a:rPr>
              <a:t>Tests de sécurité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2392" y="2880360"/>
            <a:ext cx="2377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Tentatives d'accès non autorisé, dépassement de rate limit, manipulation de token.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434840"/>
            <a:ext cx="10744200" cy="16002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572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Suite End-to-End automatisée (Playwright)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834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41 scénarios couvrant authentification, RBAC, dashboards par rôle, saisie de notes, présences, thème sombre/clair, recherche globale — exécutés contre l'application réelle avant chaque déploiement.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CHAPITRE 5 · RÉSULTATS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Chiffres clés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22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" y="1874519"/>
            <a:ext cx="251460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52319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Segoe UI Semibold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432" y="2819399"/>
            <a:ext cx="2362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Applications Django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874519"/>
            <a:ext cx="251460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2052319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7C3AED"/>
                </a:solidFill>
                <a:latin typeface="Segoe UI Semibold"/>
              </a:rPr>
              <a:t>55+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6912" y="2819399"/>
            <a:ext cx="2362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Modèles de données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2" y="1874519"/>
            <a:ext cx="251460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08192" y="2052319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059669"/>
                </a:solidFill>
                <a:latin typeface="Segoe UI Semibold"/>
              </a:rPr>
              <a:t>60+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4392" y="2819399"/>
            <a:ext cx="2362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Tables en 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05672" y="1874519"/>
            <a:ext cx="251460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05672" y="2052319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D97706"/>
                </a:solidFill>
                <a:latin typeface="Segoe UI Semibold"/>
              </a:rPr>
              <a:t>525+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1872" y="2819399"/>
            <a:ext cx="2362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Endpoints API REST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383279"/>
            <a:ext cx="251460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561079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Segoe UI Semibold"/>
              </a:rPr>
              <a:t>60+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32" y="4328159"/>
            <a:ext cx="2362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Pages frontend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10712" y="3383279"/>
            <a:ext cx="251460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10712" y="3561079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7C3AED"/>
                </a:solidFill>
                <a:latin typeface="Segoe UI Semibold"/>
              </a:rPr>
              <a:t>100+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86912" y="4328159"/>
            <a:ext cx="2362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Composants React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08192" y="3383279"/>
            <a:ext cx="251460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08192" y="3561079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059669"/>
                </a:solidFill>
                <a:latin typeface="Segoe UI Semibold"/>
              </a:rP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4392" y="4328159"/>
            <a:ext cx="2362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Rôles utilisateurs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05672" y="3383279"/>
            <a:ext cx="251460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05672" y="3561079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D97706"/>
                </a:solidFill>
                <a:latin typeface="Segoe UI Semibold"/>
              </a:rPr>
              <a:t>16/16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1872" y="4328159"/>
            <a:ext cx="2362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Domaines fonctionnels couverts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5074920"/>
            <a:ext cx="10744200" cy="96012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212080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59669"/>
                </a:solidFill>
                <a:latin typeface="Segoe UI"/>
              </a:rPr>
              <a:t>Taux de couverture fonctionnelle global : 16/16 domaines réalisés (100%) — les 8 objectifs spécifiques (OS1 à OS8) sont tous marqués « Complet » dans le cahier de recette.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DÉPLOIEMENT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Déploiement en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23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" y="1874519"/>
            <a:ext cx="52120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874519"/>
            <a:ext cx="5212080" cy="502920"/>
          </a:xfrm>
          <a:prstGeom prst="rect">
            <a:avLst/>
          </a:prstGeom>
          <a:solidFill>
            <a:srgbClr val="339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Backend — Render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475488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Django + Gunicorn, build automatisé (build.sh) : dépendances, collectstatic, migrations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Base de données PostgreSQL managée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Variables d'environnement : SECRET_KEY, DATABASE_URL, CORS_ALLOWED_ORIGINS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Comptes de démonstration réamorcés à chaque déploiement (script idempotent)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HTTPS forcé, HSTS, WhiteNoise pour les fichiers statiques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74519"/>
            <a:ext cx="52120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74519"/>
            <a:ext cx="52120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96596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Frontend — Vercel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560320"/>
            <a:ext cx="475488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Build Vite (framework détecté explicitement dans vercel.json)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Déploiement automatique à chaque push sur la branche main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Variable VITE_API_URL pointant vers l'API Render de production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2563EB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CDN global, aperçus de déploiement (preview) par branche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172200"/>
            <a:ext cx="10744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4748B"/>
                </a:solidFill>
                <a:latin typeface="Segoe UI"/>
              </a:rPr>
              <a:t>CI/CD : chaque push déclenche automatiquement un nouveau build backend et frontend — de la modification de code à la mise en production en quelques minutes.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563EB"/>
                </a:solidFill>
                <a:latin typeface="Segoe UI"/>
              </a:rPr>
              <a:t>CHAPITRE 5 ·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F172A"/>
                </a:solidFill>
                <a:latin typeface="Segoe UI Semibold"/>
              </a:rPr>
              <a:t>Limites actuelles &amp; perspectives d'évolution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18288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C2626"/>
                </a:solidFill>
                <a:latin typeface="Segoe UI"/>
              </a:rPr>
              <a:t>Limites traitées pendant la préparation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40280"/>
            <a:ext cx="521208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DC2626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Mobile Money (CinetPay) &amp; notifications push : déjà opérationnels de bout en bout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DC2626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Bug critique corrigé sur le score prédictif + calibration empirique outillée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DC2626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Test de charge réel exécuté (40 util.) — rate limiting confirmé, latence de connexion identifiée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DC2626"/>
                </a:solidFill>
                <a:latin typeface="Segoe UI"/>
              </a:rPr>
              <a:t>●  </a:t>
            </a:r>
            <a:r>
              <a:rPr sz="1200">
                <a:solidFill>
                  <a:srgbClr val="334155"/>
                </a:solidFill>
                <a:latin typeface="Segoe UI"/>
              </a:rPr>
              <a:t>Row-Level Security PostgreSQL implémentée et testée (défense en profondeur)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288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59669"/>
                </a:solidFill>
                <a:latin typeface="Segoe UI"/>
              </a:rPr>
              <a:t>Perspectives d'évolution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521208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059669"/>
                </a:solidFill>
                <a:latin typeface="Segoe UI"/>
              </a:rPr>
              <a:t>●  </a:t>
            </a:r>
            <a:r>
              <a:rPr b="1" sz="1200">
                <a:solidFill>
                  <a:srgbClr val="0F172A"/>
                </a:solidFill>
                <a:latin typeface="Segoe UI"/>
              </a:rPr>
              <a:t>Court terme — </a:t>
            </a:r>
            <a:r>
              <a:rPr sz="1200">
                <a:solidFill>
                  <a:srgbClr val="334155"/>
                </a:solidFill>
                <a:latin typeface="Segoe UI"/>
              </a:rPr>
              <a:t>recalibrer le modèle prédictif sur des données réelles de production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059669"/>
                </a:solidFill>
                <a:latin typeface="Segoe UI"/>
              </a:rPr>
              <a:t>●  </a:t>
            </a:r>
            <a:r>
              <a:rPr b="1" sz="1200">
                <a:solidFill>
                  <a:srgbClr val="0F172A"/>
                </a:solidFill>
                <a:latin typeface="Segoe UI"/>
              </a:rPr>
              <a:t>Moyen terme — </a:t>
            </a:r>
            <a:r>
              <a:rPr sz="1200">
                <a:solidFill>
                  <a:srgbClr val="334155"/>
                </a:solidFill>
                <a:latin typeface="Segoe UI"/>
              </a:rPr>
              <a:t>architecture multi-tenant (note de conception rédigée), module RH &amp; paie, SCORM/xAPI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900">
                <a:solidFill>
                  <a:srgbClr val="059669"/>
                </a:solidFill>
                <a:latin typeface="Segoe UI"/>
              </a:rPr>
              <a:t>●  </a:t>
            </a:r>
            <a:r>
              <a:rPr b="1" sz="1200">
                <a:solidFill>
                  <a:srgbClr val="0F172A"/>
                </a:solidFill>
                <a:latin typeface="Segoe UI"/>
              </a:rPr>
              <a:t>Long terme — </a:t>
            </a:r>
            <a:r>
              <a:rPr sz="1200">
                <a:solidFill>
                  <a:srgbClr val="334155"/>
                </a:solidFill>
                <a:latin typeface="Segoe UI"/>
              </a:rPr>
              <a:t>BI avancée, API publique inter-établissements, IA dans le LMS, micro-certifications à badges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6858000" y="0"/>
            <a:ext cx="5486400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20240"/>
            <a:ext cx="10241280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2563EB"/>
                </a:solidFill>
                <a:latin typeface="Segoe UI"/>
              </a:rPr>
              <a:t>●  </a:t>
            </a:r>
            <a:r>
              <a:rPr sz="1550">
                <a:solidFill>
                  <a:srgbClr val="E2E8F0"/>
                </a:solidFill>
                <a:latin typeface="Segoe UI"/>
              </a:rPr>
              <a:t>TIRAHOU démontre qu'une équipe réduite peut concevoir un ERP universitaire complet, moderne et adapté au LMD africain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2563EB"/>
                </a:solidFill>
                <a:latin typeface="Segoe UI"/>
              </a:rPr>
              <a:t>●  </a:t>
            </a:r>
            <a:r>
              <a:rPr sz="1550">
                <a:solidFill>
                  <a:srgbClr val="E2E8F0"/>
                </a:solidFill>
                <a:latin typeface="Segoe UI"/>
              </a:rPr>
              <a:t>Architecture découplée REST validée : 19 modules, 525+ endpoints, 16/16 domaines fonctionnels couverts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2563EB"/>
                </a:solidFill>
                <a:latin typeface="Segoe UI"/>
              </a:rPr>
              <a:t>●  </a:t>
            </a:r>
            <a:r>
              <a:rPr sz="1550">
                <a:solidFill>
                  <a:srgbClr val="E2E8F0"/>
                </a:solidFill>
                <a:latin typeface="Segoe UI"/>
              </a:rPr>
              <a:t>Sécurité (RBAC 13 rôles, JWT, audit) et analytics prédictifs opérationnels dès la version 1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2563EB"/>
                </a:solidFill>
                <a:latin typeface="Segoe UI"/>
              </a:rPr>
              <a:t>●  </a:t>
            </a:r>
            <a:r>
              <a:rPr sz="1550">
                <a:solidFill>
                  <a:srgbClr val="E2E8F0"/>
                </a:solidFill>
                <a:latin typeface="Segoe UI"/>
              </a:rPr>
              <a:t>Trois surfaces cohérentes : web, PWA et application mobile native, sur une seule et même API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2563EB"/>
                </a:solidFill>
                <a:latin typeface="Segoe UI"/>
              </a:rPr>
              <a:t>●  </a:t>
            </a:r>
            <a:r>
              <a:rPr sz="1550">
                <a:solidFill>
                  <a:srgbClr val="E2E8F0"/>
                </a:solidFill>
                <a:latin typeface="Segoe UI"/>
              </a:rPr>
              <a:t>Solution déployée en production réelle (Render + Vercel), pas seulement en environnement de développement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52120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MERCI DE VOTRE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85216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94A3B8"/>
                </a:solidFill>
                <a:latin typeface="Segoe UI"/>
              </a:rPr>
              <a:t>Questions 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1">
                <a:solidFill>
                  <a:srgbClr val="2563EB"/>
                </a:solidFill>
                <a:latin typeface="Segoe UI"/>
              </a:rPr>
              <a:t>ANNEXES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 Semibold"/>
              </a:rPr>
              <a:t>Modélisation UML complémentaire — diagrammes de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1900000"/>
            <a:ext cx="11183112" cy="3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Les diagrammes suivants documentent le modèle conceptuel de classes établi lors de la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phase de conception, avant l'implémentation — ils illustrent la démarche de modélisation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qui a précédé et structuré le développement de chaque module.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/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1.  Diagramme de classes global — vue d'ensemble du domaine métier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2.  Identités &amp; sécurité — utilisateurs, rôles, permissions, sessions, audit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3.  Structure LMD — niveaux, semestres, UE, EC, crédits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4.  Évaluations — modèle polymorphe (examen, quiz, devoir, projet)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5.  Emploi du temps — créneaux, salles, réservations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1">
                <a:solidFill>
                  <a:srgbClr val="2563EB"/>
                </a:solidFill>
                <a:latin typeface="Segoe UI"/>
              </a:rPr>
              <a:t>ANNEXES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Segoe UI Semibold"/>
              </a:rPr>
              <a:t>Diagramme de classes — vue d'ensemble du domaine métier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183466" y="1300000"/>
            <a:ext cx="5822019" cy="51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agramme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466" y="1400000"/>
            <a:ext cx="5622019" cy="4900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1">
                <a:solidFill>
                  <a:srgbClr val="2563EB"/>
                </a:solidFill>
                <a:latin typeface="Segoe UI"/>
              </a:rPr>
              <a:t>ANNEXES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Segoe UI Semibold"/>
              </a:rPr>
              <a:t>Identités &amp; sécurité — utilisateurs, rôles, permissions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60096" y="1500000"/>
            <a:ext cx="7468760" cy="4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Ident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696" y="1728600"/>
            <a:ext cx="7011560" cy="3842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950000"/>
            <a:ext cx="11183112" cy="3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64748B"/>
                </a:solidFill>
                <a:latin typeface="Segoe UI"/>
              </a:rPr>
              <a:t>Base du contrôle d'accès RBAC : Utilisateur, Compte, Role, Permission, SessionConnexion, JournalAudit.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1">
                <a:solidFill>
                  <a:srgbClr val="2563EB"/>
                </a:solidFill>
                <a:latin typeface="Segoe UI"/>
              </a:rPr>
              <a:t>ANNEXES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Segoe UI Semibold"/>
              </a:rPr>
              <a:t>Structure LMD — niveaux, semestres, UE, EC, crédits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29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76135" y="1500000"/>
            <a:ext cx="2836682" cy="4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8_L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735" y="1728600"/>
            <a:ext cx="2379482" cy="3842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950000"/>
            <a:ext cx="11183112" cy="3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64748B"/>
                </a:solidFill>
                <a:latin typeface="Segoe UI"/>
              </a:rPr>
              <a:t>Modélisation générique du système LMD, réutilisable pour tout programme Licence ou Master.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1">
                <a:solidFill>
                  <a:srgbClr val="2563EB"/>
                </a:solidFill>
                <a:latin typeface="Segoe UI"/>
              </a:rPr>
              <a:t>ANNEXES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Segoe UI Semibold"/>
              </a:rPr>
              <a:t>Évaluations — modèle polymorphe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30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16278" y="1500000"/>
            <a:ext cx="5156395" cy="4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7_Evalu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878" y="1728600"/>
            <a:ext cx="4699195" cy="3842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950000"/>
            <a:ext cx="11183112" cy="3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64748B"/>
                </a:solidFill>
                <a:latin typeface="Segoe UI"/>
              </a:rPr>
              <a:t>Une évaluation abstraite spécialisée en Examen, Quiz, Devoir ou Projet — extensible sans casser l'existant.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1">
                <a:solidFill>
                  <a:srgbClr val="2563EB"/>
                </a:solidFill>
                <a:latin typeface="Segoe UI"/>
              </a:rPr>
              <a:t>ANNEXES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Segoe UI Semibold"/>
              </a:rPr>
              <a:t>Emploi du temps — créneaux, salles, réservations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Segoe UI"/>
              </a:rPr>
              <a:t>TIRAHOU — Soutenance de mémoire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Segoe UI"/>
              </a:rPr>
              <a:t>31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31177" y="1500000"/>
            <a:ext cx="3726597" cy="4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4_EmploiTem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777" y="1728600"/>
            <a:ext cx="3269397" cy="3842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950000"/>
            <a:ext cx="11183112" cy="3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64748B"/>
                </a:solidFill>
                <a:latin typeface="Segoe UI"/>
              </a:rPr>
              <a:t>Structure support de la planification des séances et de la gestion des salles (présentiel/hybride).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