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858000" y="0"/>
            <a:ext cx="5486400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22960" y="777240"/>
            <a:ext cx="658368" cy="658368"/>
          </a:xfrm>
          <a:prstGeom prst="roundRect">
            <a:avLst>
              <a:gd name="adj" fmla="val 2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 b="1">
                <a:solidFill>
                  <a:srgbClr val="FFFFFF"/>
                </a:solidFill>
              </a:rPr>
              <a:t>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841248"/>
            <a:ext cx="36576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FFFFFF"/>
                </a:solidFill>
                <a:latin typeface="Segoe UI Semibold"/>
              </a:rPr>
              <a:t>TIRAHOU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152144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0">
                <a:solidFill>
                  <a:srgbClr val="93C5FD"/>
                </a:solidFill>
                <a:latin typeface="Segoe UI"/>
              </a:rPr>
              <a:t>Plateforme Universitaire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8686800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 i="0">
                <a:solidFill>
                  <a:srgbClr val="FFFFFF"/>
                </a:solidFill>
                <a:latin typeface="Segoe UI Semibold"/>
              </a:rPr>
              <a:t>TIRAHOU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42900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CBD5E1"/>
                </a:solidFill>
                <a:latin typeface="Segoe UI"/>
              </a:rPr>
              <a:t>Conception et développement d'un système d'information</a:t>
            </a:r>
          </a:p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CBD5E1"/>
                </a:solidFill>
                <a:latin typeface="Segoe UI"/>
              </a:rPr>
              <a:t>universitaire intégré, du besoin métier au déploiement en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4434840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MÉMOIRE DE FIN D'ÉTUDES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5074920"/>
            <a:ext cx="54864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E2E8F0"/>
                </a:solidFill>
                <a:latin typeface="Segoe UI"/>
              </a:rPr>
              <a:t>Présenté par : [Votre nom]</a:t>
            </a:r>
          </a:p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E2E8F0"/>
                </a:solidFill>
                <a:latin typeface="Segoe UI"/>
              </a:rPr>
              <a:t>Filière : Génie Logiciel / Informatique</a:t>
            </a:r>
          </a:p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E2E8F0"/>
                </a:solidFill>
                <a:latin typeface="Segoe UI"/>
              </a:rPr>
              <a:t>Encadreur : [Nom de l'encadreur]</a:t>
            </a:r>
          </a:p>
          <a:p>
            <a:pPr algn="l">
              <a:lnSpc>
                <a:spcPct val="150000"/>
              </a:lnSpc>
            </a:pPr>
            <a:r>
              <a:rPr sz="1350" b="0" i="0">
                <a:solidFill>
                  <a:srgbClr val="E2E8F0"/>
                </a:solidFill>
                <a:latin typeface="Segoe UI"/>
              </a:rPr>
              <a:t>Année académique : 2024–2025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640080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1">
                <a:solidFill>
                  <a:srgbClr val="94A3B8"/>
                </a:solidFill>
                <a:latin typeface="Segoe UI"/>
              </a:rPr>
              <a:t>Soutenance publique — [Établissement] —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SOMMAIRE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Plan de la présentation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187451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43280" y="2026919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280" y="2611119"/>
            <a:ext cx="3114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Contexte, problématique &amp; objectifs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87451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46600" y="2026919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46600" y="2611119"/>
            <a:ext cx="3114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Méthodologie &amp; état de l'art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7451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49920" y="2026919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9920" y="2611119"/>
            <a:ext cx="3114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Conception : acteurs, UML, architecture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29183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280" y="3444239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280" y="4028439"/>
            <a:ext cx="3114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Sécurité &amp; choix technologiques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3400" y="329183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46600" y="3444239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46600" y="4028439"/>
            <a:ext cx="3114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Réalisation : modules &amp; interfaces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329183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49920" y="3444239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49920" y="4028439"/>
            <a:ext cx="3114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Application mobile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70915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3280" y="4861559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3280" y="5445759"/>
            <a:ext cx="3114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Tests, validation &amp; résultats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470915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46600" y="4861559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46600" y="5445759"/>
            <a:ext cx="3114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Déploiement en production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46720" y="4709159"/>
            <a:ext cx="352044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49920" y="4861559"/>
            <a:ext cx="10972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E2E8F0"/>
                </a:solidFill>
                <a:latin typeface="Segoe UI Semibold"/>
              </a:rPr>
              <a:t>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49920" y="5445759"/>
            <a:ext cx="3114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Limites, perspectives &amp;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1 ·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Contexte : une gestion universitaire fragmentée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1828800"/>
            <a:ext cx="612648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>
                <a:solidFill>
                  <a:srgbClr val="2563EB"/>
                </a:solidFill>
                <a:latin typeface="Segoe UI"/>
              </a:rPr>
              <a:t>●  </a:t>
            </a:r>
            <a:r>
              <a:rPr sz="1500" b="1">
                <a:solidFill>
                  <a:srgbClr val="0F172A"/>
                </a:solidFill>
                <a:latin typeface="Segoe UI"/>
              </a:rPr>
              <a:t>Adoption du système LMD </a:t>
            </a:r>
            <a:r>
              <a:rPr sz="1500">
                <a:solidFill>
                  <a:srgbClr val="334155"/>
                </a:solidFill>
                <a:latin typeface="Segoe UI"/>
              </a:rPr>
              <a:t>→ organisation semestrielle, UE/EC, crédits, compensation, jurys : une complexité que les outils existants ne couvrent plus.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>
                <a:solidFill>
                  <a:srgbClr val="2563EB"/>
                </a:solidFill>
                <a:latin typeface="Segoe UI"/>
              </a:rPr>
              <a:t>●  </a:t>
            </a:r>
            <a:r>
              <a:rPr sz="1500" b="1">
                <a:solidFill>
                  <a:srgbClr val="0F172A"/>
                </a:solidFill>
                <a:latin typeface="Segoe UI"/>
              </a:rPr>
              <a:t>Croissance des effectifs </a:t>
            </a:r>
            <a:r>
              <a:rPr sz="1500">
                <a:solidFill>
                  <a:srgbClr val="334155"/>
                </a:solidFill>
                <a:latin typeface="Segoe UI"/>
              </a:rPr>
              <a:t>→ plusieurs centaines de milliers d'étudiants dans les établissements ivoiriens, services de scolarité sous pression.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>
                <a:solidFill>
                  <a:srgbClr val="2563EB"/>
                </a:solidFill>
                <a:latin typeface="Segoe UI"/>
              </a:rPr>
              <a:t>●  </a:t>
            </a:r>
            <a:r>
              <a:rPr sz="1500" b="1">
                <a:solidFill>
                  <a:srgbClr val="0F172A"/>
                </a:solidFill>
                <a:latin typeface="Segoe UI"/>
              </a:rPr>
              <a:t>Fragmentation des outils </a:t>
            </a:r>
            <a:r>
              <a:rPr sz="1500">
                <a:solidFill>
                  <a:srgbClr val="334155"/>
                </a:solidFill>
                <a:latin typeface="Segoe UI"/>
              </a:rPr>
              <a:t>→ inscriptions sur Excel, notes sur Word, comptabilité déconnectée, suivi pédagogique encore largement papier.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00">
                <a:solidFill>
                  <a:srgbClr val="2563EB"/>
                </a:solidFill>
                <a:latin typeface="Segoe UI"/>
              </a:rPr>
              <a:t>●  </a:t>
            </a:r>
            <a:r>
              <a:rPr sz="1500" b="1">
                <a:solidFill>
                  <a:srgbClr val="0F172A"/>
                </a:solidFill>
                <a:latin typeface="Segoe UI"/>
              </a:rPr>
              <a:t>Conséquences </a:t>
            </a:r>
            <a:r>
              <a:rPr sz="1500">
                <a:solidFill>
                  <a:srgbClr val="334155"/>
                </a:solidFill>
                <a:latin typeface="Segoe UI"/>
              </a:rPr>
              <a:t>→ délais de traitement, erreurs de calcul de moyennes/crédits, absence de traçabilité, statistiques institutionnelles peu fiables.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0" y="1828800"/>
            <a:ext cx="4206240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498079" y="210312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Réalité opérationnelle observée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60320"/>
            <a:ext cx="3657600" cy="3108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>
                <a:solidFill>
                  <a:srgbClr val="D97706"/>
                </a:solidFill>
                <a:latin typeface="Segoe UI"/>
              </a:rPr>
              <a:t>●  </a:t>
            </a:r>
            <a:r>
              <a:rPr sz="1300">
                <a:solidFill>
                  <a:srgbClr val="334155"/>
                </a:solidFill>
                <a:latin typeface="Segoe UI"/>
              </a:rPr>
              <a:t>Fichiers Excel/Word non synchronisés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>
                <a:solidFill>
                  <a:srgbClr val="D97706"/>
                </a:solidFill>
                <a:latin typeface="Segoe UI"/>
              </a:rPr>
              <a:t>●  </a:t>
            </a:r>
            <a:r>
              <a:rPr sz="1300">
                <a:solidFill>
                  <a:srgbClr val="334155"/>
                </a:solidFill>
                <a:latin typeface="Segoe UI"/>
              </a:rPr>
              <a:t>Files d'attente aux guichets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>
                <a:solidFill>
                  <a:srgbClr val="D97706"/>
                </a:solidFill>
                <a:latin typeface="Segoe UI"/>
              </a:rPr>
              <a:t>●  </a:t>
            </a:r>
            <a:r>
              <a:rPr sz="1300">
                <a:solidFill>
                  <a:srgbClr val="334155"/>
                </a:solidFill>
                <a:latin typeface="Segoe UI"/>
              </a:rPr>
              <a:t>Aucun croisement données académiques ↔ financières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>
                <a:solidFill>
                  <a:srgbClr val="D97706"/>
                </a:solidFill>
                <a:latin typeface="Segoe UI"/>
              </a:rPr>
              <a:t>●  </a:t>
            </a:r>
            <a:r>
              <a:rPr sz="1300">
                <a:solidFill>
                  <a:srgbClr val="334155"/>
                </a:solidFill>
                <a:latin typeface="Segoe UI"/>
              </a:rPr>
              <a:t>Communication étudiants quasi exclusivement papier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1 ·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Problématique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74519"/>
            <a:ext cx="10744200" cy="13716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60120" y="2029968"/>
            <a:ext cx="10241280" cy="8370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 i="1" dirty="0">
                <a:solidFill>
                  <a:srgbClr val="0F172A"/>
                </a:solidFill>
                <a:latin typeface="Segoe UI"/>
              </a:rPr>
              <a:t>« Comment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concevoir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et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développer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un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système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d'information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universitaire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intégré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, capable de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couvrir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l'ensemble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des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domaines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de gestion d'un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établissement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—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académique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,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pédagogique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, financier et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analytique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— tout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en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respectant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les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contraintes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du LMD et les exigences de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sécurité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et de performance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d'une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application web </a:t>
            </a:r>
            <a:r>
              <a:rPr sz="1500" b="0" i="1" dirty="0" err="1">
                <a:solidFill>
                  <a:srgbClr val="0F172A"/>
                </a:solidFill>
                <a:latin typeface="Segoe UI"/>
              </a:rPr>
              <a:t>moderne</a:t>
            </a:r>
            <a:r>
              <a:rPr sz="1500" b="0" i="1" dirty="0">
                <a:solidFill>
                  <a:srgbClr val="0F172A"/>
                </a:solidFill>
                <a:latin typeface="Segoe UI"/>
              </a:rPr>
              <a:t> ? 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520440"/>
            <a:ext cx="7315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Sous-questions de recherche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3931920"/>
            <a:ext cx="10698480" cy="23774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 dirty="0">
                <a:solidFill>
                  <a:srgbClr val="2563EB"/>
                </a:solidFill>
                <a:latin typeface="Segoe UI"/>
              </a:rPr>
              <a:t>●  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Comment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modéliser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la structure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académique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LMD de manière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générique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, pour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s'adapter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à des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établissements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différents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?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 dirty="0">
                <a:solidFill>
                  <a:srgbClr val="2563EB"/>
                </a:solidFill>
                <a:latin typeface="Segoe UI"/>
              </a:rPr>
              <a:t>●  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Comment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garantir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la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cohérence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des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données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entre modules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fortement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interdépendants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(inscription, finance,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évaluation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,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présences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) ?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 dirty="0">
                <a:solidFill>
                  <a:srgbClr val="2563EB"/>
                </a:solidFill>
                <a:latin typeface="Segoe UI"/>
              </a:rPr>
              <a:t>●  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Comment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implémenter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un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contrôle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d'accès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fin pour 13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profils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d'utilisateurs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sans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alourdir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l'expérience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?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 dirty="0">
                <a:solidFill>
                  <a:srgbClr val="2563EB"/>
                </a:solidFill>
                <a:latin typeface="Segoe UI"/>
              </a:rPr>
              <a:t>●  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Comment exploiter les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données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comportementales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pour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détecter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précocement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le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risque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de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décrochage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scolaire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?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 dirty="0">
                <a:solidFill>
                  <a:srgbClr val="2563EB"/>
                </a:solidFill>
                <a:latin typeface="Segoe UI"/>
              </a:rPr>
              <a:t>●  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Quelle architecture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garantit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à la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fois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richesse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fonctionnelle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,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réactivité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et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capacité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d'évolution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multi-</a:t>
            </a:r>
            <a:r>
              <a:rPr sz="1350" dirty="0" err="1">
                <a:solidFill>
                  <a:srgbClr val="334155"/>
                </a:solidFill>
                <a:latin typeface="Segoe UI"/>
              </a:rPr>
              <a:t>établissements</a:t>
            </a:r>
            <a:r>
              <a:rPr sz="1350" dirty="0">
                <a:solidFill>
                  <a:srgbClr val="334155"/>
                </a:solidFill>
                <a:latin typeface="Segoe UI"/>
              </a:rPr>
              <a:t>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1 ·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Objectifs du projet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5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17830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334155"/>
                </a:solidFill>
                <a:latin typeface="Segoe UI"/>
              </a:rPr>
              <a:t>Objectif général : concevoir, développer et valider une plateforme fullstack couvrant l'intégralité du cycle de vie étudiant, de la candidature à la diplomation.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1460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65632" y="266700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632" y="3200400"/>
            <a:ext cx="2286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Modéliser la structure académique LMD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10712" y="251460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563112" y="266700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3112" y="3200400"/>
            <a:ext cx="2286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Automatiser la gestion des inscriptions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08192" y="251460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6260592" y="266700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0592" y="3200400"/>
            <a:ext cx="2286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Intégrer un module financier complet (FCFA)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05672" y="251460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8958072" y="266700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58072" y="3200400"/>
            <a:ext cx="2286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Déployer un campus numérique (LMS)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20624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65632" y="435864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5632" y="4892040"/>
            <a:ext cx="2286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>
                <a:solidFill>
                  <a:srgbClr val="0F172A"/>
                </a:solidFill>
                <a:latin typeface="Segoe UI"/>
              </a:rPr>
              <a:t>Automatiser évaluation &amp; délibérations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10712" y="420624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3563112" y="435864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3112" y="4892040"/>
            <a:ext cx="2286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 dirty="0" err="1">
                <a:solidFill>
                  <a:srgbClr val="0F172A"/>
                </a:solidFill>
                <a:latin typeface="Segoe UI"/>
              </a:rPr>
              <a:t>Implémenter</a:t>
            </a:r>
            <a:r>
              <a:rPr sz="1250" b="1" i="0" dirty="0">
                <a:solidFill>
                  <a:srgbClr val="0F172A"/>
                </a:solidFill>
                <a:latin typeface="Segoe UI"/>
              </a:rPr>
              <a:t> un </a:t>
            </a:r>
            <a:r>
              <a:rPr sz="1250" b="1" i="0" dirty="0" err="1">
                <a:solidFill>
                  <a:srgbClr val="0F172A"/>
                </a:solidFill>
                <a:latin typeface="Segoe UI"/>
              </a:rPr>
              <a:t>contrôle</a:t>
            </a:r>
            <a:r>
              <a:rPr sz="1250" b="1" i="0" dirty="0">
                <a:solidFill>
                  <a:srgbClr val="0F172A"/>
                </a:solidFill>
                <a:latin typeface="Segoe UI"/>
              </a:rPr>
              <a:t> </a:t>
            </a:r>
            <a:r>
              <a:rPr sz="1250" b="1" i="0" dirty="0" err="1">
                <a:solidFill>
                  <a:srgbClr val="0F172A"/>
                </a:solidFill>
                <a:latin typeface="Segoe UI"/>
              </a:rPr>
              <a:t>d'accès</a:t>
            </a:r>
            <a:r>
              <a:rPr sz="1250" b="1" i="0" dirty="0">
                <a:solidFill>
                  <a:srgbClr val="0F172A"/>
                </a:solidFill>
                <a:latin typeface="Segoe UI"/>
              </a:rPr>
              <a:t> RBAC 13 </a:t>
            </a:r>
            <a:r>
              <a:rPr sz="1250" b="1" i="0" dirty="0" err="1">
                <a:solidFill>
                  <a:srgbClr val="0F172A"/>
                </a:solidFill>
                <a:latin typeface="Segoe UI"/>
              </a:rPr>
              <a:t>rôles</a:t>
            </a:r>
            <a:endParaRPr sz="1250" b="1" i="0" dirty="0">
              <a:solidFill>
                <a:srgbClr val="0F172A"/>
              </a:solidFill>
              <a:latin typeface="Segoe UI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108192" y="420624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6260592" y="435864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0592" y="4892040"/>
            <a:ext cx="2286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 dirty="0" err="1">
                <a:solidFill>
                  <a:srgbClr val="0F172A"/>
                </a:solidFill>
                <a:latin typeface="Segoe UI"/>
              </a:rPr>
              <a:t>Produire</a:t>
            </a:r>
            <a:r>
              <a:rPr sz="1250" b="1" i="0" dirty="0">
                <a:solidFill>
                  <a:srgbClr val="0F172A"/>
                </a:solidFill>
                <a:latin typeface="Segoe UI"/>
              </a:rPr>
              <a:t> des analytics </a:t>
            </a:r>
            <a:r>
              <a:rPr sz="1250" b="1" i="0" dirty="0" err="1">
                <a:solidFill>
                  <a:srgbClr val="0F172A"/>
                </a:solidFill>
                <a:latin typeface="Segoe UI"/>
              </a:rPr>
              <a:t>éducatifs</a:t>
            </a:r>
            <a:r>
              <a:rPr sz="1250" b="1" i="0" dirty="0">
                <a:solidFill>
                  <a:srgbClr val="0F172A"/>
                </a:solidFill>
                <a:latin typeface="Segoe UI"/>
              </a:rPr>
              <a:t> </a:t>
            </a:r>
            <a:r>
              <a:rPr sz="1250" b="1" i="0" dirty="0" err="1">
                <a:solidFill>
                  <a:srgbClr val="0F172A"/>
                </a:solidFill>
                <a:latin typeface="Segoe UI"/>
              </a:rPr>
              <a:t>prédictifs</a:t>
            </a:r>
            <a:endParaRPr sz="1250" b="1" i="0" dirty="0">
              <a:solidFill>
                <a:srgbClr val="0F172A"/>
              </a:solidFill>
              <a:latin typeface="Segoe UI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8805672" y="4206240"/>
            <a:ext cx="2514600" cy="15087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958072" y="4358640"/>
            <a:ext cx="640080" cy="292608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OS8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58072" y="4892040"/>
            <a:ext cx="22860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i="0" dirty="0" err="1">
                <a:solidFill>
                  <a:srgbClr val="0F172A"/>
                </a:solidFill>
                <a:latin typeface="Segoe UI"/>
              </a:rPr>
              <a:t>Garantir</a:t>
            </a:r>
            <a:r>
              <a:rPr sz="1250" b="1" i="0" dirty="0">
                <a:solidFill>
                  <a:srgbClr val="0F172A"/>
                </a:solidFill>
                <a:latin typeface="Segoe UI"/>
              </a:rPr>
              <a:t> </a:t>
            </a:r>
            <a:r>
              <a:rPr sz="1250" b="1" i="0" dirty="0" err="1">
                <a:solidFill>
                  <a:srgbClr val="0F172A"/>
                </a:solidFill>
                <a:latin typeface="Segoe UI"/>
              </a:rPr>
              <a:t>sécurité</a:t>
            </a:r>
            <a:r>
              <a:rPr sz="1250" b="1" i="0" dirty="0">
                <a:solidFill>
                  <a:srgbClr val="0F172A"/>
                </a:solidFill>
                <a:latin typeface="Segoe UI"/>
              </a:rPr>
              <a:t> &amp; </a:t>
            </a:r>
            <a:r>
              <a:rPr sz="1250" b="1" i="0" dirty="0" err="1">
                <a:solidFill>
                  <a:srgbClr val="0F172A"/>
                </a:solidFill>
                <a:latin typeface="Segoe UI"/>
              </a:rPr>
              <a:t>traçabilité</a:t>
            </a:r>
            <a:r>
              <a:rPr sz="1250" b="1" i="0" dirty="0">
                <a:solidFill>
                  <a:srgbClr val="0F172A"/>
                </a:solidFill>
                <a:latin typeface="Segoe UI"/>
              </a:rPr>
              <a:t> </a:t>
            </a:r>
            <a:r>
              <a:rPr sz="1250" b="1" i="0" dirty="0" err="1">
                <a:solidFill>
                  <a:srgbClr val="0F172A"/>
                </a:solidFill>
                <a:latin typeface="Segoe UI"/>
              </a:rPr>
              <a:t>complètes</a:t>
            </a:r>
            <a:endParaRPr sz="1250" b="1" i="0" dirty="0">
              <a:solidFill>
                <a:srgbClr val="0F172A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1 · 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Méthodologie de conception et de développement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40080" y="1874519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54680" y="2011680"/>
            <a:ext cx="256032" cy="182880"/>
          </a:xfrm>
          <a:prstGeom prst="rightArrow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Analyse des besoins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926080"/>
            <a:ext cx="26060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4748B"/>
                </a:solidFill>
                <a:latin typeface="Segoe UI"/>
              </a:rPr>
              <a:t>Étude des processus universitaires, des textes LMD, des solutions existantes et des parties prenantes → 16 domaines fonctionnels, 13 profils.</a:t>
            </a:r>
          </a:p>
        </p:txBody>
      </p:sp>
      <p:sp>
        <p:nvSpPr>
          <p:cNvPr id="13" name="Oval 12"/>
          <p:cNvSpPr/>
          <p:nvPr/>
        </p:nvSpPr>
        <p:spPr>
          <a:xfrm>
            <a:off x="3429000" y="1874519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43600" y="2011680"/>
            <a:ext cx="256032" cy="182880"/>
          </a:xfrm>
          <a:prstGeom prst="rightArrow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29000" y="251460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Conception UML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2926080"/>
            <a:ext cx="26060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4748B"/>
                </a:solidFill>
                <a:latin typeface="Segoe UI"/>
              </a:rPr>
              <a:t>Cas d'utilisation, diagrammes de classes et de séquence ; architecture modulaire ; design-first API (OpenAPI).</a:t>
            </a:r>
          </a:p>
        </p:txBody>
      </p:sp>
      <p:sp>
        <p:nvSpPr>
          <p:cNvPr id="17" name="Oval 16"/>
          <p:cNvSpPr/>
          <p:nvPr/>
        </p:nvSpPr>
        <p:spPr>
          <a:xfrm>
            <a:off x="6217920" y="1874519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732520" y="2011680"/>
            <a:ext cx="256032" cy="182880"/>
          </a:xfrm>
          <a:prstGeom prst="rightArrow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17920" y="251460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Développement itératif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926080"/>
            <a:ext cx="26060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4748B"/>
                </a:solidFill>
                <a:latin typeface="Segoe UI"/>
              </a:rPr>
              <a:t>Chaque module traité de bout en bout (modèles → migrations → serializers → vues → tests → frontend) avant le suivant.</a:t>
            </a:r>
          </a:p>
        </p:txBody>
      </p:sp>
      <p:sp>
        <p:nvSpPr>
          <p:cNvPr id="21" name="Oval 20"/>
          <p:cNvSpPr/>
          <p:nvPr/>
        </p:nvSpPr>
        <p:spPr>
          <a:xfrm>
            <a:off x="9006840" y="1874519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251460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Validation multi-niveaux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2926080"/>
            <a:ext cx="2606040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64748B"/>
                </a:solidFill>
                <a:latin typeface="Segoe UI"/>
              </a:rPr>
              <a:t>Tests unitaires, intégration API, fonctionnels par rôle, sécurité (accès non autorisé, rate limiting, JWT).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539496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334155"/>
                </a:solidFill>
                <a:latin typeface="Segoe UI"/>
              </a:rPr>
              <a:t>Hypothèses de travail : une architecture découplée REST facilite la maintenabilité (H1) ; le système LMD peut être modélisé génériquement sans modification de code pour des structures différentes (H2).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2 · ÉTAT DE L'ART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Solutions existantes : pourquoi une solution locale 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920240"/>
          <a:ext cx="107442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349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58368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Solution</a:t>
                      </a:r>
                    </a:p>
                  </a:txBody>
                  <a:tcPr marL="101600" marR="101600" marT="50800" marB="508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Type</a:t>
                      </a:r>
                    </a:p>
                  </a:txBody>
                  <a:tcPr marL="101600" marR="101600" marT="50800" marB="508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FFFFFF"/>
                          </a:solidFill>
                          <a:latin typeface="Segoe UI"/>
                        </a:rPr>
                        <a:t>Limite principale face au contexte visé</a:t>
                      </a:r>
                    </a:p>
                  </a:txBody>
                  <a:tcPr marL="101600" marR="101600" marT="50800" marB="50800"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Banner / PeopleSoft (Ellucian, Oracle)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Propriétaire international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Conçues pour le contexte nord-américain/européen ; adaptation au LMD francophone impossible ou prohibitive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OpenEduCat / ERPNext Education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Open-source générique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Pas de gestion native des règles LMD (compensation, capitalisation) ; interface non localisée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Odoo Education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Open-source modulaire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Intégration LMS moderne limitée ; effort de personnalisation important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TIRAHOU (ce projet)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Sur mesure, open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334155"/>
                          </a:solidFill>
                          <a:latin typeface="Segoe UI"/>
                        </a:rPr>
                        <a:t>Conçu nativement pour le LMD, le FCFA et le contexte ivoirien ; 16 domaines couverts en un seul système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13232" y="5486400"/>
            <a:ext cx="105156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1">
                <a:solidFill>
                  <a:srgbClr val="334155"/>
                </a:solidFill>
                <a:latin typeface="Segoe UI"/>
              </a:rPr>
              <a:t>Opportunité technologique : la maturité de Django/DRF et React, combinée à JWT et à la documentation OpenAPI automatique, rend accessible le développement d'un ERP universitaire complet par une équipe réduite.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2 · ÉTAT DE L'ART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Choix technologiques — 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1874519"/>
            <a:ext cx="530352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2563EB"/>
                </a:solidFill>
                <a:latin typeface="Segoe UI"/>
              </a:rPr>
              <a:t>●  </a:t>
            </a:r>
            <a:r>
              <a:rPr sz="1350" b="1">
                <a:solidFill>
                  <a:srgbClr val="0F172A"/>
                </a:solidFill>
                <a:latin typeface="Segoe UI"/>
              </a:rPr>
              <a:t>Django 5.2 (LTS) + DRF</a:t>
            </a:r>
            <a:r>
              <a:rPr sz="1350">
                <a:solidFill>
                  <a:srgbClr val="334155"/>
                </a:solidFill>
                <a:latin typeface="Segoe UI"/>
              </a:rPr>
              <a:t>ORM puissant, sécurité intégrée (CSRF/XSS/injection SQL), admin auto-généré, architecture en applications modulaires.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2563EB"/>
                </a:solidFill>
                <a:latin typeface="Segoe UI"/>
              </a:rPr>
              <a:t>●  </a:t>
            </a:r>
            <a:r>
              <a:rPr sz="1350" b="1">
                <a:solidFill>
                  <a:srgbClr val="0F172A"/>
                </a:solidFill>
                <a:latin typeface="Segoe UI"/>
              </a:rPr>
              <a:t>JWT — djangorestframework-simplejwt</a:t>
            </a:r>
            <a:r>
              <a:rPr sz="1350">
                <a:solidFill>
                  <a:srgbClr val="334155"/>
                </a:solidFill>
                <a:latin typeface="Segoe UI"/>
              </a:rPr>
              <a:t>Access token courte durée + refresh token 7 jours avec rotation et blacklist ; adapté aux SPA découplées.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2563EB"/>
                </a:solidFill>
                <a:latin typeface="Segoe UI"/>
              </a:rPr>
              <a:t>●  </a:t>
            </a:r>
            <a:r>
              <a:rPr sz="1350" b="1">
                <a:solidFill>
                  <a:srgbClr val="0F172A"/>
                </a:solidFill>
                <a:latin typeface="Segoe UI"/>
              </a:rPr>
              <a:t>PostgreSQL (prod) / SQLite (dev)</a:t>
            </a:r>
            <a:r>
              <a:rPr sz="1350">
                <a:solidFill>
                  <a:srgbClr val="334155"/>
                </a:solidFill>
                <a:latin typeface="Segoe UI"/>
              </a:rPr>
              <a:t>ORM Django abstrait totalement la différence : développement local simple, robustesse ACID en production.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1874519"/>
            <a:ext cx="5303520" cy="4206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7C3AED"/>
                </a:solidFill>
                <a:latin typeface="Segoe UI"/>
              </a:rPr>
              <a:t>●  </a:t>
            </a:r>
            <a:r>
              <a:rPr sz="1350" b="1">
                <a:solidFill>
                  <a:srgbClr val="0F172A"/>
                </a:solidFill>
                <a:latin typeface="Segoe UI"/>
              </a:rPr>
              <a:t>Redis + Celery</a:t>
            </a:r>
            <a:r>
              <a:rPr sz="1350">
                <a:solidFill>
                  <a:srgbClr val="334155"/>
                </a:solidFill>
                <a:latin typeface="Segoe UI"/>
              </a:rPr>
              <a:t>Cache applicatif (statistiques, listes) et broker pour les tâches asynchrones : scores d'engagement, emails/SMS, rapports.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7C3AED"/>
                </a:solidFill>
                <a:latin typeface="Segoe UI"/>
              </a:rPr>
              <a:t>●  </a:t>
            </a:r>
            <a:r>
              <a:rPr sz="1350" b="1">
                <a:solidFill>
                  <a:srgbClr val="0F172A"/>
                </a:solidFill>
                <a:latin typeface="Segoe UI"/>
              </a:rPr>
              <a:t>drf-spectacular</a:t>
            </a:r>
            <a:r>
              <a:rPr sz="1350">
                <a:solidFill>
                  <a:srgbClr val="334155"/>
                </a:solidFill>
                <a:latin typeface="Segoe UI"/>
              </a:rPr>
              <a:t>Schéma OpenAPI 3.0 généré automatiquement, exposé via Swagger UI interactive sur /api/docs/.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50">
                <a:solidFill>
                  <a:srgbClr val="7C3AED"/>
                </a:solidFill>
                <a:latin typeface="Segoe UI"/>
              </a:rPr>
              <a:t>●  </a:t>
            </a:r>
            <a:r>
              <a:rPr sz="1350" b="1">
                <a:solidFill>
                  <a:srgbClr val="0F172A"/>
                </a:solidFill>
                <a:latin typeface="Segoe UI"/>
              </a:rPr>
              <a:t>Sécurité applicative</a:t>
            </a:r>
            <a:r>
              <a:rPr sz="1350">
                <a:solidFill>
                  <a:srgbClr val="334155"/>
                </a:solidFill>
                <a:latin typeface="Segoe UI"/>
              </a:rPr>
              <a:t>Rate limiting par classe d'utilisateur, CORS strict, audit log exhaustif sur les opérations sensibles.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2 · ÉTAT DE L'ART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Choix technologiques — Frontend, PWA &amp;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13232" y="1874519"/>
          <a:ext cx="557784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435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Bibliothèque</a:t>
                      </a:r>
                    </a:p>
                  </a:txBody>
                  <a:tcPr marL="101600" marR="101600" marT="50800" marB="50800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Segoe UI"/>
                        </a:rPr>
                        <a:t>Rôle</a:t>
                      </a:r>
                    </a:p>
                  </a:txBody>
                  <a:tcPr marL="101600" marR="101600" marT="50800" marB="50800"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React 19 + TypeScript + Vite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SPA typée, build ultra-rapide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React Router v7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Routage, routes protégées par rôle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TanStack Query v5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Cache serveur, synchronisation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Zustand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État global (authentification)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Tailwind CSS + Radix UI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Design system utilitaire, accessible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Recharts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Graphiques &amp; visualisations analytics</a:t>
                      </a:r>
                    </a:p>
                  </a:txBody>
                  <a:tcPr marL="101600" marR="101600" marT="50800" marB="50800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435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React Hook Form + Zod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334155"/>
                          </a:solidFill>
                          <a:latin typeface="Segoe UI"/>
                        </a:rPr>
                        <a:t>Formulaires &amp; validation typée</a:t>
                      </a:r>
                    </a:p>
                  </a:txBody>
                  <a:tcPr marL="101600" marR="101600" marT="50800" marB="508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629400" y="1874519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PWA &amp; Mobile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84632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>
                <a:solidFill>
                  <a:srgbClr val="7C3AED"/>
                </a:solidFill>
                <a:latin typeface="Segoe UI"/>
              </a:rPr>
              <a:t>●  </a:t>
            </a:r>
            <a:r>
              <a:rPr sz="1300" b="1">
                <a:solidFill>
                  <a:srgbClr val="0F172A"/>
                </a:solidFill>
                <a:latin typeface="Segoe UI"/>
              </a:rPr>
              <a:t>Progressive Web App </a:t>
            </a:r>
            <a:r>
              <a:rPr sz="1300">
                <a:solidFill>
                  <a:srgbClr val="334155"/>
                </a:solidFill>
                <a:latin typeface="Segoe UI"/>
              </a:rPr>
              <a:t>(vite-plugin-pwa) : installation mobile, fonctionnement partiel hors-ligne — pertinent en contexte de connectivité intermittente.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000">
                <a:solidFill>
                  <a:srgbClr val="7C3AED"/>
                </a:solidFill>
                <a:latin typeface="Segoe UI"/>
              </a:rPr>
              <a:t>●  </a:t>
            </a:r>
            <a:r>
              <a:rPr sz="1300" b="1">
                <a:solidFill>
                  <a:srgbClr val="0F172A"/>
                </a:solidFill>
                <a:latin typeface="Segoe UI"/>
              </a:rPr>
              <a:t>Application mobile native </a:t>
            </a:r>
            <a:r>
              <a:rPr sz="1300">
                <a:solidFill>
                  <a:srgbClr val="334155"/>
                </a:solidFill>
                <a:latin typeface="Segoe UI"/>
              </a:rPr>
              <a:t>(Expo / React Native + TypeScript) : espace dédié étudiants &amp; enseignants, même API REST.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29400" y="4297680"/>
            <a:ext cx="4846320" cy="173736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858000" y="4480560"/>
            <a:ext cx="438912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1D4ED8"/>
                </a:solidFill>
                <a:latin typeface="Segoe UI"/>
              </a:rPr>
              <a:t>expo-router (navigation par fichiers) · zustand (auth) · axios avec refresh JWT automatique — mêmes conventions que le client web, pour une cohérence totale entre les trois surfaces.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3 · CONCEPTION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Acteurs du système — 13 profils utilisateurs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74519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874519"/>
            <a:ext cx="3520440" cy="50292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1032" y="1965960"/>
            <a:ext cx="3164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Acteurs internes (9)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032" y="2560320"/>
            <a:ext cx="316484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Super Administrateur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Admin. Institutionnel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Admin. Scolarité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Admin. Financier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Responsable Pédagogique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Chef de Département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Enseignant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Tuteur / Encadreur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059669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Bibliothécaire · Support technique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1688" y="1874519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61688" y="1874519"/>
            <a:ext cx="352044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39488" y="1965960"/>
            <a:ext cx="3164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Acteurs directs (2)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39488" y="2560320"/>
            <a:ext cx="316484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2563EB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Étudiant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2563EB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Doctorant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1874519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10144" y="1874519"/>
            <a:ext cx="3520440" cy="50292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187944" y="1965960"/>
            <a:ext cx="31648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Acteurs externes (3)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7944" y="2560320"/>
            <a:ext cx="316484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 dirty="0">
                <a:solidFill>
                  <a:srgbClr val="7C3AED"/>
                </a:solidFill>
                <a:latin typeface="Segoe UI"/>
              </a:rPr>
              <a:t>●  </a:t>
            </a:r>
            <a:r>
              <a:rPr sz="1250" dirty="0" err="1">
                <a:solidFill>
                  <a:srgbClr val="334155"/>
                </a:solidFill>
                <a:latin typeface="Segoe UI"/>
              </a:rPr>
              <a:t>Candidat</a:t>
            </a:r>
            <a:r>
              <a:rPr sz="1250" dirty="0">
                <a:solidFill>
                  <a:srgbClr val="334155"/>
                </a:solidFill>
                <a:latin typeface="Segoe UI"/>
              </a:rPr>
              <a:t> (non </a:t>
            </a:r>
            <a:r>
              <a:rPr sz="1250" dirty="0" err="1">
                <a:solidFill>
                  <a:srgbClr val="334155"/>
                </a:solidFill>
                <a:latin typeface="Segoe UI"/>
              </a:rPr>
              <a:t>inscrit</a:t>
            </a:r>
            <a:r>
              <a:rPr sz="1250" dirty="0">
                <a:solidFill>
                  <a:srgbClr val="334155"/>
                </a:solidFill>
                <a:latin typeface="Segoe UI"/>
              </a:rPr>
              <a:t>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 dirty="0">
                <a:solidFill>
                  <a:srgbClr val="7C3AED"/>
                </a:solidFill>
                <a:latin typeface="Segoe UI"/>
              </a:rPr>
              <a:t>●  </a:t>
            </a:r>
            <a:r>
              <a:rPr sz="1250" dirty="0" err="1">
                <a:solidFill>
                  <a:srgbClr val="334155"/>
                </a:solidFill>
                <a:latin typeface="Segoe UI"/>
              </a:rPr>
              <a:t>Vérificateur</a:t>
            </a:r>
            <a:r>
              <a:rPr sz="1250" dirty="0">
                <a:solidFill>
                  <a:srgbClr val="334155"/>
                </a:solidFill>
                <a:latin typeface="Segoe UI"/>
              </a:rPr>
              <a:t> (public, sans </a:t>
            </a:r>
            <a:r>
              <a:rPr sz="1250" dirty="0" err="1">
                <a:solidFill>
                  <a:srgbClr val="334155"/>
                </a:solidFill>
                <a:latin typeface="Segoe UI"/>
              </a:rPr>
              <a:t>compte</a:t>
            </a:r>
            <a:r>
              <a:rPr sz="1250" dirty="0">
                <a:solidFill>
                  <a:srgbClr val="334155"/>
                </a:solidFill>
                <a:latin typeface="Segoe UI"/>
              </a:rPr>
              <a:t>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 dirty="0">
                <a:solidFill>
                  <a:srgbClr val="7C3AED"/>
                </a:solidFill>
                <a:latin typeface="Segoe UI"/>
              </a:rPr>
              <a:t>●  </a:t>
            </a:r>
            <a:r>
              <a:rPr sz="1250" dirty="0" err="1">
                <a:solidFill>
                  <a:srgbClr val="334155"/>
                </a:solidFill>
                <a:latin typeface="Segoe UI"/>
              </a:rPr>
              <a:t>Invité</a:t>
            </a:r>
            <a:r>
              <a:rPr sz="1250" dirty="0">
                <a:solidFill>
                  <a:srgbClr val="334155"/>
                </a:solidFill>
                <a:latin typeface="Segoe UI"/>
              </a:rPr>
              <a:t> / </a:t>
            </a:r>
            <a:r>
              <a:rPr sz="1250" dirty="0" err="1">
                <a:solidFill>
                  <a:srgbClr val="334155"/>
                </a:solidFill>
                <a:latin typeface="Segoe UI"/>
              </a:rPr>
              <a:t>Intervenant</a:t>
            </a:r>
            <a:r>
              <a:rPr sz="1250" dirty="0">
                <a:solidFill>
                  <a:srgbClr val="334155"/>
                </a:solidFill>
                <a:latin typeface="Segoe UI"/>
              </a:rPr>
              <a:t> </a:t>
            </a:r>
            <a:r>
              <a:rPr sz="1250" dirty="0" err="1">
                <a:solidFill>
                  <a:srgbClr val="334155"/>
                </a:solidFill>
                <a:latin typeface="Segoe UI"/>
              </a:rPr>
              <a:t>externe</a:t>
            </a:r>
            <a:endParaRPr sz="1250" dirty="0">
              <a:solidFill>
                <a:srgbClr val="334155"/>
              </a:solidFill>
              <a:latin typeface="Segoe U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3 · CONCEPTION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Modélisation UML — Cas d'utilisation (vue globale)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13232" y="1828800"/>
            <a:ext cx="1371600" cy="50292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Admin. Scolarité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04872" y="1783080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Gérer les candidatures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084832" y="1984248"/>
            <a:ext cx="320040" cy="91440"/>
          </a:xfrm>
          <a:prstGeom prst="line">
            <a:avLst/>
          </a:prstGeom>
          <a:ln w="12700">
            <a:solidFill>
              <a:srgbClr val="05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404872" y="2313432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Gérer les inscriptions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84832" y="2075688"/>
            <a:ext cx="320040" cy="438912"/>
          </a:xfrm>
          <a:prstGeom prst="line">
            <a:avLst/>
          </a:prstGeom>
          <a:ln w="12700">
            <a:solidFill>
              <a:srgbClr val="05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404872" y="2843784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Générer documents officiels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84832" y="2075688"/>
            <a:ext cx="320040" cy="969264"/>
          </a:xfrm>
          <a:prstGeom prst="line">
            <a:avLst/>
          </a:prstGeom>
          <a:ln w="12700">
            <a:solidFill>
              <a:srgbClr val="05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404872" y="3374136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Suivre les dossiers étudiants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084832" y="2075688"/>
            <a:ext cx="320040" cy="1499616"/>
          </a:xfrm>
          <a:prstGeom prst="line">
            <a:avLst/>
          </a:prstGeom>
          <a:ln w="12700">
            <a:solidFill>
              <a:srgbClr val="05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6199632" y="1828800"/>
            <a:ext cx="1371600" cy="50292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Admin. Financier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91272" y="1783080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Gérer les factures</a:t>
            </a:r>
          </a:p>
        </p:txBody>
      </p:sp>
      <p:cxnSp>
        <p:nvCxnSpPr>
          <p:cNvPr id="20" name="Connector 19"/>
          <p:cNvCxnSpPr/>
          <p:nvPr/>
        </p:nvCxnSpPr>
        <p:spPr>
          <a:xfrm flipV="1">
            <a:off x="7571232" y="1984248"/>
            <a:ext cx="320040" cy="91440"/>
          </a:xfrm>
          <a:prstGeom prst="line">
            <a:avLst/>
          </a:prstGeom>
          <a:ln w="127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891272" y="2313432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Enregistrer les paiements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571232" y="2075688"/>
            <a:ext cx="320040" cy="438912"/>
          </a:xfrm>
          <a:prstGeom prst="line">
            <a:avLst/>
          </a:prstGeom>
          <a:ln w="127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891272" y="2843784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Gérer bourses / exonérations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71232" y="2075688"/>
            <a:ext cx="320040" cy="969264"/>
          </a:xfrm>
          <a:prstGeom prst="line">
            <a:avLst/>
          </a:prstGeom>
          <a:ln w="127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891272" y="3374136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Consulter le journal de caisse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571232" y="2075688"/>
            <a:ext cx="320040" cy="1499616"/>
          </a:xfrm>
          <a:prstGeom prst="line">
            <a:avLst/>
          </a:prstGeom>
          <a:ln w="1270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713232" y="4069080"/>
            <a:ext cx="1371600" cy="5029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Enseignant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404872" y="4023360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Gérer ses espaces LMS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2084832" y="4224528"/>
            <a:ext cx="320040" cy="9144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2404872" y="4553712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Saisir les notes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84832" y="4315968"/>
            <a:ext cx="320040" cy="438912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2404872" y="5084064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Prendre les présences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084832" y="4315968"/>
            <a:ext cx="320040" cy="969264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2404872" y="5614416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Superviser devoirs &amp; classes virtuelles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084832" y="4315968"/>
            <a:ext cx="320040" cy="1499616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6199632" y="4069080"/>
            <a:ext cx="1371600" cy="5029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</a:rPr>
              <a:t>Étudiant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891272" y="4023360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Consulter notes &amp; emploi du temps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7571232" y="4224528"/>
            <a:ext cx="320040" cy="91440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7891272" y="4553712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Accéder au campus numérique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571232" y="4315968"/>
            <a:ext cx="320040" cy="438912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7891272" y="5084064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Suivre sa situation financière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571232" y="4315968"/>
            <a:ext cx="320040" cy="969264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891272" y="5614416"/>
            <a:ext cx="3611880" cy="41148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0F172A"/>
                </a:solidFill>
                <a:latin typeface="Segoe UI"/>
              </a:rPr>
              <a:t>Vérifier ses documents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571232" y="4315968"/>
            <a:ext cx="320040" cy="1499616"/>
          </a:xfrm>
          <a:prstGeom prst="line">
            <a:avLst/>
          </a:prstGeom>
          <a:ln w="1270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3 · CONCEPTION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Architecture du système — 3 couches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80160" y="1783080"/>
            <a:ext cx="9601200" cy="1234440"/>
          </a:xfrm>
          <a:prstGeom prst="roundRect">
            <a:avLst>
              <a:gd name="adj" fmla="val 5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554480" y="191008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COUCHE PRÉSENTATION — Frontend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16480"/>
            <a:ext cx="9144000" cy="599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E2E8F0"/>
                </a:solidFill>
                <a:latin typeface="Segoe UI"/>
              </a:rPr>
              <a:t>React 19 SPA/PWA · TypeScript · Vite · Tailwind CSS + Radix UI · React Router v7 (routes protégées par rôle) · TanStack Query + Zustand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3008376"/>
            <a:ext cx="2286000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1">
                <a:solidFill>
                  <a:srgbClr val="64748B"/>
                </a:solidFill>
                <a:latin typeface="Segoe UI"/>
              </a:rPr>
              <a:t>HTTPS · JSON · JWT Bearer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43600" y="3209544"/>
            <a:ext cx="256032" cy="137160"/>
          </a:xfrm>
          <a:prstGeom prst="down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280160" y="3364992"/>
            <a:ext cx="9601200" cy="141732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3491992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"/>
              </a:rPr>
              <a:t>COUCHE APPLICATIVE — API Backend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898392"/>
            <a:ext cx="9144000" cy="782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E2E8F0"/>
                </a:solidFill>
                <a:latin typeface="Segoe UI"/>
              </a:rPr>
              <a:t>Django 5.2 + DRF · 19 applications à responsabilité unique · JWT Auth · RBAC (Role/Permission) · Audit Log · Rate Limiting · CORS · OpenAPI/Swagger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291840" y="4828032"/>
            <a:ext cx="274320" cy="219456"/>
          </a:xfrm>
          <a:prstGeom prst="down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Down Arrow 17"/>
          <p:cNvSpPr/>
          <p:nvPr/>
        </p:nvSpPr>
        <p:spPr>
          <a:xfrm>
            <a:off x="8138160" y="4828032"/>
            <a:ext cx="274320" cy="219456"/>
          </a:xfrm>
          <a:prstGeom prst="down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280160" y="5074920"/>
            <a:ext cx="4663440" cy="1143000"/>
          </a:xfrm>
          <a:prstGeom prst="roundRect">
            <a:avLst>
              <a:gd name="adj" fmla="val 5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508760" y="5148072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COUCHE DONNÉES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468112"/>
            <a:ext cx="4297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E2E8F0"/>
                </a:solidFill>
                <a:latin typeface="Segoe UI"/>
              </a:rPr>
              <a:t>PostgreSQL (prod) / SQLite (dev) · Django ORM · Migrations versionnées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5074920"/>
            <a:ext cx="4663440" cy="1143000"/>
          </a:xfrm>
          <a:prstGeom prst="roundRect">
            <a:avLst>
              <a:gd name="adj" fmla="val 5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46520" y="5148072"/>
            <a:ext cx="42976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Segoe UI"/>
              </a:rPr>
              <a:t>SERVICES EXTERNES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468112"/>
            <a:ext cx="4297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E2E8F0"/>
                </a:solidFill>
                <a:latin typeface="Segoe UI"/>
              </a:rPr>
              <a:t>Redis (cache + broker Celery) · SMTP · BBB/Jitsi/Zoom · Stockage fichiers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3 · CONCEPTION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19 modules Django à responsabilité unique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28800"/>
            <a:ext cx="52578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1032" y="19558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Académique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1032" y="2489200"/>
            <a:ext cx="713232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05864" y="2489200"/>
            <a:ext cx="113385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apps.accounts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41320" y="2489200"/>
            <a:ext cx="113385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apps.academic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76776" y="2489200"/>
            <a:ext cx="113385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apps.programs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1032" y="2946400"/>
            <a:ext cx="923544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apps.people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1828800"/>
            <a:ext cx="52578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77432" y="19558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Parcours étudiant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7432" y="2489200"/>
            <a:ext cx="1344168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apps.admissions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23200" y="2489200"/>
            <a:ext cx="1344168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apps.enrollment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8968" y="2489200"/>
            <a:ext cx="1028700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apps.finance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77432" y="2946400"/>
            <a:ext cx="1239012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apps.documents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" y="4114800"/>
            <a:ext cx="52578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1032" y="42418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Pédagogie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1032" y="4775200"/>
            <a:ext cx="1344168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apps.evaluation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36800" y="4775200"/>
            <a:ext cx="60807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apps.lms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46476" y="4775200"/>
            <a:ext cx="165963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apps.virtual_class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032" y="5232400"/>
            <a:ext cx="1344168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apps.attendance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336800" y="5232400"/>
            <a:ext cx="1764792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apps.scheduling_app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9632" y="4114800"/>
            <a:ext cx="5257800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377432" y="424180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Support &amp; pilotage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77432" y="4775200"/>
            <a:ext cx="1449324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apps.internships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28356" y="4775200"/>
            <a:ext cx="165963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apps.communication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377432" y="5232400"/>
            <a:ext cx="165963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apps.analytics_app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8668" y="5232400"/>
            <a:ext cx="1028700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apps.library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268968" y="5232400"/>
            <a:ext cx="608076" cy="36576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Segoe UI"/>
              </a:rPr>
              <a:t>apps.api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3 · CONCEPTION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Sécurité de la plateforme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74519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91032" y="2052319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EF2F2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1032" y="2712719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RBAC granulaire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032" y="3144519"/>
            <a:ext cx="3246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13 rôles × permissions par module et par action ; contrôle d'accès vérifié à chaque requête.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874519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94352" y="2052319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EF2F2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94352" y="2712719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JWT avec rotation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4352" y="3144519"/>
            <a:ext cx="3246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Access token courte durée, refresh token 7 jours, blacklist des tokens révoqués à la déconnexion.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1874519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97672" y="2052319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EF2F2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97672" y="2712719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Audit log exhaustif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7672" y="3144519"/>
            <a:ext cx="3246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Journalisation de toutes les opérations sensibles : qui, quoi, quand, sur quelle ressource.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4023359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91032" y="4201159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EF2F2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1032" y="4861559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Rate limiting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032" y="5293359"/>
            <a:ext cx="3246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Throttling par classe d'utilisateur pour limiter les abus et les attaques par force brute.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16552" y="4023359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4594352" y="4201159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EF2F2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594352" y="4861559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Vérification de documents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4352" y="5293359"/>
            <a:ext cx="3246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QR code + code unique sur chaque document généré, vérifiable publiquement sans compte (/verify/[code]).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19872" y="4023359"/>
            <a:ext cx="3520440" cy="1965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8297672" y="4201159"/>
            <a:ext cx="384048" cy="384048"/>
          </a:xfrm>
          <a:prstGeom prst="roundRect">
            <a:avLst>
              <a:gd name="adj" fmla="val 30000"/>
            </a:avLst>
          </a:prstGeom>
          <a:solidFill>
            <a:srgbClr val="FEF2F2"/>
          </a:solidFill>
          <a:ln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97672" y="4861559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Sécurité HTTP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97672" y="5293359"/>
            <a:ext cx="32461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HTTPS forcé, HSTS, CORS strict, protections CSRF/XSS/injection SQL natives Django.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5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Interface — Tableau de bord institutionnel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20700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64748B"/>
                </a:solidFill>
                <a:latin typeface="Segoe UI"/>
              </a:rPr>
              <a:t>Capture réelle de la plateforme déployée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62432" y="1823719"/>
            <a:ext cx="7051040" cy="43535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admin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74519"/>
            <a:ext cx="6949440" cy="42519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09560" y="1965960"/>
            <a:ext cx="3657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Ce que voit l'administrateur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657600" cy="3474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2563EB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4 KPI en un coup d'œil : étudiants, enseignants, revenus, cours actifs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2563EB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Résumé financier : encaissé vs facturé, taux de collecte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2563EB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Indicateurs pédagogiques : taux de réussite, documents générés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2563EB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Journal d'audit et actions rapides contextualisées par rôle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5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Interfaces — Espace étudiant &amp; enseignant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20700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64748B"/>
                </a:solidFill>
                <a:latin typeface="Segoe UI"/>
              </a:rPr>
              <a:t>Navigation simplifiée, une vue résumée par domaine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97840" y="1823719"/>
            <a:ext cx="5542280" cy="4262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student-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19"/>
            <a:ext cx="544068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48640" y="6111239"/>
            <a:ext cx="5440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64748B"/>
                </a:solidFill>
                <a:latin typeface="Segoe UI"/>
              </a:rPr>
              <a:t>Espace étudiant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1400" y="1823719"/>
            <a:ext cx="5542280" cy="42621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teacher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874519"/>
            <a:ext cx="5440680" cy="416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172200" y="6111239"/>
            <a:ext cx="54406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64748B"/>
                </a:solidFill>
                <a:latin typeface="Segoe UI"/>
              </a:rPr>
              <a:t>Espace enseignant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5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Fonctionnalité phare — Évaluation &amp; délibérations LMD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2103120"/>
            <a:ext cx="2011680" cy="100584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Saisie CC + Examen
par enseignant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77160" y="2450592"/>
            <a:ext cx="146304" cy="256032"/>
          </a:xfrm>
          <a:prstGeom prst="rightArrow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788920" y="2103120"/>
            <a:ext cx="2011680" cy="100584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Calcul auto pondéré
(40% / 60%)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26000" y="2450592"/>
            <a:ext cx="146304" cy="256032"/>
          </a:xfrm>
          <a:prstGeom prst="rightArrow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4937760" y="2103120"/>
            <a:ext cx="2011680" cy="100584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Compensation
EC → UE → Semestre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974840" y="2450592"/>
            <a:ext cx="146304" cy="256032"/>
          </a:xfrm>
          <a:prstGeom prst="rightArrow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7086600" y="2103120"/>
            <a:ext cx="2011680" cy="1005840"/>
          </a:xfrm>
          <a:prstGeom prst="roundRect">
            <a:avLst>
              <a:gd name="adj" fmla="val 12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Décision de jury
+ mentions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23680" y="2450592"/>
            <a:ext cx="146304" cy="256032"/>
          </a:xfrm>
          <a:prstGeom prst="rightArrow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9235440" y="2103120"/>
            <a:ext cx="2011680" cy="1005840"/>
          </a:xfrm>
          <a:prstGeom prst="roundRect">
            <a:avLst>
              <a:gd name="adj" fmla="val 12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50" b="1">
                <a:solidFill>
                  <a:srgbClr val="FFFFFF"/>
                </a:solidFill>
              </a:rPr>
              <a:t>Publication
&amp; notification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657600"/>
            <a:ext cx="10607040" cy="2468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>
                <a:solidFill>
                  <a:srgbClr val="2563EB"/>
                </a:solidFill>
                <a:latin typeface="Segoe UI"/>
              </a:rPr>
              <a:t>●  </a:t>
            </a:r>
            <a:r>
              <a:rPr sz="1400" b="1">
                <a:solidFill>
                  <a:srgbClr val="0F172A"/>
                </a:solidFill>
                <a:latin typeface="Segoe UI"/>
              </a:rPr>
              <a:t>Règles LMD respectées </a:t>
            </a:r>
            <a:r>
              <a:rPr sz="1400">
                <a:solidFill>
                  <a:srgbClr val="334155"/>
                </a:solidFill>
                <a:latin typeface="Segoe UI"/>
              </a:rPr>
              <a:t>— compensation entre EC d'une même UE, capitalisation des crédits validés.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>
                <a:solidFill>
                  <a:srgbClr val="2563EB"/>
                </a:solidFill>
                <a:latin typeface="Segoe UI"/>
              </a:rPr>
              <a:t>●  </a:t>
            </a:r>
            <a:r>
              <a:rPr sz="1400" b="1">
                <a:solidFill>
                  <a:srgbClr val="0F172A"/>
                </a:solidFill>
                <a:latin typeface="Segoe UI"/>
              </a:rPr>
              <a:t>Réclamations gérées </a:t>
            </a:r>
            <a:r>
              <a:rPr sz="1400">
                <a:solidFill>
                  <a:srgbClr val="334155"/>
                </a:solidFill>
                <a:latin typeface="Segoe UI"/>
              </a:rPr>
              <a:t>— un étudiant peut contester une note publiée ; workflow de traitement dédié.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>
                <a:solidFill>
                  <a:srgbClr val="2563EB"/>
                </a:solidFill>
                <a:latin typeface="Segoe UI"/>
              </a:rPr>
              <a:t>●  </a:t>
            </a:r>
            <a:r>
              <a:rPr sz="1400" b="1">
                <a:solidFill>
                  <a:srgbClr val="0F172A"/>
                </a:solidFill>
                <a:latin typeface="Segoe UI"/>
              </a:rPr>
              <a:t>Génération automatique </a:t>
            </a:r>
            <a:r>
              <a:rPr sz="1400">
                <a:solidFill>
                  <a:srgbClr val="334155"/>
                </a:solidFill>
                <a:latin typeface="Segoe UI"/>
              </a:rPr>
              <a:t>— relevés de notes, attestations, diplômes en PDF avec QR code de vérification.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100">
                <a:solidFill>
                  <a:srgbClr val="2563EB"/>
                </a:solidFill>
                <a:latin typeface="Segoe UI"/>
              </a:rPr>
              <a:t>●  </a:t>
            </a:r>
            <a:r>
              <a:rPr sz="1400" b="1">
                <a:solidFill>
                  <a:srgbClr val="0F172A"/>
                </a:solidFill>
                <a:latin typeface="Segoe UI"/>
              </a:rPr>
              <a:t>3 modes d'évaluation </a:t>
            </a:r>
            <a:r>
              <a:rPr sz="1400">
                <a:solidFill>
                  <a:srgbClr val="334155"/>
                </a:solidFill>
                <a:latin typeface="Segoe UI"/>
              </a:rPr>
              <a:t>supportés : Contrôle Continu, Examen, Mixte.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5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Fonctionnalité phare — Analytics prédictif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182880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Score d'engagement — 7 indicateurs comportementaux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86000"/>
            <a:ext cx="576072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Assiduité aux séances (présentiel &amp; virtuel)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Résultats académiques (notes, moyennes)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Activité sur le campus numérique (LMS)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Ponctualité des paiements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Interactions avec les enseignants / forums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Complétion des devoirs et quiz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Régularité de connexion à la plateforme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82880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4 niveaux de risque de décrochage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0" y="2331720"/>
            <a:ext cx="320040" cy="3200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15200" y="235712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Faible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0" y="3017520"/>
            <a:ext cx="320040" cy="320040"/>
          </a:xfrm>
          <a:prstGeom prst="ellipse">
            <a:avLst/>
          </a:prstGeom>
          <a:solidFill>
            <a:srgbClr val="EAB3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0" y="304292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Modéré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0" y="3703320"/>
            <a:ext cx="320040" cy="32004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0" y="372872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Élevé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0" y="4389120"/>
            <a:ext cx="320040" cy="32004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0" y="4414520"/>
            <a:ext cx="4023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Critique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0" y="5166360"/>
            <a:ext cx="4617720" cy="868680"/>
          </a:xfrm>
          <a:prstGeom prst="roundRect">
            <a:avLst>
              <a:gd name="adj" fmla="val 8000"/>
            </a:avLst>
          </a:prstGeom>
          <a:solidFill>
            <a:srgbClr val="F5F3FF"/>
          </a:solidFill>
          <a:ln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059168" y="5285232"/>
            <a:ext cx="4206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7C3AED"/>
                </a:solidFill>
                <a:latin typeface="Segoe UI"/>
              </a:rPr>
              <a:t>Objectif : permettre une intervention pédagogique précoce, avant l'échec ou l'abandon.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5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Fonctionnalité phare — Campus numérique &amp; présences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19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74519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874519"/>
            <a:ext cx="3520440" cy="457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5632" y="1947672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Campus numérique (LMS)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1032" y="2514600"/>
            <a:ext cx="324612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Espaces de cours par EC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Modules, ressources, devoirs, quiz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Suivi de progression par étudiant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Statistiques de vues/téléchargements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6552" y="1874519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416552" y="1874519"/>
            <a:ext cx="3520440" cy="457200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68952" y="1947672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Classes virtuelles hybrides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4352" y="2514600"/>
            <a:ext cx="324612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7C3AED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5 fournisseurs : BBB, Jitsi, Zoom, Meet, Teams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7C3AED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Sessions planifiées liées à l'emploi du temps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7C3AED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Suivi des participants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9872" y="1874519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19872" y="1874519"/>
            <a:ext cx="3520440" cy="4572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72272" y="1947672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Segoe UI"/>
              </a:rPr>
              <a:t>Présences intelligentes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97672" y="2514600"/>
            <a:ext cx="3246120" cy="3383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059669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QR code plein écran + minuterie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059669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Code de séance saisi par l'étudiant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059669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Pointage manuel en repli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059669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Alertes automatiques sous 75%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5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Application mobile TIRAHOU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207008"/>
            <a:ext cx="10607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 i="1">
                <a:solidFill>
                  <a:srgbClr val="64748B"/>
                </a:solidFill>
                <a:latin typeface="Segoe UI"/>
              </a:rPr>
              <a:t>Expo / React Native — étudiants &amp; enseignants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20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17880" y="1732280"/>
            <a:ext cx="2067560" cy="43444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mobile-slide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783080"/>
            <a:ext cx="1965960" cy="424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68680" y="6102096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64748B"/>
                </a:solidFill>
                <a:latin typeface="Segoe UI"/>
              </a:rPr>
              <a:t>Connexion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95320" y="1732280"/>
            <a:ext cx="2067560" cy="434441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Picture 13" descr="mobile-slide-stud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6120" y="1783080"/>
            <a:ext cx="1965960" cy="424281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246120" y="6102096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 i="1">
                <a:solidFill>
                  <a:srgbClr val="64748B"/>
                </a:solidFill>
                <a:latin typeface="Segoe UI"/>
              </a:rPr>
              <a:t>Dashboard étudiant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1874519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Segoe UI"/>
              </a:rPr>
              <a:t>Pourquoi une app dédiée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06440" y="2331720"/>
            <a:ext cx="576072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Périmètre volontairement restreint (étudiant + enseignant) pour un développement rapide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Réutilise directement l'API REST de production — aucun backend séparé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50">
                <a:solidFill>
                  <a:srgbClr val="7C3AED"/>
                </a:solidFill>
                <a:latin typeface="Segoe UI"/>
              </a:rPr>
              <a:t>●  </a:t>
            </a:r>
            <a:r>
              <a:rPr sz="1250">
                <a:solidFill>
                  <a:srgbClr val="334155"/>
                </a:solidFill>
                <a:latin typeface="Segoe UI"/>
              </a:rPr>
              <a:t>Auth JWT avec refresh automatique, stockage sécurisé (Keychain/Keystore)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06440" y="4663440"/>
            <a:ext cx="57607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172A"/>
                </a:solidFill>
                <a:latin typeface="Segoe UI"/>
              </a:rPr>
              <a:t>Fonctionnalités livrées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5029200"/>
            <a:ext cx="576072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850">
                <a:solidFill>
                  <a:srgbClr val="2563EB"/>
                </a:solidFill>
                <a:latin typeface="Segoe UI"/>
              </a:rPr>
              <a:t>●  </a:t>
            </a:r>
            <a:r>
              <a:rPr sz="1150">
                <a:solidFill>
                  <a:srgbClr val="334155"/>
                </a:solidFill>
                <a:latin typeface="Segoe UI"/>
              </a:rPr>
              <a:t>Étudiant : dashboard, notes, emploi du temps, assiduité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850">
                <a:solidFill>
                  <a:srgbClr val="2563EB"/>
                </a:solidFill>
                <a:latin typeface="Segoe UI"/>
              </a:rPr>
              <a:t>●  </a:t>
            </a:r>
            <a:r>
              <a:rPr sz="1150">
                <a:solidFill>
                  <a:srgbClr val="334155"/>
                </a:solidFill>
                <a:latin typeface="Segoe UI"/>
              </a:rPr>
              <a:t>Enseignant : saisie des notes, cours, gestion des présences (code de séance)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4 · RÉALISATION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Tests et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21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74519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65632" y="2011680"/>
            <a:ext cx="1737360" cy="32004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Django TestCase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5632" y="24688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Tests unitaires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5632" y="2880360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Modèles, calculs de notes/moyennes/scores, règles de validation des données.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02152" y="1874519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654552" y="2011680"/>
            <a:ext cx="1737360" cy="32004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Swagger / Postman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4552" y="24688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Tests d'intégration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4552" y="2880360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Endpoints REST : authentification, permissions, filtres, pagination.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91072" y="1874519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43472" y="2011680"/>
            <a:ext cx="1737360" cy="32004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Parcours par rôle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3472" y="24688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Tests fonctionnels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3472" y="2880360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Scénarios complets simulés pour étudiant, enseignant, scolarité, finance...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79992" y="1874519"/>
            <a:ext cx="2606040" cy="228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232392" y="2011680"/>
            <a:ext cx="1737360" cy="32004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Accès &amp; JWT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2392" y="2468880"/>
            <a:ext cx="23774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F172A"/>
                </a:solidFill>
                <a:latin typeface="Segoe UI"/>
              </a:rPr>
              <a:t>Tests de sécurité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2392" y="2880360"/>
            <a:ext cx="23774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4748B"/>
                </a:solidFill>
                <a:latin typeface="Segoe UI"/>
              </a:rPr>
              <a:t>Tentatives d'accès non autorisé, dépassement de rate limit, manipulation de token.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4434840"/>
            <a:ext cx="10744200" cy="16002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005840" y="45720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Segoe UI"/>
              </a:rPr>
              <a:t>Suite End-to-End automatisée (Playwright)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983480"/>
            <a:ext cx="100584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CBD5E1"/>
                </a:solidFill>
                <a:latin typeface="Segoe UI"/>
              </a:rPr>
              <a:t>41 scénarios couvrant authentification, RBAC, dashboards par rôle, saisie de notes, présences, thème sombre/clair, recherche globale — exécutés contre l'application réelle avant chaque déploiement.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5 · RÉSULTATS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Chiffres clés du projet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22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7451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3232" y="2052319"/>
            <a:ext cx="2514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2563EB"/>
                </a:solidFill>
                <a:latin typeface="Segoe UI Semibold"/>
              </a:rPr>
              <a:t>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9432" y="2819399"/>
            <a:ext cx="2362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Applications Django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187451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10712" y="2052319"/>
            <a:ext cx="2514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7C3AED"/>
                </a:solidFill>
                <a:latin typeface="Segoe UI Semibold"/>
              </a:rPr>
              <a:t>55+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6912" y="2819399"/>
            <a:ext cx="2362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Modèles de données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08192" y="187451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08192" y="2052319"/>
            <a:ext cx="2514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059669"/>
                </a:solidFill>
                <a:latin typeface="Segoe UI Semibold"/>
              </a:rPr>
              <a:t>60+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4392" y="2819399"/>
            <a:ext cx="2362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Tables en base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05672" y="187451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05672" y="2052319"/>
            <a:ext cx="2514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D97706"/>
                </a:solidFill>
                <a:latin typeface="Segoe UI Semibold"/>
              </a:rPr>
              <a:t>525+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81872" y="2819399"/>
            <a:ext cx="2362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Endpoints API REST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3232" y="338327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3561079"/>
            <a:ext cx="2514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2563EB"/>
                </a:solidFill>
                <a:latin typeface="Segoe UI Semibold"/>
              </a:rPr>
              <a:t>60+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9432" y="4328159"/>
            <a:ext cx="2362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Pages frontend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10712" y="338327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410712" y="3561079"/>
            <a:ext cx="2514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7C3AED"/>
                </a:solidFill>
                <a:latin typeface="Segoe UI Semibold"/>
              </a:rPr>
              <a:t>100+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86912" y="4328159"/>
            <a:ext cx="2362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Composants React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08192" y="338327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108192" y="3561079"/>
            <a:ext cx="2514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059669"/>
                </a:solidFill>
                <a:latin typeface="Segoe UI Semibold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84392" y="4328159"/>
            <a:ext cx="2362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Rôles utilisateurs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805672" y="3383279"/>
            <a:ext cx="2514600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805672" y="3561079"/>
            <a:ext cx="25146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700" b="1" i="0">
                <a:solidFill>
                  <a:srgbClr val="D97706"/>
                </a:solidFill>
                <a:latin typeface="Segoe UI Semibold"/>
              </a:rPr>
              <a:t>16/16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81872" y="4328159"/>
            <a:ext cx="2362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64748B"/>
                </a:solidFill>
                <a:latin typeface="Segoe UI"/>
              </a:rPr>
              <a:t>Domaines fonctionnels couverts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2" y="5074920"/>
            <a:ext cx="10744200" cy="96012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60120" y="5212080"/>
            <a:ext cx="102412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059669"/>
                </a:solidFill>
                <a:latin typeface="Segoe UI"/>
              </a:rPr>
              <a:t>Taux de couverture fonctionnelle global : 16/16 domaines réalisés (100%) — les 8 objectifs spécifiques (OS1 à OS8) sont tous marqués « Complet » dans le cahier de recette.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DÉPLOIEMENT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Déploiement en 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23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13232" y="1874519"/>
            <a:ext cx="52120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13232" y="1874519"/>
            <a:ext cx="5212080" cy="502920"/>
          </a:xfrm>
          <a:prstGeom prst="rect">
            <a:avLst/>
          </a:prstGeom>
          <a:solidFill>
            <a:srgbClr val="339C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96596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Segoe UI"/>
              </a:rPr>
              <a:t>Backend — Render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560320"/>
            <a:ext cx="475488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Django + Gunicorn, build automatisé (build.sh) : dépendances, collectstatic, migrations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Base de données PostgreSQL managée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Variables d'environnement : SECRET_KEY, DATABASE_URL, CORS_ALLOWED_ORIGINS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Comptes de démonstration réamorcés à chaque déploiement (script idempotent)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HTTPS forcé, HSTS, WhiteNoise pour les fichiers statiques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874519"/>
            <a:ext cx="52120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874519"/>
            <a:ext cx="5212080" cy="5029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64808" y="1965960"/>
            <a:ext cx="4754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 dirty="0">
                <a:solidFill>
                  <a:srgbClr val="FFFFFF"/>
                </a:solidFill>
                <a:latin typeface="Segoe UI"/>
              </a:rPr>
              <a:t>Frontend — </a:t>
            </a:r>
            <a:r>
              <a:rPr sz="1350" b="1" i="0" dirty="0" err="1">
                <a:solidFill>
                  <a:srgbClr val="FFFFFF"/>
                </a:solidFill>
                <a:latin typeface="Segoe UI"/>
              </a:rPr>
              <a:t>Vercel</a:t>
            </a:r>
            <a:endParaRPr sz="1350" b="1" i="0" dirty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464808" y="2560320"/>
            <a:ext cx="4754880" cy="32918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Build Vite (framework détecté explicitement dans vercel.json)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Déploiement automatique à chaque push sur la branche main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Variable VITE_API_URL pointant vers l'API Render de production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2563EB"/>
                </a:solidFill>
                <a:latin typeface="Segoe UI"/>
              </a:rPr>
              <a:t>●  </a:t>
            </a:r>
            <a:r>
              <a:rPr sz="1200">
                <a:solidFill>
                  <a:srgbClr val="334155"/>
                </a:solidFill>
                <a:latin typeface="Segoe UI"/>
              </a:rPr>
              <a:t>CDN global, aperçus de déploiement (preview) par branche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6172200"/>
            <a:ext cx="10744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 i="1">
                <a:solidFill>
                  <a:srgbClr val="64748B"/>
                </a:solidFill>
                <a:latin typeface="Segoe UI"/>
              </a:rPr>
              <a:t>CI/CD : chaque push déclenche automatiquement un nouveau build backend et frontend — de la modification de code à la mise en production en quelques minutes.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563EB"/>
                </a:solidFill>
                <a:latin typeface="Segoe UI"/>
              </a:rPr>
              <a:t>CHAPITRE 5 ·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0F172A"/>
                </a:solidFill>
                <a:latin typeface="Segoe UI Semibold"/>
              </a:rPr>
              <a:t>Limites actuelles &amp; perspectives d'évolution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4748B"/>
                </a:solidFill>
                <a:latin typeface="Segoe UI"/>
              </a:rPr>
              <a:t>24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18288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DC2626"/>
                </a:solidFill>
                <a:latin typeface="Segoe UI"/>
              </a:rPr>
              <a:t>Limites traitées pendant la préparation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240280"/>
            <a:ext cx="521208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 dirty="0">
                <a:solidFill>
                  <a:srgbClr val="DC2626"/>
                </a:solidFill>
                <a:latin typeface="Segoe UI"/>
              </a:rPr>
              <a:t>●  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Mobile Money (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CinetPay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) &amp; notifications push : déjà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opérationnels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de bout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en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bout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 dirty="0">
                <a:solidFill>
                  <a:srgbClr val="DC2626"/>
                </a:solidFill>
                <a:latin typeface="Segoe UI"/>
              </a:rPr>
              <a:t>●  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Bug critique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corrigé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sur le score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prédictif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+ calibration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empirique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outillée</a:t>
            </a:r>
            <a:endParaRPr sz="1200" dirty="0">
              <a:solidFill>
                <a:srgbClr val="334155"/>
              </a:solidFill>
              <a:latin typeface="Segoe UI"/>
            </a:endParaRP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 dirty="0">
                <a:solidFill>
                  <a:srgbClr val="DC2626"/>
                </a:solidFill>
                <a:latin typeface="Segoe UI"/>
              </a:rPr>
              <a:t>●  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Test de charge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réel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exécuté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(40 util.) — rate limiting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confirmé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,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latence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de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connexion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identifiée</a:t>
            </a:r>
            <a:endParaRPr sz="1200" dirty="0">
              <a:solidFill>
                <a:srgbClr val="334155"/>
              </a:solidFill>
              <a:latin typeface="Segoe UI"/>
            </a:endParaRP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 dirty="0">
                <a:solidFill>
                  <a:srgbClr val="DC2626"/>
                </a:solidFill>
                <a:latin typeface="Segoe UI"/>
              </a:rPr>
              <a:t>●  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Row-Level Security PostgreSQL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implémentée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et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testée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(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défense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en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 </a:t>
            </a:r>
            <a:r>
              <a:rPr sz="1200" dirty="0" err="1">
                <a:solidFill>
                  <a:srgbClr val="334155"/>
                </a:solidFill>
                <a:latin typeface="Segoe UI"/>
              </a:rPr>
              <a:t>profondeur</a:t>
            </a:r>
            <a:r>
              <a:rPr sz="1200" dirty="0">
                <a:solidFill>
                  <a:srgbClr val="334155"/>
                </a:solidFill>
                <a:latin typeface="Segoe UI"/>
              </a:rPr>
              <a:t>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828800"/>
            <a:ext cx="52120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59669"/>
                </a:solidFill>
                <a:latin typeface="Segoe UI"/>
              </a:rPr>
              <a:t>Perspectives d'évolution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240280"/>
            <a:ext cx="5212080" cy="38404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059669"/>
                </a:solidFill>
                <a:latin typeface="Segoe UI"/>
              </a:rPr>
              <a:t>●  </a:t>
            </a:r>
            <a:r>
              <a:rPr sz="1200" b="1">
                <a:solidFill>
                  <a:srgbClr val="0F172A"/>
                </a:solidFill>
                <a:latin typeface="Segoe UI"/>
              </a:rPr>
              <a:t>Court terme — </a:t>
            </a:r>
            <a:r>
              <a:rPr sz="1200">
                <a:solidFill>
                  <a:srgbClr val="334155"/>
                </a:solidFill>
                <a:latin typeface="Segoe UI"/>
              </a:rPr>
              <a:t>recalibrer le modèle prédictif sur des données réelles de production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059669"/>
                </a:solidFill>
                <a:latin typeface="Segoe UI"/>
              </a:rPr>
              <a:t>●  </a:t>
            </a:r>
            <a:r>
              <a:rPr sz="1200" b="1">
                <a:solidFill>
                  <a:srgbClr val="0F172A"/>
                </a:solidFill>
                <a:latin typeface="Segoe UI"/>
              </a:rPr>
              <a:t>Moyen terme — </a:t>
            </a:r>
            <a:r>
              <a:rPr sz="1200">
                <a:solidFill>
                  <a:srgbClr val="334155"/>
                </a:solidFill>
                <a:latin typeface="Segoe UI"/>
              </a:rPr>
              <a:t>architecture multi-tenant (note de conception rédigée), module RH &amp; paie, SCORM/xAPI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900">
                <a:solidFill>
                  <a:srgbClr val="059669"/>
                </a:solidFill>
                <a:latin typeface="Segoe UI"/>
              </a:rPr>
              <a:t>●  </a:t>
            </a:r>
            <a:r>
              <a:rPr sz="1200" b="1">
                <a:solidFill>
                  <a:srgbClr val="0F172A"/>
                </a:solidFill>
                <a:latin typeface="Segoe UI"/>
              </a:rPr>
              <a:t>Long terme — </a:t>
            </a:r>
            <a:r>
              <a:rPr sz="1200">
                <a:solidFill>
                  <a:srgbClr val="334155"/>
                </a:solidFill>
                <a:latin typeface="Segoe UI"/>
              </a:rPr>
              <a:t>BI avancée, API publique inter-établissements, IA dans le LMS, micro-certifications à badges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6858000" y="0"/>
            <a:ext cx="5486400" cy="6858000"/>
          </a:xfrm>
          <a:prstGeom prst="rect">
            <a:avLst/>
          </a:prstGeom>
          <a:solidFill>
            <a:srgbClr val="1E1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822960"/>
            <a:ext cx="8229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Segoe UI Semibold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20240"/>
            <a:ext cx="1024128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2563EB"/>
                </a:solidFill>
                <a:latin typeface="Segoe UI"/>
              </a:rPr>
              <a:t>●  </a:t>
            </a:r>
            <a:r>
              <a:rPr sz="1550">
                <a:solidFill>
                  <a:srgbClr val="E2E8F0"/>
                </a:solidFill>
                <a:latin typeface="Segoe UI"/>
              </a:rPr>
              <a:t>TIRAHOU démontre qu'une équipe réduite peut concevoir un ERP universitaire complet, moderne et adapté au LMD africain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2563EB"/>
                </a:solidFill>
                <a:latin typeface="Segoe UI"/>
              </a:rPr>
              <a:t>●  </a:t>
            </a:r>
            <a:r>
              <a:rPr sz="1550">
                <a:solidFill>
                  <a:srgbClr val="E2E8F0"/>
                </a:solidFill>
                <a:latin typeface="Segoe UI"/>
              </a:rPr>
              <a:t>Architecture découplée REST validée : 19 modules, 525+ endpoints, 16/16 domaines fonctionnels couverts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2563EB"/>
                </a:solidFill>
                <a:latin typeface="Segoe UI"/>
              </a:rPr>
              <a:t>●  </a:t>
            </a:r>
            <a:r>
              <a:rPr sz="1550">
                <a:solidFill>
                  <a:srgbClr val="E2E8F0"/>
                </a:solidFill>
                <a:latin typeface="Segoe UI"/>
              </a:rPr>
              <a:t>Sécurité (RBAC 13 rôles, JWT, audit) et analytics prédictifs opérationnels dès la version 1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2563EB"/>
                </a:solidFill>
                <a:latin typeface="Segoe UI"/>
              </a:rPr>
              <a:t>●  </a:t>
            </a:r>
            <a:r>
              <a:rPr sz="1550">
                <a:solidFill>
                  <a:srgbClr val="E2E8F0"/>
                </a:solidFill>
                <a:latin typeface="Segoe UI"/>
              </a:rPr>
              <a:t>Trois surfaces cohérentes : web, PWA et application mobile native, sur une seule et même API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250">
                <a:solidFill>
                  <a:srgbClr val="2563EB"/>
                </a:solidFill>
                <a:latin typeface="Segoe UI"/>
              </a:rPr>
              <a:t>●  </a:t>
            </a:r>
            <a:r>
              <a:rPr sz="1550">
                <a:solidFill>
                  <a:srgbClr val="E2E8F0"/>
                </a:solidFill>
                <a:latin typeface="Segoe UI"/>
              </a:rPr>
              <a:t>Solution déployée en production réelle (Render + Vercel), pas seulement en environnement de développement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41248" y="5212080"/>
            <a:ext cx="2011680" cy="4572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Segoe UI"/>
              </a:rPr>
              <a:t>MERCI DE VOTRE ATTENTION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852160"/>
            <a:ext cx="8229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 i="1">
                <a:solidFill>
                  <a:srgbClr val="94A3B8"/>
                </a:solidFill>
                <a:latin typeface="Segoe UI"/>
              </a:rPr>
              <a:t>Questions 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50" b="1">
                <a:solidFill>
                  <a:srgbClr val="2563EB"/>
                </a:solidFill>
                <a:latin typeface="Segoe UI"/>
              </a:rPr>
              <a:t>ANNEXES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700" b="1">
                <a:solidFill>
                  <a:srgbClr val="0F172A"/>
                </a:solidFill>
                <a:latin typeface="Segoe UI Semibold"/>
              </a:rPr>
              <a:t>Modélisation UML complémentaire — diagrammes de classes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Segoe UI"/>
              </a:rPr>
              <a:t>26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" y="1900000"/>
            <a:ext cx="11183112" cy="38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Les diagrammes suivants documentent le modèle conceptuel de classes établi lors de la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phase de conception, avant l'implémentation — ils illustrent la démarche de modélisation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64748B"/>
                </a:solidFill>
                <a:latin typeface="Segoe UI"/>
              </a:rPr>
              <a:t>qui a précédé et structuré le développement de chaque module.</a:t>
            </a:r>
          </a:p>
          <a:p>
            <a:pPr>
              <a:spcAft>
                <a:spcPts val="1000"/>
              </a:spcAft>
            </a:pPr>
            <a:endParaRPr sz="1500" b="0">
              <a:solidFill>
                <a:srgbClr val="64748B"/>
              </a:solidFill>
              <a:latin typeface="Segoe UI"/>
            </a:endParaRP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1.  Diagramme de classes global — vue d'ensemble du domaine métier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2.  Identités &amp; sécurité — utilisateurs, rôles, permissions, sessions, audit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3.  Structure LMD — niveaux, semestres, UE, EC, crédits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4.  Évaluations — modèle polymorphe (examen, quiz, devoir, projet)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0F172A"/>
                </a:solidFill>
                <a:latin typeface="Segoe UI"/>
              </a:rPr>
              <a:t>5.  Emploi du temps — créneaux, salles, réservations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50" b="1">
                <a:solidFill>
                  <a:srgbClr val="2563EB"/>
                </a:solidFill>
                <a:latin typeface="Segoe UI"/>
              </a:rPr>
              <a:t>ANNEXES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Segoe UI Semibold"/>
              </a:rPr>
              <a:t>Diagramme de classes — vue d'ensemble du domaine métier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Segoe UI"/>
              </a:rPr>
              <a:t>27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183466" y="1300000"/>
            <a:ext cx="5822019" cy="51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Diagramme_Glo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3466" y="1400000"/>
            <a:ext cx="5622019" cy="4900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50" b="1">
                <a:solidFill>
                  <a:srgbClr val="2563EB"/>
                </a:solidFill>
                <a:latin typeface="Segoe UI"/>
              </a:rPr>
              <a:t>ANNEXES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Segoe UI Semibold"/>
              </a:rPr>
              <a:t>Identités &amp; sécurité — utilisateurs, rôles, permissions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Segoe UI"/>
              </a:rPr>
              <a:t>28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360096" y="1500000"/>
            <a:ext cx="7468760" cy="43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03_Identi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696" y="1728600"/>
            <a:ext cx="7011560" cy="3842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5950000"/>
            <a:ext cx="11183112" cy="3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i="1">
                <a:solidFill>
                  <a:srgbClr val="64748B"/>
                </a:solidFill>
                <a:latin typeface="Segoe UI"/>
              </a:rPr>
              <a:t>Base du contrôle d'accès RBAC : Utilisateur, Compte, Role, Permission, SessionConnexion, JournalAudit.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50" b="1">
                <a:solidFill>
                  <a:srgbClr val="2563EB"/>
                </a:solidFill>
                <a:latin typeface="Segoe UI"/>
              </a:rPr>
              <a:t>ANNEXES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Segoe UI Semibold"/>
              </a:rPr>
              <a:t>Structure LMD — niveaux, semestres, UE, EC, crédits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Segoe UI"/>
              </a:rPr>
              <a:t>29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676135" y="1500000"/>
            <a:ext cx="2836682" cy="43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08_LM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4735" y="1728600"/>
            <a:ext cx="2379482" cy="3842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5950000"/>
            <a:ext cx="11183112" cy="3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i="1">
                <a:solidFill>
                  <a:srgbClr val="64748B"/>
                </a:solidFill>
                <a:latin typeface="Segoe UI"/>
              </a:rPr>
              <a:t>Modélisation générique du système LMD, réutilisable pour tout programme Licence ou Master.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50" b="1">
                <a:solidFill>
                  <a:srgbClr val="2563EB"/>
                </a:solidFill>
                <a:latin typeface="Segoe UI"/>
              </a:rPr>
              <a:t>ANNEXES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Segoe UI Semibold"/>
              </a:rPr>
              <a:t>Évaluations — modèle polymorphe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Segoe UI"/>
              </a:rPr>
              <a:t>30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16278" y="1500000"/>
            <a:ext cx="5156395" cy="43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17_Eval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4878" y="1728600"/>
            <a:ext cx="4699195" cy="3842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5950000"/>
            <a:ext cx="11183112" cy="3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i="1">
                <a:solidFill>
                  <a:srgbClr val="64748B"/>
                </a:solidFill>
                <a:latin typeface="Segoe UI"/>
              </a:rPr>
              <a:t>Une évaluation abstraite spécialisée en Examen, Quiz, Devoir ou Projet — extensible sans casser l'existant.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54864" cy="777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13232" y="438912"/>
            <a:ext cx="10058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/>
            <a:r>
              <a:rPr sz="1150" b="1">
                <a:solidFill>
                  <a:srgbClr val="2563EB"/>
                </a:solidFill>
                <a:latin typeface="Segoe UI"/>
              </a:rPr>
              <a:t>ANNEXES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94944"/>
            <a:ext cx="10789920" cy="594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Segoe UI Semibold"/>
              </a:rPr>
              <a:t>Emploi du temps — créneaux, salles, réservations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28816"/>
            <a:ext cx="548640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TIRAHOU — Soutenance de mémoire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528816"/>
            <a:ext cx="731520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900">
                <a:solidFill>
                  <a:srgbClr val="64748B"/>
                </a:solidFill>
                <a:latin typeface="Segoe UI"/>
              </a:rPr>
              <a:t>31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" y="6473952"/>
            <a:ext cx="11183112" cy="0"/>
          </a:xfrm>
          <a:prstGeom prst="line">
            <a:avLst/>
          </a:prstGeom>
          <a:ln w="9525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31177" y="1500000"/>
            <a:ext cx="3726597" cy="43000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Picture 9" descr="24_EmploiTem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9777" y="1728600"/>
            <a:ext cx="3269397" cy="3842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5950000"/>
            <a:ext cx="11183112" cy="3200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/>
            <a:r>
              <a:rPr sz="1100" i="1">
                <a:solidFill>
                  <a:srgbClr val="64748B"/>
                </a:solidFill>
                <a:latin typeface="Segoe UI"/>
              </a:rPr>
              <a:t>Structure support de la planification des séances et de la gestion des salles (présentiel/hybride).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3014</Words>
  <Application>Microsoft Office PowerPoint</Application>
  <PresentationFormat>Widescreen</PresentationFormat>
  <Paragraphs>444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Ali Bréhima Cissé</cp:lastModifiedBy>
  <cp:revision>6</cp:revision>
  <dcterms:created xsi:type="dcterms:W3CDTF">2013-01-27T09:14:16Z</dcterms:created>
  <dcterms:modified xsi:type="dcterms:W3CDTF">2026-07-21T22:40:14Z</dcterms:modified>
  <cp:category/>
</cp:coreProperties>
</file>