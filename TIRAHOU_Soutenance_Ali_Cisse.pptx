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8412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 Semibold"/>
              </a:rPr>
              <a:t>TIRAHOU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15214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C5FD"/>
                </a:solidFill>
                <a:latin typeface="Segoe UI"/>
              </a:rPr>
              <a:t>Plateforme Universitaire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8686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FFFFFF"/>
                </a:solidFill>
                <a:latin typeface="Segoe UI Semibold"/>
              </a:rPr>
              <a:t>TIRAHOU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290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CBD5E1"/>
                </a:solidFill>
                <a:latin typeface="Segoe UI"/>
              </a:rPr>
              <a:t>Conception et développement d'un système d'information</a:t>
            </a:r>
          </a:p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CBD5E1"/>
                </a:solidFill>
                <a:latin typeface="Segoe UI"/>
              </a:rPr>
              <a:t>universitaire intégré, du besoin métier au déploiement en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4348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MÉMOIRE DE FIN D'ÉTUDES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74920"/>
            <a:ext cx="5486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Présenté par : Ali Brehima Cissé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Filière : Ingénierie Logiciel et Systèmes d'Information (ILSI) — Master 2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Encadreur : Dr Oumar Maïga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Année académique : 2025–2026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4A3B8"/>
                </a:solidFill>
                <a:latin typeface="Segoe UI"/>
              </a:rPr>
              <a:t>Soutenance publique — ITMA (Institut Africain de Technologie et de Management)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Plan de la présentation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3280" y="202691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280" y="261111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Contexte, problématique &amp; objectifs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600" y="202691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600" y="261111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Méthodologie &amp; état de l'art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9920" y="202691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920" y="261111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Conception : acteurs, UML, architecture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280" y="344423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80" y="402843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Sécurité &amp; choix technologiques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46600" y="344423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600" y="402843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Réalisation : modules &amp;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49920" y="344423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920" y="402843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Application mobile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3280" y="486155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280" y="544575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Tests, validation &amp; résultats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46600" y="486155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6600" y="544575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Déploiement en production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49920" y="486155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9920" y="544575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Limites, perspectives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Contexte : une gestion universitaire fragmentée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61264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Adoption du système LMD </a:t>
            </a:r>
            <a:r>
              <a:rPr sz="1500">
                <a:solidFill>
                  <a:srgbClr val="334155"/>
                </a:solidFill>
                <a:latin typeface="Segoe UI"/>
              </a:rPr>
              <a:t>→ organisation semestrielle, UE/EC, crédits, compensation, jurys : une complexité que les outils existants ne couvrent plus.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Croissance des effectifs </a:t>
            </a:r>
            <a:r>
              <a:rPr sz="1500">
                <a:solidFill>
                  <a:srgbClr val="334155"/>
                </a:solidFill>
                <a:latin typeface="Segoe UI"/>
              </a:rPr>
              <a:t>→ plusieurs centaines de milliers d'étudiants dans les établissements ivoiriens, services de scolarité sous pression.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Fragmentation des outils </a:t>
            </a:r>
            <a:r>
              <a:rPr sz="1500">
                <a:solidFill>
                  <a:srgbClr val="334155"/>
                </a:solidFill>
                <a:latin typeface="Segoe UI"/>
              </a:rPr>
              <a:t>→ inscriptions sur Excel, notes sur Word, comptabilité déconnectée, suivi pédagogique encore largement papier.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Conséquences </a:t>
            </a:r>
            <a:r>
              <a:rPr sz="1500">
                <a:solidFill>
                  <a:srgbClr val="334155"/>
                </a:solidFill>
                <a:latin typeface="Segoe UI"/>
              </a:rPr>
              <a:t>→ délais de traitement, erreurs de calcul de moyennes/crédits, absence de traçabilité, statistiques institutionnelles peu fiables.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828800"/>
            <a:ext cx="4206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Réalité opérationnelle observée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60320"/>
            <a:ext cx="3657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Fichiers Excel/Word non synchronisés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Files d'attente aux guichets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Aucun croisement données académiques ↔ financières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Communication étudiants quasi exclusivement papier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Problématique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107442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029968"/>
            <a:ext cx="10241280" cy="837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 dirty="0">
                <a:solidFill>
                  <a:srgbClr val="0F172A"/>
                </a:solidFill>
                <a:latin typeface="Segoe UI"/>
              </a:rPr>
              <a:t>« Comment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concevoir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et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développer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un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système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d'information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universitaire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intégré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, capable de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couvrir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l'ensemble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des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domaines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de gestion d'un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établissement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—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académique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,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pédagogique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, financier et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analytique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— tout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en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respectant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les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contraintes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du LMD et les exigences de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sécurité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et de performance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d'une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application web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moderne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520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Sous-questions de recherche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931920"/>
            <a:ext cx="1069848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modéliser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la structure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académique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LMD de manière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générique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, pour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s'adapter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à des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établissements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différents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garantir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la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cohérence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des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données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entre modules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fortement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interdépendants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(inscription, finance,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évaluation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présences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)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implémenter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un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contrôle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d'accès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fin pour 13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profils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d'utilisateurs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sans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alourdir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l'expérience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exploiter les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données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comportementales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pour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détecter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précocement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risque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de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décrochage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scolaire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Quelle architecture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garantit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à la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fois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richesse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fonctionnelle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réactivité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et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capacité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d'évolution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multi-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établissements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Objectifs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783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334155"/>
                </a:solidFill>
                <a:latin typeface="Segoe UI"/>
              </a:rPr>
              <a:t>Objectif général : concevoir, développer et valider une plateforme fullstack couvrant l'intégralité du cycle de vie étudiant, de la candidature à la diplomation.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563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3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Modéliser la structure académique LMD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6311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311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Automatiser la gestion des inscriptions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6059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59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Intégrer un module financier complet (FCFA)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5807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807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Déployer un campus numérique (LMS)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6563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3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Automatiser évaluation &amp; délibérations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071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56311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311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 dirty="0" err="1">
                <a:solidFill>
                  <a:srgbClr val="0F172A"/>
                </a:solidFill>
                <a:latin typeface="Segoe UI"/>
              </a:rPr>
              <a:t>Implémenter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un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contrôle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d'accès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RBAC 13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rôles</a:t>
            </a:r>
            <a:endParaRPr sz="1250" b="1" i="0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819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6059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059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 dirty="0" err="1">
                <a:solidFill>
                  <a:srgbClr val="0F172A"/>
                </a:solidFill>
                <a:latin typeface="Segoe UI"/>
              </a:rPr>
              <a:t>Produire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des analytics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éducatifs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prédictifs</a:t>
            </a:r>
            <a:endParaRPr sz="1250" b="1" i="0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80567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95807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807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 dirty="0" err="1">
                <a:solidFill>
                  <a:srgbClr val="0F172A"/>
                </a:solidFill>
                <a:latin typeface="Segoe UI"/>
              </a:rPr>
              <a:t>Garantir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sécurité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&amp;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traçabilité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complètes</a:t>
            </a:r>
            <a:endParaRPr sz="1250" b="1" i="0" dirty="0">
              <a:solidFill>
                <a:srgbClr val="0F172A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Méthodologie de conception et de développement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4008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Analyse des besoins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Étude des processus universitaires, des textes LMD, des solutions existantes et des parties prenantes → 16 domaines fonctionnels, 13 profils.</a:t>
            </a:r>
          </a:p>
        </p:txBody>
      </p:sp>
      <p:sp>
        <p:nvSpPr>
          <p:cNvPr id="13" name="Oval 12"/>
          <p:cNvSpPr/>
          <p:nvPr/>
        </p:nvSpPr>
        <p:spPr>
          <a:xfrm>
            <a:off x="342900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Conception UML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Cas d'utilisation, diagrammes de classes et de séquence ; architecture modulaire ; design-first API (OpenAPI).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3252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Développement itératif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Chaque module traité de bout en bout (modèles → migrations → serializers → vues → tests → frontend) avant le suivant.</a:t>
            </a:r>
          </a:p>
        </p:txBody>
      </p:sp>
      <p:sp>
        <p:nvSpPr>
          <p:cNvPr id="21" name="Oval 20"/>
          <p:cNvSpPr/>
          <p:nvPr/>
        </p:nvSpPr>
        <p:spPr>
          <a:xfrm>
            <a:off x="900684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Validation multi-niveaux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Tests unitaires, intégration API, fonctionnels par rôle, sécurité (accès non autorisé, rate limiting, JWT).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334155"/>
                </a:solidFill>
                <a:latin typeface="Segoe UI"/>
              </a:rPr>
              <a:t>Hypothèses de travail : une architecture découplée REST facilite la maintenabilité (H1) ; le système LMD peut être modélisé génériquement sans modification de code pour des structures différentes (H2).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Solutions existantes : pourquoi une solution locale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920240"/>
          <a:ext cx="10744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Solution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Limite principale face au contexte visé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Banner / PeopleSoft (Ellucian, Oracle)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Propriétaire international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Conçues pour le contexte nord-américain/européen ; adaptation au LMD francophone impossible ou prohibitive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OpenEduCat / ERPNext Education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Open-source générique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Pas de gestion native des règles LMD (compensation, capitalisation) ; interface non localisée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Odoo Education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Open-source modulaire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Intégration LMS moderne limitée ; effort de personnalisation important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TIRAHOU (ce projet)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Sur mesure, open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Conçu nativement pour le LMD, le FCFA et le contexte ivoirien ; 16 domaines couverts en un seul système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54864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334155"/>
                </a:solidFill>
                <a:latin typeface="Segoe UI"/>
              </a:rPr>
              <a:t>Opportunité technologique : la maturité de Django/DRF et React, combinée à JWT et à la documentation OpenAPI automatique, rend accessible le développement d'un ERP universitaire complet par une équipe réduite.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Choix technologiques —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74519"/>
            <a:ext cx="53035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Django 5.2 (LTS) + DRF</a:t>
            </a:r>
            <a:r>
              <a:rPr sz="1350">
                <a:solidFill>
                  <a:srgbClr val="334155"/>
                </a:solidFill>
                <a:latin typeface="Segoe UI"/>
              </a:rPr>
              <a:t>ORM puissant, sécurité intégrée (CSRF/XSS/injection SQL), admin auto-généré, architecture en applications modulaires.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JWT — djangorestframework-simplejwt</a:t>
            </a:r>
            <a:r>
              <a:rPr sz="1350">
                <a:solidFill>
                  <a:srgbClr val="334155"/>
                </a:solidFill>
                <a:latin typeface="Segoe UI"/>
              </a:rPr>
              <a:t>Access token courte durée + refresh token 7 jours avec rotation et blacklist ; adapté aux SPA découplées.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PostgreSQL (prod) / SQLite (dev)</a:t>
            </a:r>
            <a:r>
              <a:rPr sz="1350">
                <a:solidFill>
                  <a:srgbClr val="334155"/>
                </a:solidFill>
                <a:latin typeface="Segoe UI"/>
              </a:rPr>
              <a:t>ORM Django abstrait totalement la différence : développement local simple, robustesse ACID en 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874519"/>
            <a:ext cx="53035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Redis + Celery</a:t>
            </a:r>
            <a:r>
              <a:rPr sz="1350">
                <a:solidFill>
                  <a:srgbClr val="334155"/>
                </a:solidFill>
                <a:latin typeface="Segoe UI"/>
              </a:rPr>
              <a:t>Cache applicatif (statistiques, listes) et broker pour les tâches asynchrones : scores d'engagement, emails/SMS, rapports.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drf-spectacular</a:t>
            </a:r>
            <a:r>
              <a:rPr sz="1350">
                <a:solidFill>
                  <a:srgbClr val="334155"/>
                </a:solidFill>
                <a:latin typeface="Segoe UI"/>
              </a:rPr>
              <a:t>Schéma OpenAPI 3.0 généré automatiquement, exposé via Swagger UI interactive sur /api/docs/.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Sécurité applicative</a:t>
            </a:r>
            <a:r>
              <a:rPr sz="1350">
                <a:solidFill>
                  <a:srgbClr val="334155"/>
                </a:solidFill>
                <a:latin typeface="Segoe UI"/>
              </a:rPr>
              <a:t>Rate limiting par classe d'utilisateur, CORS strict, audit log exhaustif sur les opérations sensibles.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Choix technologiques — Frontend, PWA &amp;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74519"/>
          <a:ext cx="5577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Bibliothèque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19 + TypeScript + Vite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SPA typée, build ultra-rapide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Router v7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Routage, routes protégées par rôle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TanStack Query v5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Cache serveur, synchronisation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Zustand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État global (authentification)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Tailwind CSS + Radix UI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Design system utilitaire, accessible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Recharts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Graphiques &amp; visualisations analytics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Hook Form + Zod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Formulaires &amp; validation typée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29400" y="1874519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PWA &amp; Mobile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84632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7C3AED"/>
                </a:solidFill>
                <a:latin typeface="Segoe UI"/>
              </a:rPr>
              <a:t>●  </a:t>
            </a:r>
            <a:r>
              <a:rPr sz="1300" b="1">
                <a:solidFill>
                  <a:srgbClr val="0F172A"/>
                </a:solidFill>
                <a:latin typeface="Segoe UI"/>
              </a:rPr>
              <a:t>Progressive Web App </a:t>
            </a:r>
            <a:r>
              <a:rPr sz="1300">
                <a:solidFill>
                  <a:srgbClr val="334155"/>
                </a:solidFill>
                <a:latin typeface="Segoe UI"/>
              </a:rPr>
              <a:t>(vite-plugin-pwa) : installation mobile, fonctionnement partiel hors-ligne — pertinent en contexte de connectivité intermittente.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7C3AED"/>
                </a:solidFill>
                <a:latin typeface="Segoe UI"/>
              </a:rPr>
              <a:t>●  </a:t>
            </a:r>
            <a:r>
              <a:rPr sz="1300" b="1">
                <a:solidFill>
                  <a:srgbClr val="0F172A"/>
                </a:solidFill>
                <a:latin typeface="Segoe UI"/>
              </a:rPr>
              <a:t>Application mobile native </a:t>
            </a:r>
            <a:r>
              <a:rPr sz="1300">
                <a:solidFill>
                  <a:srgbClr val="334155"/>
                </a:solidFill>
                <a:latin typeface="Segoe UI"/>
              </a:rPr>
              <a:t>(Expo / React Native + TypeScript) : espace dédié étudiants &amp; enseignants, même API 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297680"/>
            <a:ext cx="4846320" cy="17373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4389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D4ED8"/>
                </a:solidFill>
                <a:latin typeface="Segoe UI"/>
              </a:rPr>
              <a:t>expo-router (navigation par fichiers) · zustand (auth) · axios avec refresh JWT automatique — mêmes conventions que le client web, pour une cohérence totale entre les trois surfaces.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Acteurs du système — 13 profils utilisateurs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352044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1032" y="1965960"/>
            <a:ext cx="316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internes (9)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Super Administrateur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Institutionnel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Scolarité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Financier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Responsable Pédagogique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Chef de Département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Enseignant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Tuteur / Encadreur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Bibliothécaire · Support technique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61688" y="1874519"/>
            <a:ext cx="352044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9488" y="1965960"/>
            <a:ext cx="316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directs (2)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488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Doctorant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10144" y="1874519"/>
            <a:ext cx="3520440" cy="502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7944" y="1965960"/>
            <a:ext cx="316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externes (3)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7944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 dirty="0">
                <a:solidFill>
                  <a:srgbClr val="7C3AED"/>
                </a:solidFill>
                <a:latin typeface="Segoe UI"/>
              </a:rPr>
              <a:t>● 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Candidat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(non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inscrit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 dirty="0">
                <a:solidFill>
                  <a:srgbClr val="7C3AED"/>
                </a:solidFill>
                <a:latin typeface="Segoe UI"/>
              </a:rPr>
              <a:t>● 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Vérificateur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(public, sans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compte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 dirty="0">
                <a:solidFill>
                  <a:srgbClr val="7C3AED"/>
                </a:solidFill>
                <a:latin typeface="Segoe UI"/>
              </a:rPr>
              <a:t>● 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Invité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/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Intervenant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externe</a:t>
            </a:r>
            <a:endParaRPr sz="1250" dirty="0">
              <a:solidFill>
                <a:srgbClr val="334155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Modélisation UML — Cas d'utilisation (vue globale)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13232" y="1828800"/>
            <a:ext cx="1371600" cy="5029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Admin. Scolarité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178308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candidatures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84832" y="1984248"/>
            <a:ext cx="320040" cy="91440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04872" y="231343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inscriptions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84832" y="2075688"/>
            <a:ext cx="320040" cy="438912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04872" y="284378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Générer documents officiels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84832" y="2075688"/>
            <a:ext cx="320040" cy="969264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404872" y="337413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Suivre les dossiers étudiants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84832" y="2075688"/>
            <a:ext cx="320040" cy="1499616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199632" y="1828800"/>
            <a:ext cx="1371600" cy="5029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Admin. Financier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91272" y="178308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factures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571232" y="1984248"/>
            <a:ext cx="320040" cy="91440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91272" y="231343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Enregistrer les paiements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71232" y="2075688"/>
            <a:ext cx="320040" cy="438912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891272" y="284378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bourses / exonérations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71232" y="2075688"/>
            <a:ext cx="320040" cy="969264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91272" y="337413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Consulter le journal de caisse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71232" y="2075688"/>
            <a:ext cx="320040" cy="1499616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13232" y="4069080"/>
            <a:ext cx="137160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Enseignant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402336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ses espaces LMS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084832" y="4224528"/>
            <a:ext cx="320040" cy="9144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4872" y="455371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Saisir les notes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84832" y="4315968"/>
            <a:ext cx="320040" cy="438912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404872" y="508406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Prendre les présences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84832" y="4315968"/>
            <a:ext cx="320040" cy="969264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404872" y="561441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Superviser devoirs &amp; classes virtuelles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84832" y="4315968"/>
            <a:ext cx="320040" cy="1499616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199632" y="4069080"/>
            <a:ext cx="137160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Étudiant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91272" y="402336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Consulter notes &amp; emploi du temps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7571232" y="4224528"/>
            <a:ext cx="320040" cy="9144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891272" y="455371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Accéder au campus numérique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571232" y="4315968"/>
            <a:ext cx="320040" cy="438912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891272" y="508406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Suivre sa situation financière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571232" y="4315968"/>
            <a:ext cx="320040" cy="969264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891272" y="561441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Vérifier ses documents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571232" y="4315968"/>
            <a:ext cx="320040" cy="1499616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Architecture du système — 3 couches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80160" y="1783080"/>
            <a:ext cx="9601200" cy="12344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191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COUCHE PRÉSENTATION — 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16480"/>
            <a:ext cx="9144000" cy="599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2E8F0"/>
                </a:solidFill>
                <a:latin typeface="Segoe UI"/>
              </a:rPr>
              <a:t>React 19 SPA/PWA · TypeScript · Vite · Tailwind CSS + Radix UI · React Router v7 (routes protégées par rôle) · TanStack Query + Zustand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08376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64748B"/>
                </a:solidFill>
                <a:latin typeface="Segoe UI"/>
              </a:rPr>
              <a:t>HTTPS · JSON · JWT Bearer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3209544"/>
            <a:ext cx="256032" cy="13716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280160" y="3364992"/>
            <a:ext cx="9601200" cy="14173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349199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COUCHE APPLICATIVE — API 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98392"/>
            <a:ext cx="9144000" cy="782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2E8F0"/>
                </a:solidFill>
                <a:latin typeface="Segoe UI"/>
              </a:rPr>
              <a:t>Django 5.2 + DRF · 19 applications à responsabilité unique · JWT Auth · RBAC (Role/Permission) · Audit Log · Rate Limiting · CORS · OpenAPI/Swagger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291840" y="4828032"/>
            <a:ext cx="274320" cy="21945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8138160" y="4828032"/>
            <a:ext cx="274320" cy="21945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280160" y="5074920"/>
            <a:ext cx="4663440" cy="1143000"/>
          </a:xfrm>
          <a:prstGeom prst="roundRect">
            <a:avLst>
              <a:gd name="adj" fmla="val 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08760" y="51480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COUCHE DONNÉES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468112"/>
            <a:ext cx="4297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2E8F0"/>
                </a:solidFill>
                <a:latin typeface="Segoe UI"/>
              </a:rPr>
              <a:t>PostgreSQL (prod) / SQLite (dev) · Django ORM · Migrations versionnées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074920"/>
            <a:ext cx="4663440" cy="114300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51480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SERVICES EXTERNES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468112"/>
            <a:ext cx="4297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2E8F0"/>
                </a:solidFill>
                <a:latin typeface="Segoe UI"/>
              </a:rPr>
              <a:t>Redis (cache + broker Celery) · SMTP · BBB/Jitsi/Zoom · Stockage fichiers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21 modules Django à responsabilité unique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28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1032" y="1955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Académique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032" y="2489200"/>
            <a:ext cx="71323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5864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apps.accounts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320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apps.academic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76776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apps.programs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032" y="2946400"/>
            <a:ext cx="923544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apps.people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828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7432" y="1955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Parcours étudiant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7432" y="2489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apps.admissions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23200" y="2489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apps.enrollment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8968" y="24892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apps.finance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7432" y="2946400"/>
            <a:ext cx="123901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apps.documents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114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032" y="4241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Pédagogie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032" y="4775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apps.evaluation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6800" y="4775200"/>
            <a:ext cx="60807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apps.lms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4647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apps.virtual_class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032" y="52324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apps.attendance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6800" y="5232400"/>
            <a:ext cx="176479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apps.scheduling_app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114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77432" y="4241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Support &amp; pilotage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7432" y="4775200"/>
            <a:ext cx="1449324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apps.internships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835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apps.communication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835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apps.communication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668" y="52324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apps.library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77432" y="52324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apps.analytics_app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77432" y="56896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apps.marketplace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668" y="56896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apps.chatbot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Sécurité de la 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9103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1032" y="271271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RBAC granulaire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314451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13 rôles × permissions par module et par action ; contrôle d'accès vérifié à chaque requête.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9435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4352" y="271271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JWT avec rotation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52" y="314451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Access token courte durée, refresh token 7 jours, blacklist des tokens révoqués à la déconnexion.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9767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97672" y="271271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Audit log exhaustif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7672" y="314451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Journalisation de toutes les opérations sensibles : qui, quoi, quand, sur quelle ressource.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103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032" y="486155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Rate limiting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032" y="529335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Throttling par classe d'utilisateur pour limiter les abus et les attaques par force brute.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9435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94352" y="486155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Vérification de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4352" y="529335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QR code + code unique sur chaque document généré, vérifiable publiquement sans compte (/verify/[code]).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29767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97672" y="486155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Sécurité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7672" y="529335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HTTPS forcé, HSTS, CORS strict, protections CSRF/XSS/injection SQL natives Django.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Interface — Tableau de bord institutionnel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Capture réelle de la plateforme déployée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2432" y="1823719"/>
            <a:ext cx="7051040" cy="4353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dmi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74519"/>
            <a:ext cx="6949440" cy="425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9659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Ce que voit l'administrateur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65760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4 KPI en un coup d'œil : étudiants, enseignants, revenus, cours actifs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Résumé financier : encaissé vs facturé, taux de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Indicateurs pédagogiques : taux de réussite, documents générés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Journal d'audit et actions rapides contextualisées par rôle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Interfaces — Espace étudiant &amp; enseignant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Navigation simplifiée, une vue résumée par domaine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840" y="1823719"/>
            <a:ext cx="5542280" cy="426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tu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440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111239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Espace étudiant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1823719"/>
            <a:ext cx="5542280" cy="426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teache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74519"/>
            <a:ext cx="5440680" cy="416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6111239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Espace enseignant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Évaluation &amp; délibérations LMD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Saisie CC + Examen
par enseignant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716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8892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Calcul auto pondéré
(40% / 60%)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600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3776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Compensation
EC → UE → Semestre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7484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8660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Décision de jury
+ mentions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2368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23544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Publication
&amp; notification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657600"/>
            <a:ext cx="1060704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Règles LMD respectées </a:t>
            </a:r>
            <a:r>
              <a:rPr sz="1400">
                <a:solidFill>
                  <a:srgbClr val="334155"/>
                </a:solidFill>
                <a:latin typeface="Segoe UI"/>
              </a:rPr>
              <a:t>— compensation entre EC d'une même UE, capitalisation des crédits validés.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Réclamations gérées </a:t>
            </a:r>
            <a:r>
              <a:rPr sz="1400">
                <a:solidFill>
                  <a:srgbClr val="334155"/>
                </a:solidFill>
                <a:latin typeface="Segoe UI"/>
              </a:rPr>
              <a:t>— un étudiant peut contester une note publiée ; workflow de traitement dédié.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Génération automatique </a:t>
            </a:r>
            <a:r>
              <a:rPr sz="1400">
                <a:solidFill>
                  <a:srgbClr val="334155"/>
                </a:solidFill>
                <a:latin typeface="Segoe UI"/>
              </a:rPr>
              <a:t>— relevés de notes, attestations, diplômes en PDF avec QR code de vérification.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3 modes d'évaluation </a:t>
            </a:r>
            <a:r>
              <a:rPr sz="1400">
                <a:solidFill>
                  <a:srgbClr val="334155"/>
                </a:solidFill>
                <a:latin typeface="Segoe UI"/>
              </a:rPr>
              <a:t>supportés : Contrôle Continu, Examen, Mixte.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Analytics prédictif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Score d'engagement — 7 indicateurs comportementaux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57607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Assiduité aux séances (présentiel &amp; virtuel)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Résultats académiques (notes, moyennes)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Activité sur le campus numérique (LMS)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Ponctualité des paiements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Interactions avec les enseignants / forums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Complétion des devoirs et quiz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Régularité de connexion à la plateforme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4 niveaux de risque de décrochage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0" y="2331720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23571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Faible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0" y="3017520"/>
            <a:ext cx="320040" cy="320040"/>
          </a:xfrm>
          <a:prstGeom prst="ellipse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0" y="30429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Modéré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0" y="3703320"/>
            <a:ext cx="320040" cy="3200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0" y="37287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Élevé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0" y="4389120"/>
            <a:ext cx="320040" cy="32004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0" y="44145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Critique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166360"/>
            <a:ext cx="4617720" cy="868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59168" y="5285232"/>
            <a:ext cx="4206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7C3AED"/>
                </a:solidFill>
                <a:latin typeface="Segoe UI"/>
              </a:rPr>
              <a:t>Objectif : permettre une intervention pédagogique précoce, avant l'échec ou l'abandon.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Campus numérique &amp; présences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35204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5632" y="194767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Campus numérique (LMS)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Espaces de cours par EC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Modules, ressources, devoirs, quiz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Suivi de progression par 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Statistiques de vues/téléchargements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874519"/>
            <a:ext cx="352044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8952" y="194767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Classes virtuelles hybrides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5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5 fournisseurs : BBB, Jitsi, Zoom, Meet, Teams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Sessions planifiées liées à l'emploi du temps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Suivi des participants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9872" y="1874519"/>
            <a:ext cx="352044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2272" y="194767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Présences intelligentes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767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QR code plein écran + minuterie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Code de séance saisi par l'étudiant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Pointage manuel en repli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Alertes automatiques sous 75%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Application mobile TIRAHOU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Expo / React Native — étudiants &amp; enseignants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7880" y="1732280"/>
            <a:ext cx="2067560" cy="43444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obile-slide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965960" cy="424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10209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Connexion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95320" y="1732280"/>
            <a:ext cx="2067560" cy="43444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mobile-slide-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783080"/>
            <a:ext cx="1965960" cy="424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46120" y="610209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Dashboard étudiant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1874519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Pourquoi une app dédiée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331720"/>
            <a:ext cx="57607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Périmètre volontairement restreint (étudiant + enseignant) pour un développement rapide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Réutilise directement l'API REST de production — aucun backend séparé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Auth JWT avec refresh automatique, stockage sécurisé (Keychain/Keystore)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4663440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Fonctionnalités livrées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5029200"/>
            <a:ext cx="57607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850">
                <a:solidFill>
                  <a:srgbClr val="2563EB"/>
                </a:solidFill>
                <a:latin typeface="Segoe UI"/>
              </a:rPr>
              <a:t>●  </a:t>
            </a:r>
            <a:r>
              <a:rPr sz="1150">
                <a:solidFill>
                  <a:srgbClr val="334155"/>
                </a:solidFill>
                <a:latin typeface="Segoe UI"/>
              </a:rPr>
              <a:t>Étudiant : dashboard, notes, emploi du temps, assiduité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850">
                <a:solidFill>
                  <a:srgbClr val="2563EB"/>
                </a:solidFill>
                <a:latin typeface="Segoe UI"/>
              </a:rPr>
              <a:t>●  </a:t>
            </a:r>
            <a:r>
              <a:rPr sz="1150">
                <a:solidFill>
                  <a:srgbClr val="334155"/>
                </a:solidFill>
                <a:latin typeface="Segoe UI"/>
              </a:rPr>
              <a:t>Enseignant : saisie des notes, cours, gestion des présences (code de séance)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TESTS ET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Tests et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563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Django TestCase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63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unitaires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3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Modèles, calculs de notes/moyennes/scores, règles de validation des données.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5455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Swagger / Postman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55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d'intégration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455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Endpoints REST : authentification, permissions, filtres, pagination.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4347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Parcours par rôle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47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fonctionnels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47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Scénarios complets simulés pour étudiant, enseignant, scolarité, finance...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3239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Accès &amp;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239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de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239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Tentatives d'accès non autorisé, dépassement de rate limit, manipulation de token.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434840"/>
            <a:ext cx="10744200" cy="1600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Suite End-to-End automatisée (Playwright)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83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41 scénarios couvrant authentification, RBAC, dashboards par rôle, saisie de notes, présences, thème sombre/clair, recherche globale — exécutés contre l'application réelle avant chaque déploiement.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TESTS ET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Chiffres clés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2563EB"/>
                </a:solidFill>
                <a:latin typeface="Segoe UI Semibold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43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Applications Django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1071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7C3AED"/>
                </a:solidFill>
                <a:latin typeface="Segoe UI Semibold"/>
              </a:rPr>
              <a:t>90+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91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Modèles de données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0819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59669"/>
                </a:solidFill>
                <a:latin typeface="Segoe UI Semibold"/>
              </a:rPr>
              <a:t>108+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439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Tables en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0567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7706"/>
                </a:solidFill>
                <a:latin typeface="Segoe UI Semibold"/>
              </a:rPr>
              <a:t>650+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187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Endpoints API 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2563EB"/>
                </a:solidFill>
                <a:latin typeface="Segoe UI Semibold"/>
              </a:rPr>
              <a:t>78+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3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Pages frontend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071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1071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7C3AED"/>
                </a:solidFill>
                <a:latin typeface="Segoe UI Semibold"/>
              </a:rPr>
              <a:t>110+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691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Fichiers React (.tsx)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0819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0819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59669"/>
                </a:solidFill>
                <a:latin typeface="Segoe UI Semibold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39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Rôles utilisateurs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0567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0567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7706"/>
                </a:solidFill>
                <a:latin typeface="Segoe UI Semibold"/>
              </a:rPr>
              <a:t>16/16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187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Domaines fonctionnels couverts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5074920"/>
            <a:ext cx="10744200" cy="96012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0120" y="5212080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59669"/>
                </a:solidFill>
                <a:latin typeface="Segoe UI"/>
              </a:rPr>
              <a:t>Taux de couverture fonctionnelle global : 16/16 domaines réalisés (100%) — les 8 objectifs spécifiques (OS1 à OS8) sont tous marqués « Complet » dans le cahier de recette.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TESTS ET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Déploiement en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5212080" cy="502920"/>
          </a:xfrm>
          <a:prstGeom prst="rect">
            <a:avLst/>
          </a:prstGeom>
          <a:solidFill>
            <a:srgbClr val="339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Backend —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Django + Daphne (ASGI, WebSocket temps réel), build automatisé (build.sh) : dépendances, collectstatic, migrations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Base de données PostgreSQL managée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Variables d'environnement : SECRET_KEY, DATABASE_URL, CORS_ALLOWED_ORIGINS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Comptes de démonstration réamorcés à chaque déploiement (script idempotent)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HTTPS forcé, HSTS, WhiteNoise pour les fichiers statiques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874519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8" y="196596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Frontend — </a:t>
            </a:r>
            <a:r>
              <a:rPr sz="1350" b="1" i="0" dirty="0" err="1">
                <a:solidFill>
                  <a:srgbClr val="FFFFFF"/>
                </a:solidFill>
                <a:latin typeface="Segoe UI"/>
              </a:rPr>
              <a:t>Vercel</a:t>
            </a:r>
            <a:endParaRPr sz="13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64808" y="2560320"/>
            <a:ext cx="47548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Build Vite (framework détecté explicitement dans vercel.json)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Déploiement automatique à chaque push sur la branche main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Variable VITE_API_URL pointant vers l'API Render de production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CDN global, aperçus de déploiement (preview) par branche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172200"/>
            <a:ext cx="10744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64748B"/>
                </a:solidFill>
                <a:latin typeface="Segoe UI"/>
              </a:rPr>
              <a:t>CI/CD : chaque push déclenche automatiquement un nouveau build backend et frontend — de la modification de code à la mise en production en quelques minutes.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6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Limites actuelles &amp; perspectives d'évolution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Segoe UI"/>
              </a:rPr>
              <a:t>Limites traitées pendant la préparation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40280"/>
            <a:ext cx="521208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Mobile Money (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CinetPay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) &amp; notifications push : déjà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opérationnels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de bout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en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bout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Bug critique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corrigé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sur le score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prédictif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+ calibration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empirique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outillée</a:t>
            </a:r>
            <a:endParaRPr sz="1200" dirty="0">
              <a:solidFill>
                <a:srgbClr val="334155"/>
              </a:solidFill>
              <a:latin typeface="Segoe U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Test de charge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réel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exécuté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(40 util.) — rate limiting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confirmé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latence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de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connexion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identifiée</a:t>
            </a:r>
            <a:endParaRPr sz="1200" dirty="0">
              <a:solidFill>
                <a:srgbClr val="334155"/>
              </a:solidFill>
              <a:latin typeface="Segoe U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Row-Level Security PostgreSQL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implémentée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et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testée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(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défense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en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profondeur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Notifications temps réel (WebSocket) implémentées ; accès aux fichiers uploadés corrigé en production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Segoe UI"/>
              </a:rPr>
              <a:t>Perspectives d'évolution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40280"/>
            <a:ext cx="521208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Court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recalibrer le modèle prédictif sur des données réelles de production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Moyen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architecture multi-tenant (note de conception rédigée), module RH &amp; paie, SCORM/xAPI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Long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BI avancée, API publique inter-établissements, IA dans le LMS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24128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TIRAHOU démontre qu'une équipe réduite peut concevoir un ERP universitaire complet, moderne et adapté au LMD africain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Architecture découplée REST validée : 19 modules, 525+ endpoints, 16/16 domaines fonctionnels couverts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Sécurité (RBAC 13 rôles, JWT, audit) et analytics prédictifs opérationnels dès la version 1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Trois surfaces cohérentes : web, PWA et application mobile native, sur une seule et même 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Solution déployée en production réelle (Render + Vercel), pas seulement en environnement de développement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5212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521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94A3B8"/>
                </a:solidFill>
                <a:latin typeface="Segoe UI"/>
              </a:rPr>
              <a:t>Questions 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Segoe UI Semibold"/>
              </a:rPr>
              <a:t>Modélisation UML complémentaire — diagrammes de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1900000"/>
            <a:ext cx="11183112" cy="3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Les diagrammes suivants documentent le modèle conceptuel de classes établi lors de la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phase de conception, avant l'implémentation — ils illustrent la démarche de modélisation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qui a précédé et structuré le développement de chaque module.</a:t>
            </a:r>
          </a:p>
          <a:p>
            <a:pPr>
              <a:spcAft>
                <a:spcPts val="1000"/>
              </a:spcAft>
            </a:pPr>
            <a:endParaRPr sz="1500" b="0">
              <a:solidFill>
                <a:srgbClr val="64748B"/>
              </a:solidFill>
              <a:latin typeface="Segoe UI"/>
            </a:endParaRP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1.  Diagramme de classes global — vue d'ensemble du domaine métier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2.  Identités &amp; sécurité — utilisateurs, rôles, permissions, sessions, audit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3.  Structure LMD — niveaux, semestres, UE, EC, crédits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4.  Évaluations — modèle polymorphe (examen, quiz, devoir, projet)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5.  Emploi du temps — créneaux, salles, réservations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Diagramme de classes — vue d'ensemble du domaine métier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83466" y="1300000"/>
            <a:ext cx="5822019" cy="51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iagramme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466" y="1400000"/>
            <a:ext cx="5622019" cy="49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Identités &amp; sécurité — utilisateurs, rôles, permissions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60096" y="1500000"/>
            <a:ext cx="7468760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3_Ident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696" y="1728600"/>
            <a:ext cx="7011560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Base du contrôle d'accès RBAC : Utilisateur, Compte, Role, Permission, SessionConnexion, JournalAudit.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Structure LMD — niveaux, semestres, UE, EC, crédits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76135" y="1500000"/>
            <a:ext cx="2836682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8_L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4735" y="1728600"/>
            <a:ext cx="2379482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Modélisation générique du système LMD, réutilisable pour tout programme Licence ou Master.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Évaluations — modèle polymorphe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30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16278" y="1500000"/>
            <a:ext cx="5156395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17_Eval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878" y="1728600"/>
            <a:ext cx="4699195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Une évaluation abstraite spécialisée en Examen, Quiz, Devoir ou Projet — extensible sans casser l'existant.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Emploi du temps — créneaux, salles, réservations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31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31177" y="1500000"/>
            <a:ext cx="3726597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24_EmploiTe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77" y="1728600"/>
            <a:ext cx="3269397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Structure support de la planification des séances et de la gestion des salles (présentiel/hybride).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3014</Words>
  <Application>Microsoft Office PowerPoint</Application>
  <PresentationFormat>Widescreen</PresentationFormat>
  <Paragraphs>444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Ali Bréhima Cissé</cp:lastModifiedBy>
  <cp:revision>6</cp:revision>
  <dcterms:created xsi:type="dcterms:W3CDTF">2013-01-27T09:14:16Z</dcterms:created>
  <dcterms:modified xsi:type="dcterms:W3CDTF">2026-07-21T22:40:14Z</dcterms:modified>
  <cp:category/>
</cp:coreProperties>
</file>