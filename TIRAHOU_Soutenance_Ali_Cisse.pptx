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8" r:id="rId13"/>
    <p:sldId id="289" r:id="rId14"/>
    <p:sldId id="283" r:id="rId15"/>
    <p:sldId id="287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80" r:id="rId29"/>
    <p:sldId id="279" r:id="rId30"/>
    <p:sldId id="281" r:id="rId31"/>
    <p:sldId id="290" r:id="rId32"/>
    <p:sldId id="282" r:id="rId33"/>
    <p:sldId id="284" r:id="rId34"/>
    <p:sldId id="285" r:id="rId35"/>
    <p:sldId id="286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858000" y="0"/>
            <a:ext cx="5486400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22960" y="777240"/>
            <a:ext cx="658368" cy="658368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8412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Segoe UI Semibold"/>
              </a:rPr>
              <a:t>TIRAHOU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15214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3C5FD"/>
                </a:solidFill>
                <a:latin typeface="Segoe UI"/>
              </a:rPr>
              <a:t>Plateforme Universitaire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468880"/>
            <a:ext cx="9339135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 i="0">
                <a:solidFill>
                  <a:srgbClr val="FFFFFF"/>
                </a:solidFill>
                <a:latin typeface="Segoe UI Semibold"/>
              </a:rPr>
              <a:t>TIRAHOU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429000"/>
            <a:ext cx="10058400" cy="35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fr-FR" sz="2000" dirty="0">
                <a:solidFill>
                  <a:schemeClr val="bg1"/>
                </a:solidFill>
              </a:rPr>
              <a:t>Conception et le Développement d’un Système Intégré de Gestion d’Université Virtuelle Hybride</a:t>
            </a:r>
            <a:endParaRPr sz="1900" b="0" i="0" dirty="0">
              <a:solidFill>
                <a:schemeClr val="bg1"/>
              </a:solidFill>
              <a:latin typeface="Segoe U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41247" y="4434840"/>
            <a:ext cx="2806925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Segoe UI"/>
              </a:rPr>
              <a:t>SOUTENANCE DE MEMOIRE DE MASTER</a:t>
            </a:r>
            <a:endParaRPr sz="11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248" y="5074920"/>
            <a:ext cx="5486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 i="0">
                <a:solidFill>
                  <a:srgbClr val="E2E8F0"/>
                </a:solidFill>
                <a:latin typeface="Segoe UI"/>
              </a:rPr>
              <a:t>Présenté par : Ali Brehima Cissé</a:t>
            </a:r>
          </a:p>
          <a:p>
            <a:pPr algn="l">
              <a:lnSpc>
                <a:spcPct val="150000"/>
              </a:lnSpc>
            </a:pPr>
            <a:r>
              <a:rPr sz="1350" b="0" i="0">
                <a:solidFill>
                  <a:srgbClr val="E2E8F0"/>
                </a:solidFill>
                <a:latin typeface="Segoe UI"/>
              </a:rPr>
              <a:t>Filière : Ingénierie Logiciel et Systèmes d'Information (ILSI) — Master 2</a:t>
            </a:r>
          </a:p>
          <a:p>
            <a:pPr algn="l">
              <a:lnSpc>
                <a:spcPct val="150000"/>
              </a:lnSpc>
            </a:pPr>
            <a:r>
              <a:rPr sz="1350" b="0" i="0">
                <a:solidFill>
                  <a:srgbClr val="E2E8F0"/>
                </a:solidFill>
                <a:latin typeface="Segoe UI"/>
              </a:rPr>
              <a:t>Encadreur : Dr Oumar Maïga</a:t>
            </a:r>
          </a:p>
          <a:p>
            <a:pPr algn="l">
              <a:lnSpc>
                <a:spcPct val="150000"/>
              </a:lnSpc>
            </a:pPr>
            <a:r>
              <a:rPr sz="1350" b="0" i="0">
                <a:solidFill>
                  <a:srgbClr val="E2E8F0"/>
                </a:solidFill>
                <a:latin typeface="Segoe UI"/>
              </a:rPr>
              <a:t>Année académique : 2025–2026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94A3B8"/>
                </a:solidFill>
                <a:latin typeface="Segoe UI"/>
              </a:rPr>
              <a:t>Soutenance publique — ITMA (Institut Africain de Technologie et de Management)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457652"/>
            <a:ext cx="1078992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 dirty="0">
                <a:solidFill>
                  <a:srgbClr val="0F172A"/>
                </a:solidFill>
                <a:latin typeface="Segoe UI Semibold"/>
              </a:rPr>
              <a:t>Plan de la </a:t>
            </a:r>
            <a:r>
              <a:rPr sz="4400" b="1" i="0" dirty="0" err="1">
                <a:solidFill>
                  <a:srgbClr val="0F172A"/>
                </a:solidFill>
                <a:latin typeface="Segoe UI Semibold"/>
              </a:rPr>
              <a:t>présentation</a:t>
            </a:r>
            <a:endParaRPr sz="4400" b="1" i="0" dirty="0">
              <a:solidFill>
                <a:srgbClr val="0F172A"/>
              </a:solidFill>
              <a:latin typeface="Segoe UI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" y="1874519"/>
            <a:ext cx="35204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7247" y="2255519"/>
            <a:ext cx="3078785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>
                <a:latin typeface="Segoe UI Semibold"/>
              </a:rPr>
              <a:t>1</a:t>
            </a:r>
            <a:r>
              <a:rPr lang="en-US" sz="2600" b="1" i="0" dirty="0">
                <a:latin typeface="Segoe UI Semibold"/>
              </a:rPr>
              <a:t> </a:t>
            </a:r>
            <a:r>
              <a:rPr lang="en-US" sz="2000" b="1" i="0" dirty="0">
                <a:latin typeface="Segoe UI Semibold"/>
              </a:rPr>
              <a:t>Introduction</a:t>
            </a:r>
            <a:endParaRPr sz="2000" b="1" i="0" dirty="0">
              <a:latin typeface="Segoe UI Semibold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43400" y="1874519"/>
            <a:ext cx="35204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55312" y="2350397"/>
            <a:ext cx="109728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2680" y="2276465"/>
            <a:ext cx="311404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0F172A"/>
                </a:solidFill>
                <a:latin typeface="Segoe UI"/>
              </a:rPr>
              <a:t>Méthodologie</a:t>
            </a:r>
            <a:r>
              <a:rPr sz="2000" b="1" i="0" dirty="0">
                <a:solidFill>
                  <a:srgbClr val="0F172A"/>
                </a:solidFill>
                <a:latin typeface="Segoe UI"/>
              </a:rPr>
              <a:t> &amp; </a:t>
            </a:r>
            <a:r>
              <a:rPr sz="2000" b="1" i="0" dirty="0" err="1">
                <a:solidFill>
                  <a:srgbClr val="0F172A"/>
                </a:solidFill>
                <a:latin typeface="Segoe UI"/>
              </a:rPr>
              <a:t>état</a:t>
            </a:r>
            <a:r>
              <a:rPr sz="2000" b="1" i="0" dirty="0">
                <a:solidFill>
                  <a:srgbClr val="0F172A"/>
                </a:solidFill>
                <a:latin typeface="Segoe UI"/>
              </a:rPr>
              <a:t> de </a:t>
            </a:r>
            <a:r>
              <a:rPr sz="2000" b="1" i="0" dirty="0" err="1">
                <a:solidFill>
                  <a:srgbClr val="0F172A"/>
                </a:solidFill>
                <a:latin typeface="Segoe UI"/>
              </a:rPr>
              <a:t>l'art</a:t>
            </a:r>
            <a:endParaRPr sz="2000" b="1" i="0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046720" y="1874519"/>
            <a:ext cx="35204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2276465"/>
            <a:ext cx="109728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>
                <a:latin typeface="Segoe UI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1992" y="2188170"/>
            <a:ext cx="311404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>
                <a:solidFill>
                  <a:srgbClr val="0F172A"/>
                </a:solidFill>
                <a:latin typeface="Segoe UI"/>
              </a:rPr>
              <a:t>Conception : </a:t>
            </a:r>
            <a:r>
              <a:rPr sz="2000" b="1" i="0" dirty="0" err="1">
                <a:solidFill>
                  <a:srgbClr val="0F172A"/>
                </a:solidFill>
                <a:latin typeface="Segoe UI"/>
              </a:rPr>
              <a:t>acteurs</a:t>
            </a:r>
            <a:r>
              <a:rPr sz="2000" b="1" i="0" dirty="0">
                <a:solidFill>
                  <a:srgbClr val="0F172A"/>
                </a:solidFill>
                <a:latin typeface="Segoe UI"/>
              </a:rPr>
              <a:t>, UML, architecture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291839"/>
            <a:ext cx="35204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3280" y="3706439"/>
            <a:ext cx="109728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>
                <a:latin typeface="Segoe UI Semibol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8748" y="3604036"/>
            <a:ext cx="311404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0F172A"/>
                </a:solidFill>
                <a:latin typeface="Segoe UI"/>
              </a:rPr>
              <a:t>Sécurité</a:t>
            </a:r>
            <a:r>
              <a:rPr sz="2000" b="1" i="0" dirty="0">
                <a:solidFill>
                  <a:srgbClr val="0F172A"/>
                </a:solidFill>
                <a:latin typeface="Segoe UI"/>
              </a:rPr>
              <a:t> &amp; </a:t>
            </a:r>
            <a:r>
              <a:rPr sz="2000" b="1" i="0" dirty="0" err="1">
                <a:solidFill>
                  <a:srgbClr val="0F172A"/>
                </a:solidFill>
                <a:latin typeface="Segoe UI"/>
              </a:rPr>
              <a:t>choix</a:t>
            </a:r>
            <a:r>
              <a:rPr sz="2000" b="1" i="0" dirty="0">
                <a:solidFill>
                  <a:srgbClr val="0F172A"/>
                </a:solidFill>
                <a:latin typeface="Segoe UI"/>
              </a:rPr>
              <a:t> </a:t>
            </a:r>
            <a:r>
              <a:rPr sz="2000" b="1" i="0" dirty="0" err="1">
                <a:solidFill>
                  <a:srgbClr val="0F172A"/>
                </a:solidFill>
                <a:latin typeface="Segoe UI"/>
              </a:rPr>
              <a:t>technologiques</a:t>
            </a:r>
            <a:endParaRPr sz="2000" b="1" i="0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343400" y="3291839"/>
            <a:ext cx="35204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22394" y="3667374"/>
            <a:ext cx="109728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>
                <a:latin typeface="Segoe UI Semibold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8256" y="3624554"/>
            <a:ext cx="331724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0F172A"/>
                </a:solidFill>
                <a:latin typeface="Segoe UI"/>
              </a:rPr>
              <a:t>Réalisation</a:t>
            </a:r>
            <a:r>
              <a:rPr sz="2000" b="1" i="0" dirty="0">
                <a:solidFill>
                  <a:srgbClr val="0F172A"/>
                </a:solidFill>
                <a:latin typeface="Segoe UI"/>
              </a:rPr>
              <a:t> : modules &amp; interfaces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291839"/>
            <a:ext cx="35204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72324" y="3686144"/>
            <a:ext cx="109728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>
                <a:latin typeface="Segoe UI Semibold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65388" y="3706439"/>
            <a:ext cx="31140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>
                <a:solidFill>
                  <a:srgbClr val="0F172A"/>
                </a:solidFill>
                <a:latin typeface="Segoe UI"/>
              </a:rPr>
              <a:t>Application mobile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709159"/>
            <a:ext cx="35204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0108" y="5064419"/>
            <a:ext cx="109728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>
                <a:latin typeface="Segoe UI Semibold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49680" y="5022810"/>
            <a:ext cx="311404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>
                <a:solidFill>
                  <a:srgbClr val="0F172A"/>
                </a:solidFill>
                <a:latin typeface="Segoe UI"/>
              </a:rPr>
              <a:t>Tests, validation &amp; </a:t>
            </a:r>
            <a:r>
              <a:rPr sz="2000" b="1" i="0" dirty="0" err="1">
                <a:solidFill>
                  <a:srgbClr val="0F172A"/>
                </a:solidFill>
                <a:latin typeface="Segoe UI"/>
              </a:rPr>
              <a:t>résultats</a:t>
            </a:r>
            <a:endParaRPr sz="2000" b="1" i="0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343400" y="4685407"/>
            <a:ext cx="35204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60494" y="5144905"/>
            <a:ext cx="109728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>
                <a:latin typeface="Segoe UI Semibold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9454" y="4976708"/>
            <a:ext cx="311404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0F172A"/>
                </a:solidFill>
                <a:latin typeface="Segoe UI"/>
              </a:rPr>
              <a:t>Déploiement</a:t>
            </a:r>
            <a:r>
              <a:rPr sz="2000" b="1" i="0" dirty="0">
                <a:solidFill>
                  <a:srgbClr val="0F172A"/>
                </a:solidFill>
                <a:latin typeface="Segoe UI"/>
              </a:rPr>
              <a:t> </a:t>
            </a:r>
            <a:r>
              <a:rPr sz="2000" b="1" i="0" dirty="0" err="1">
                <a:solidFill>
                  <a:srgbClr val="0F172A"/>
                </a:solidFill>
                <a:latin typeface="Segoe UI"/>
              </a:rPr>
              <a:t>en</a:t>
            </a:r>
            <a:r>
              <a:rPr sz="2000" b="1" i="0" dirty="0">
                <a:solidFill>
                  <a:srgbClr val="0F172A"/>
                </a:solidFill>
                <a:latin typeface="Segoe UI"/>
              </a:rPr>
              <a:t> production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4709159"/>
            <a:ext cx="35204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8243494" y="5084545"/>
            <a:ext cx="109728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>
                <a:latin typeface="Segoe UI Semibold"/>
              </a:rP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6508" y="4957840"/>
            <a:ext cx="311404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1" i="0" dirty="0">
                <a:solidFill>
                  <a:srgbClr val="0F172A"/>
                </a:solidFill>
                <a:latin typeface="Segoe UI"/>
              </a:rPr>
              <a:t>CONCLUSION ET PERSPECTIVES</a:t>
            </a:r>
            <a:endParaRPr sz="2000" b="1" i="0" dirty="0">
              <a:solidFill>
                <a:srgbClr val="0F172A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10741"/>
            <a:ext cx="1028700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 err="1">
                <a:solidFill>
                  <a:srgbClr val="0F172A"/>
                </a:solidFill>
                <a:latin typeface="Segoe UI Semibold"/>
              </a:rPr>
              <a:t>Contexte</a:t>
            </a:r>
            <a:r>
              <a:rPr sz="4000" b="1" i="0" dirty="0">
                <a:solidFill>
                  <a:srgbClr val="0F172A"/>
                </a:solidFill>
                <a:latin typeface="Segoe UI Semibold"/>
              </a:rPr>
              <a:t> : </a:t>
            </a:r>
            <a:r>
              <a:rPr sz="4000" b="1" i="0" dirty="0" err="1">
                <a:solidFill>
                  <a:srgbClr val="0F172A"/>
                </a:solidFill>
                <a:latin typeface="Segoe UI Semibold"/>
              </a:rPr>
              <a:t>une</a:t>
            </a:r>
            <a:r>
              <a:rPr sz="4000" b="1" i="0" dirty="0">
                <a:solidFill>
                  <a:srgbClr val="0F172A"/>
                </a:solidFill>
                <a:latin typeface="Segoe UI Semibold"/>
              </a:rPr>
              <a:t> gestion </a:t>
            </a:r>
            <a:r>
              <a:rPr sz="4000" b="1" i="0" dirty="0" err="1">
                <a:solidFill>
                  <a:srgbClr val="0F172A"/>
                </a:solidFill>
                <a:latin typeface="Segoe UI Semibold"/>
              </a:rPr>
              <a:t>universitaire</a:t>
            </a:r>
            <a:r>
              <a:rPr sz="4000" b="1" i="0" dirty="0">
                <a:solidFill>
                  <a:srgbClr val="0F172A"/>
                </a:solidFill>
                <a:latin typeface="Segoe UI Semibold"/>
              </a:rPr>
              <a:t> </a:t>
            </a:r>
            <a:r>
              <a:rPr sz="4000" b="1" i="0" dirty="0" err="1">
                <a:solidFill>
                  <a:srgbClr val="0F172A"/>
                </a:solidFill>
                <a:latin typeface="Segoe UI Semibold"/>
              </a:rPr>
              <a:t>fragmentée</a:t>
            </a:r>
            <a:endParaRPr sz="4000" b="1" i="0" dirty="0">
              <a:solidFill>
                <a:srgbClr val="0F172A"/>
              </a:solidFill>
              <a:latin typeface="Segoe UI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97280" y="1890074"/>
            <a:ext cx="612648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dirty="0">
                <a:solidFill>
                  <a:srgbClr val="2563EB"/>
                </a:solidFill>
                <a:latin typeface="Segoe UI"/>
              </a:rPr>
              <a:t>●  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Adoption du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système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LMD </a:t>
            </a:r>
            <a:r>
              <a:rPr sz="1500" dirty="0">
                <a:solidFill>
                  <a:srgbClr val="334155"/>
                </a:solidFill>
                <a:latin typeface="Segoe UI"/>
              </a:rPr>
              <a:t>→ </a:t>
            </a:r>
            <a:r>
              <a:rPr sz="1500" dirty="0" err="1">
                <a:solidFill>
                  <a:srgbClr val="334155"/>
                </a:solidFill>
                <a:latin typeface="Segoe UI"/>
              </a:rPr>
              <a:t>organisation</a:t>
            </a:r>
            <a:r>
              <a:rPr sz="15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334155"/>
                </a:solidFill>
                <a:latin typeface="Segoe UI"/>
              </a:rPr>
              <a:t>semestrielle</a:t>
            </a:r>
            <a:r>
              <a:rPr sz="1500" dirty="0">
                <a:solidFill>
                  <a:srgbClr val="334155"/>
                </a:solidFill>
                <a:latin typeface="Segoe UI"/>
              </a:rPr>
              <a:t>, UE/EC, </a:t>
            </a:r>
            <a:r>
              <a:rPr sz="1500" dirty="0" err="1">
                <a:solidFill>
                  <a:srgbClr val="334155"/>
                </a:solidFill>
                <a:latin typeface="Segoe UI"/>
              </a:rPr>
              <a:t>crédits</a:t>
            </a:r>
            <a:r>
              <a:rPr sz="1500" dirty="0">
                <a:solidFill>
                  <a:srgbClr val="334155"/>
                </a:solidFill>
                <a:latin typeface="Segoe UI"/>
              </a:rPr>
              <a:t>, compensation, </a:t>
            </a:r>
            <a:r>
              <a:rPr sz="1500" dirty="0" err="1">
                <a:solidFill>
                  <a:srgbClr val="334155"/>
                </a:solidFill>
                <a:latin typeface="Segoe UI"/>
              </a:rPr>
              <a:t>jurys</a:t>
            </a:r>
            <a:r>
              <a:rPr sz="1500" dirty="0">
                <a:solidFill>
                  <a:srgbClr val="334155"/>
                </a:solidFill>
                <a:latin typeface="Segoe UI"/>
              </a:rPr>
              <a:t> : </a:t>
            </a:r>
            <a:r>
              <a:rPr sz="1500" dirty="0" err="1">
                <a:solidFill>
                  <a:srgbClr val="334155"/>
                </a:solidFill>
                <a:latin typeface="Segoe UI"/>
              </a:rPr>
              <a:t>une</a:t>
            </a:r>
            <a:r>
              <a:rPr sz="15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334155"/>
                </a:solidFill>
                <a:latin typeface="Segoe UI"/>
              </a:rPr>
              <a:t>complexité</a:t>
            </a:r>
            <a:r>
              <a:rPr sz="1500" dirty="0">
                <a:solidFill>
                  <a:srgbClr val="334155"/>
                </a:solidFill>
                <a:latin typeface="Segoe UI"/>
              </a:rPr>
              <a:t> que les </a:t>
            </a:r>
            <a:r>
              <a:rPr sz="1500" dirty="0" err="1">
                <a:solidFill>
                  <a:srgbClr val="334155"/>
                </a:solidFill>
                <a:latin typeface="Segoe UI"/>
              </a:rPr>
              <a:t>outils</a:t>
            </a:r>
            <a:r>
              <a:rPr sz="15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334155"/>
                </a:solidFill>
                <a:latin typeface="Segoe UI"/>
              </a:rPr>
              <a:t>existants</a:t>
            </a:r>
            <a:r>
              <a:rPr sz="1500" dirty="0">
                <a:solidFill>
                  <a:srgbClr val="334155"/>
                </a:solidFill>
                <a:latin typeface="Segoe UI"/>
              </a:rPr>
              <a:t> ne </a:t>
            </a:r>
            <a:r>
              <a:rPr sz="1500" dirty="0" err="1">
                <a:solidFill>
                  <a:srgbClr val="334155"/>
                </a:solidFill>
                <a:latin typeface="Segoe UI"/>
              </a:rPr>
              <a:t>couvrent</a:t>
            </a:r>
            <a:r>
              <a:rPr sz="1500" dirty="0">
                <a:solidFill>
                  <a:srgbClr val="334155"/>
                </a:solidFill>
                <a:latin typeface="Segoe UI"/>
              </a:rPr>
              <a:t> plus.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dirty="0">
                <a:solidFill>
                  <a:srgbClr val="2563EB"/>
                </a:solidFill>
                <a:latin typeface="Segoe UI"/>
              </a:rPr>
              <a:t>● 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Croissance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des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effectifs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</a:t>
            </a:r>
            <a:r>
              <a:rPr sz="1500" dirty="0">
                <a:solidFill>
                  <a:srgbClr val="334155"/>
                </a:solidFill>
                <a:latin typeface="Segoe UI"/>
              </a:rPr>
              <a:t>→ </a:t>
            </a:r>
            <a:r>
              <a:rPr sz="1500" dirty="0" err="1">
                <a:solidFill>
                  <a:srgbClr val="334155"/>
                </a:solidFill>
                <a:latin typeface="Segoe UI"/>
              </a:rPr>
              <a:t>plusieurs</a:t>
            </a:r>
            <a:r>
              <a:rPr sz="15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334155"/>
                </a:solidFill>
                <a:latin typeface="Segoe UI"/>
              </a:rPr>
              <a:t>centaines</a:t>
            </a:r>
            <a:r>
              <a:rPr sz="1500" dirty="0">
                <a:solidFill>
                  <a:srgbClr val="334155"/>
                </a:solidFill>
                <a:latin typeface="Segoe UI"/>
              </a:rPr>
              <a:t> de </a:t>
            </a:r>
            <a:r>
              <a:rPr sz="1500" dirty="0" err="1">
                <a:solidFill>
                  <a:srgbClr val="334155"/>
                </a:solidFill>
                <a:latin typeface="Segoe UI"/>
              </a:rPr>
              <a:t>milliers</a:t>
            </a:r>
            <a:r>
              <a:rPr sz="15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334155"/>
                </a:solidFill>
                <a:latin typeface="Segoe UI"/>
              </a:rPr>
              <a:t>d'étudiants</a:t>
            </a:r>
            <a:r>
              <a:rPr sz="1500" dirty="0">
                <a:solidFill>
                  <a:srgbClr val="334155"/>
                </a:solidFill>
                <a:latin typeface="Segoe UI"/>
              </a:rPr>
              <a:t> dans les </a:t>
            </a:r>
            <a:r>
              <a:rPr sz="1500" dirty="0" err="1">
                <a:solidFill>
                  <a:srgbClr val="334155"/>
                </a:solidFill>
                <a:latin typeface="Segoe UI"/>
              </a:rPr>
              <a:t>établissements</a:t>
            </a:r>
            <a:r>
              <a:rPr sz="15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334155"/>
                </a:solidFill>
                <a:latin typeface="Segoe UI"/>
              </a:rPr>
              <a:t>ivoiriens</a:t>
            </a:r>
            <a:r>
              <a:rPr sz="1500" dirty="0">
                <a:solidFill>
                  <a:srgbClr val="334155"/>
                </a:solidFill>
                <a:latin typeface="Segoe UI"/>
              </a:rPr>
              <a:t>, services de </a:t>
            </a:r>
            <a:r>
              <a:rPr sz="1500" dirty="0" err="1">
                <a:solidFill>
                  <a:srgbClr val="334155"/>
                </a:solidFill>
                <a:latin typeface="Segoe UI"/>
              </a:rPr>
              <a:t>scolarité</a:t>
            </a:r>
            <a:r>
              <a:rPr sz="1500" dirty="0">
                <a:solidFill>
                  <a:srgbClr val="334155"/>
                </a:solidFill>
                <a:latin typeface="Segoe UI"/>
              </a:rPr>
              <a:t> sous pression.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dirty="0">
                <a:solidFill>
                  <a:srgbClr val="2563EB"/>
                </a:solidFill>
                <a:latin typeface="Segoe UI"/>
              </a:rPr>
              <a:t>●  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Fragmentation des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outils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</a:t>
            </a:r>
            <a:r>
              <a:rPr sz="1500" dirty="0">
                <a:solidFill>
                  <a:srgbClr val="334155"/>
                </a:solidFill>
                <a:latin typeface="Segoe UI"/>
              </a:rPr>
              <a:t>→ inscriptions sur Excel, notes sur Word, </a:t>
            </a:r>
            <a:r>
              <a:rPr sz="1500" dirty="0" err="1">
                <a:solidFill>
                  <a:srgbClr val="334155"/>
                </a:solidFill>
                <a:latin typeface="Segoe UI"/>
              </a:rPr>
              <a:t>comptabilité</a:t>
            </a:r>
            <a:r>
              <a:rPr sz="15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334155"/>
                </a:solidFill>
                <a:latin typeface="Segoe UI"/>
              </a:rPr>
              <a:t>déconnectée</a:t>
            </a:r>
            <a:r>
              <a:rPr sz="1500" dirty="0">
                <a:solidFill>
                  <a:srgbClr val="334155"/>
                </a:solidFill>
                <a:latin typeface="Segoe UI"/>
              </a:rPr>
              <a:t>, </a:t>
            </a:r>
            <a:r>
              <a:rPr sz="1500" dirty="0" err="1">
                <a:solidFill>
                  <a:srgbClr val="334155"/>
                </a:solidFill>
                <a:latin typeface="Segoe UI"/>
              </a:rPr>
              <a:t>suivi</a:t>
            </a:r>
            <a:r>
              <a:rPr sz="15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334155"/>
                </a:solidFill>
                <a:latin typeface="Segoe UI"/>
              </a:rPr>
              <a:t>pédagogique</a:t>
            </a:r>
            <a:r>
              <a:rPr sz="1500" dirty="0">
                <a:solidFill>
                  <a:srgbClr val="334155"/>
                </a:solidFill>
                <a:latin typeface="Segoe UI"/>
              </a:rPr>
              <a:t> encore </a:t>
            </a:r>
            <a:r>
              <a:rPr sz="1500" dirty="0" err="1">
                <a:solidFill>
                  <a:srgbClr val="334155"/>
                </a:solidFill>
                <a:latin typeface="Segoe UI"/>
              </a:rPr>
              <a:t>largement</a:t>
            </a:r>
            <a:r>
              <a:rPr sz="1500" dirty="0">
                <a:solidFill>
                  <a:srgbClr val="334155"/>
                </a:solidFill>
                <a:latin typeface="Segoe UI"/>
              </a:rPr>
              <a:t> papier.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dirty="0">
                <a:solidFill>
                  <a:srgbClr val="2563EB"/>
                </a:solidFill>
                <a:latin typeface="Segoe UI"/>
              </a:rPr>
              <a:t>● 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Conséquences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</a:t>
            </a:r>
            <a:r>
              <a:rPr sz="1500" dirty="0">
                <a:solidFill>
                  <a:srgbClr val="334155"/>
                </a:solidFill>
                <a:latin typeface="Segoe UI"/>
              </a:rPr>
              <a:t>→ </a:t>
            </a:r>
            <a:r>
              <a:rPr sz="1500" dirty="0" err="1">
                <a:solidFill>
                  <a:srgbClr val="334155"/>
                </a:solidFill>
                <a:latin typeface="Segoe UI"/>
              </a:rPr>
              <a:t>délais</a:t>
            </a:r>
            <a:r>
              <a:rPr sz="1500" dirty="0">
                <a:solidFill>
                  <a:srgbClr val="334155"/>
                </a:solidFill>
                <a:latin typeface="Segoe UI"/>
              </a:rPr>
              <a:t> de </a:t>
            </a:r>
            <a:r>
              <a:rPr sz="1500" dirty="0" err="1">
                <a:solidFill>
                  <a:srgbClr val="334155"/>
                </a:solidFill>
                <a:latin typeface="Segoe UI"/>
              </a:rPr>
              <a:t>traitement</a:t>
            </a:r>
            <a:r>
              <a:rPr sz="1500" dirty="0">
                <a:solidFill>
                  <a:srgbClr val="334155"/>
                </a:solidFill>
                <a:latin typeface="Segoe UI"/>
              </a:rPr>
              <a:t>, </a:t>
            </a:r>
            <a:r>
              <a:rPr sz="1500" dirty="0" err="1">
                <a:solidFill>
                  <a:srgbClr val="334155"/>
                </a:solidFill>
                <a:latin typeface="Segoe UI"/>
              </a:rPr>
              <a:t>erreurs</a:t>
            </a:r>
            <a:r>
              <a:rPr sz="1500" dirty="0">
                <a:solidFill>
                  <a:srgbClr val="334155"/>
                </a:solidFill>
                <a:latin typeface="Segoe UI"/>
              </a:rPr>
              <a:t> de </a:t>
            </a:r>
            <a:r>
              <a:rPr sz="1500" dirty="0" err="1">
                <a:solidFill>
                  <a:srgbClr val="334155"/>
                </a:solidFill>
                <a:latin typeface="Segoe UI"/>
              </a:rPr>
              <a:t>calcul</a:t>
            </a:r>
            <a:r>
              <a:rPr sz="1500" dirty="0">
                <a:solidFill>
                  <a:srgbClr val="334155"/>
                </a:solidFill>
                <a:latin typeface="Segoe UI"/>
              </a:rPr>
              <a:t> de </a:t>
            </a:r>
            <a:r>
              <a:rPr sz="1500" dirty="0" err="1">
                <a:solidFill>
                  <a:srgbClr val="334155"/>
                </a:solidFill>
                <a:latin typeface="Segoe UI"/>
              </a:rPr>
              <a:t>moyennes</a:t>
            </a:r>
            <a:r>
              <a:rPr sz="1500" dirty="0">
                <a:solidFill>
                  <a:srgbClr val="334155"/>
                </a:solidFill>
                <a:latin typeface="Segoe UI"/>
              </a:rPr>
              <a:t>/</a:t>
            </a:r>
            <a:r>
              <a:rPr sz="1500" dirty="0" err="1">
                <a:solidFill>
                  <a:srgbClr val="334155"/>
                </a:solidFill>
                <a:latin typeface="Segoe UI"/>
              </a:rPr>
              <a:t>crédits</a:t>
            </a:r>
            <a:r>
              <a:rPr sz="1500" dirty="0">
                <a:solidFill>
                  <a:srgbClr val="334155"/>
                </a:solidFill>
                <a:latin typeface="Segoe UI"/>
              </a:rPr>
              <a:t>, absence de </a:t>
            </a:r>
            <a:r>
              <a:rPr sz="1500" dirty="0" err="1">
                <a:solidFill>
                  <a:srgbClr val="334155"/>
                </a:solidFill>
                <a:latin typeface="Segoe UI"/>
              </a:rPr>
              <a:t>traçabilité</a:t>
            </a:r>
            <a:r>
              <a:rPr sz="1500" dirty="0">
                <a:solidFill>
                  <a:srgbClr val="334155"/>
                </a:solidFill>
                <a:latin typeface="Segoe UI"/>
              </a:rPr>
              <a:t>, </a:t>
            </a:r>
            <a:r>
              <a:rPr sz="1500" dirty="0" err="1">
                <a:solidFill>
                  <a:srgbClr val="334155"/>
                </a:solidFill>
                <a:latin typeface="Segoe UI"/>
              </a:rPr>
              <a:t>statistiques</a:t>
            </a:r>
            <a:r>
              <a:rPr sz="15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334155"/>
                </a:solidFill>
                <a:latin typeface="Segoe UI"/>
              </a:rPr>
              <a:t>institutionnelles</a:t>
            </a:r>
            <a:r>
              <a:rPr sz="15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334155"/>
                </a:solidFill>
                <a:latin typeface="Segoe UI"/>
              </a:rPr>
              <a:t>peu</a:t>
            </a:r>
            <a:r>
              <a:rPr sz="15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334155"/>
                </a:solidFill>
                <a:latin typeface="Segoe UI"/>
              </a:rPr>
              <a:t>fiables</a:t>
            </a:r>
            <a:r>
              <a:rPr sz="1500" dirty="0">
                <a:solidFill>
                  <a:srgbClr val="334155"/>
                </a:solidFill>
                <a:latin typeface="Segoe U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1828800"/>
            <a:ext cx="420624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79" y="21031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Segoe UI"/>
              </a:rPr>
              <a:t>Réalité opérationnelle observée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560320"/>
            <a:ext cx="365760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00">
                <a:solidFill>
                  <a:srgbClr val="D97706"/>
                </a:solidFill>
                <a:latin typeface="Segoe UI"/>
              </a:rPr>
              <a:t>●  </a:t>
            </a:r>
            <a:r>
              <a:rPr sz="1300">
                <a:solidFill>
                  <a:srgbClr val="334155"/>
                </a:solidFill>
                <a:latin typeface="Segoe UI"/>
              </a:rPr>
              <a:t>Fichiers Excel/Word non synchronisés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00">
                <a:solidFill>
                  <a:srgbClr val="D97706"/>
                </a:solidFill>
                <a:latin typeface="Segoe UI"/>
              </a:rPr>
              <a:t>●  </a:t>
            </a:r>
            <a:r>
              <a:rPr sz="1300">
                <a:solidFill>
                  <a:srgbClr val="334155"/>
                </a:solidFill>
                <a:latin typeface="Segoe UI"/>
              </a:rPr>
              <a:t>Files d'attente aux guichets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00">
                <a:solidFill>
                  <a:srgbClr val="D97706"/>
                </a:solidFill>
                <a:latin typeface="Segoe UI"/>
              </a:rPr>
              <a:t>●  </a:t>
            </a:r>
            <a:r>
              <a:rPr sz="1300">
                <a:solidFill>
                  <a:srgbClr val="334155"/>
                </a:solidFill>
                <a:latin typeface="Segoe UI"/>
              </a:rPr>
              <a:t>Aucun croisement données académiques ↔ financières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00">
                <a:solidFill>
                  <a:srgbClr val="D97706"/>
                </a:solidFill>
                <a:latin typeface="Segoe UI"/>
              </a:rPr>
              <a:t>●  </a:t>
            </a:r>
            <a:r>
              <a:rPr sz="1300">
                <a:solidFill>
                  <a:srgbClr val="334155"/>
                </a:solidFill>
                <a:latin typeface="Segoe UI"/>
              </a:rPr>
              <a:t>Communication étudiants quasi exclusivement papier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9779" y="638071"/>
            <a:ext cx="1078992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 err="1">
                <a:solidFill>
                  <a:srgbClr val="0F172A"/>
                </a:solidFill>
                <a:latin typeface="Segoe UI Semibold"/>
              </a:rPr>
              <a:t>Problémati</a:t>
            </a:r>
            <a:r>
              <a:rPr lang="en-US" sz="4000" b="1" i="0" dirty="0" err="1">
                <a:solidFill>
                  <a:srgbClr val="0F172A"/>
                </a:solidFill>
                <a:latin typeface="Segoe UI Semibold"/>
              </a:rPr>
              <a:t>q</a:t>
            </a:r>
            <a:r>
              <a:rPr sz="4000" b="1" i="0" dirty="0" err="1">
                <a:solidFill>
                  <a:srgbClr val="0F172A"/>
                </a:solidFill>
                <a:latin typeface="Segoe UI Semibold"/>
              </a:rPr>
              <a:t>ue</a:t>
            </a:r>
            <a:endParaRPr sz="4000" b="1" i="0" dirty="0">
              <a:solidFill>
                <a:srgbClr val="0F172A"/>
              </a:solidFill>
              <a:latin typeface="Segoe UI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13232" y="1874519"/>
            <a:ext cx="10744200" cy="13716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029968"/>
            <a:ext cx="10241280" cy="837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 dirty="0">
                <a:solidFill>
                  <a:srgbClr val="0F172A"/>
                </a:solidFill>
                <a:latin typeface="Segoe UI"/>
              </a:rPr>
              <a:t>« Comment </a:t>
            </a:r>
            <a:r>
              <a:rPr sz="1500" b="0" i="1" dirty="0" err="1">
                <a:solidFill>
                  <a:srgbClr val="0F172A"/>
                </a:solidFill>
                <a:latin typeface="Segoe UI"/>
              </a:rPr>
              <a:t>concevoir</a:t>
            </a:r>
            <a:r>
              <a:rPr sz="1500" b="0" i="1" dirty="0">
                <a:solidFill>
                  <a:srgbClr val="0F172A"/>
                </a:solidFill>
                <a:latin typeface="Segoe UI"/>
              </a:rPr>
              <a:t> et </a:t>
            </a:r>
            <a:r>
              <a:rPr sz="1500" b="0" i="1" dirty="0" err="1">
                <a:solidFill>
                  <a:srgbClr val="0F172A"/>
                </a:solidFill>
                <a:latin typeface="Segoe UI"/>
              </a:rPr>
              <a:t>développer</a:t>
            </a:r>
            <a:r>
              <a:rPr sz="1500" b="0" i="1" dirty="0">
                <a:solidFill>
                  <a:srgbClr val="0F172A"/>
                </a:solidFill>
                <a:latin typeface="Segoe UI"/>
              </a:rPr>
              <a:t> un </a:t>
            </a:r>
            <a:r>
              <a:rPr sz="1500" b="0" i="1" dirty="0" err="1">
                <a:solidFill>
                  <a:srgbClr val="0F172A"/>
                </a:solidFill>
                <a:latin typeface="Segoe UI"/>
              </a:rPr>
              <a:t>système</a:t>
            </a:r>
            <a:r>
              <a:rPr sz="1500" b="0" i="1" dirty="0">
                <a:solidFill>
                  <a:srgbClr val="0F172A"/>
                </a:solidFill>
                <a:latin typeface="Segoe UI"/>
              </a:rPr>
              <a:t> </a:t>
            </a:r>
            <a:r>
              <a:rPr sz="1500" b="0" i="1" dirty="0" err="1">
                <a:solidFill>
                  <a:srgbClr val="0F172A"/>
                </a:solidFill>
                <a:latin typeface="Segoe UI"/>
              </a:rPr>
              <a:t>d'information</a:t>
            </a:r>
            <a:r>
              <a:rPr sz="1500" b="0" i="1" dirty="0">
                <a:solidFill>
                  <a:srgbClr val="0F172A"/>
                </a:solidFill>
                <a:latin typeface="Segoe UI"/>
              </a:rPr>
              <a:t> </a:t>
            </a:r>
            <a:r>
              <a:rPr sz="1500" b="0" i="1" dirty="0" err="1">
                <a:solidFill>
                  <a:srgbClr val="0F172A"/>
                </a:solidFill>
                <a:latin typeface="Segoe UI"/>
              </a:rPr>
              <a:t>universitaire</a:t>
            </a:r>
            <a:r>
              <a:rPr sz="1500" b="0" i="1" dirty="0">
                <a:solidFill>
                  <a:srgbClr val="0F172A"/>
                </a:solidFill>
                <a:latin typeface="Segoe UI"/>
              </a:rPr>
              <a:t> </a:t>
            </a:r>
            <a:r>
              <a:rPr sz="1500" b="0" i="1" dirty="0" err="1">
                <a:solidFill>
                  <a:srgbClr val="0F172A"/>
                </a:solidFill>
                <a:latin typeface="Segoe UI"/>
              </a:rPr>
              <a:t>intégré</a:t>
            </a:r>
            <a:r>
              <a:rPr sz="1500" b="0" i="1" dirty="0">
                <a:solidFill>
                  <a:srgbClr val="0F172A"/>
                </a:solidFill>
                <a:latin typeface="Segoe UI"/>
              </a:rPr>
              <a:t>, capable de </a:t>
            </a:r>
            <a:r>
              <a:rPr sz="1500" b="0" i="1" dirty="0" err="1">
                <a:solidFill>
                  <a:srgbClr val="0F172A"/>
                </a:solidFill>
                <a:latin typeface="Segoe UI"/>
              </a:rPr>
              <a:t>couvrir</a:t>
            </a:r>
            <a:r>
              <a:rPr sz="1500" b="0" i="1" dirty="0">
                <a:solidFill>
                  <a:srgbClr val="0F172A"/>
                </a:solidFill>
                <a:latin typeface="Segoe UI"/>
              </a:rPr>
              <a:t> </a:t>
            </a:r>
            <a:r>
              <a:rPr sz="1500" b="0" i="1" dirty="0" err="1">
                <a:solidFill>
                  <a:srgbClr val="0F172A"/>
                </a:solidFill>
                <a:latin typeface="Segoe UI"/>
              </a:rPr>
              <a:t>l'ensemble</a:t>
            </a:r>
            <a:r>
              <a:rPr sz="1500" b="0" i="1" dirty="0">
                <a:solidFill>
                  <a:srgbClr val="0F172A"/>
                </a:solidFill>
                <a:latin typeface="Segoe UI"/>
              </a:rPr>
              <a:t> des </a:t>
            </a:r>
            <a:r>
              <a:rPr sz="1500" b="0" i="1" dirty="0" err="1">
                <a:solidFill>
                  <a:srgbClr val="0F172A"/>
                </a:solidFill>
                <a:latin typeface="Segoe UI"/>
              </a:rPr>
              <a:t>domaines</a:t>
            </a:r>
            <a:r>
              <a:rPr sz="1500" b="0" i="1" dirty="0">
                <a:solidFill>
                  <a:srgbClr val="0F172A"/>
                </a:solidFill>
                <a:latin typeface="Segoe UI"/>
              </a:rPr>
              <a:t> de gestion d'un </a:t>
            </a:r>
            <a:r>
              <a:rPr sz="1500" b="0" i="1" dirty="0" err="1">
                <a:solidFill>
                  <a:srgbClr val="0F172A"/>
                </a:solidFill>
                <a:latin typeface="Segoe UI"/>
              </a:rPr>
              <a:t>établissement</a:t>
            </a:r>
            <a:r>
              <a:rPr sz="1500" b="0" i="1" dirty="0">
                <a:solidFill>
                  <a:srgbClr val="0F172A"/>
                </a:solidFill>
                <a:latin typeface="Segoe UI"/>
              </a:rPr>
              <a:t> — </a:t>
            </a:r>
            <a:r>
              <a:rPr sz="1500" b="0" i="1" dirty="0" err="1">
                <a:solidFill>
                  <a:srgbClr val="0F172A"/>
                </a:solidFill>
                <a:latin typeface="Segoe UI"/>
              </a:rPr>
              <a:t>académique</a:t>
            </a:r>
            <a:r>
              <a:rPr sz="1500" b="0" i="1" dirty="0">
                <a:solidFill>
                  <a:srgbClr val="0F172A"/>
                </a:solidFill>
                <a:latin typeface="Segoe UI"/>
              </a:rPr>
              <a:t>, </a:t>
            </a:r>
            <a:r>
              <a:rPr sz="1500" b="0" i="1" dirty="0" err="1">
                <a:solidFill>
                  <a:srgbClr val="0F172A"/>
                </a:solidFill>
                <a:latin typeface="Segoe UI"/>
              </a:rPr>
              <a:t>pédagogique</a:t>
            </a:r>
            <a:r>
              <a:rPr sz="1500" b="0" i="1" dirty="0">
                <a:solidFill>
                  <a:srgbClr val="0F172A"/>
                </a:solidFill>
                <a:latin typeface="Segoe UI"/>
              </a:rPr>
              <a:t>, financier et </a:t>
            </a:r>
            <a:r>
              <a:rPr sz="1500" b="0" i="1" dirty="0" err="1">
                <a:solidFill>
                  <a:srgbClr val="0F172A"/>
                </a:solidFill>
                <a:latin typeface="Segoe UI"/>
              </a:rPr>
              <a:t>analytique</a:t>
            </a:r>
            <a:r>
              <a:rPr sz="1500" b="0" i="1" dirty="0">
                <a:solidFill>
                  <a:srgbClr val="0F172A"/>
                </a:solidFill>
                <a:latin typeface="Segoe UI"/>
              </a:rPr>
              <a:t> — tout </a:t>
            </a:r>
            <a:r>
              <a:rPr sz="1500" b="0" i="1" dirty="0" err="1">
                <a:solidFill>
                  <a:srgbClr val="0F172A"/>
                </a:solidFill>
                <a:latin typeface="Segoe UI"/>
              </a:rPr>
              <a:t>en</a:t>
            </a:r>
            <a:r>
              <a:rPr sz="1500" b="0" i="1" dirty="0">
                <a:solidFill>
                  <a:srgbClr val="0F172A"/>
                </a:solidFill>
                <a:latin typeface="Segoe UI"/>
              </a:rPr>
              <a:t> </a:t>
            </a:r>
            <a:r>
              <a:rPr sz="1500" b="0" i="1" dirty="0" err="1">
                <a:solidFill>
                  <a:srgbClr val="0F172A"/>
                </a:solidFill>
                <a:latin typeface="Segoe UI"/>
              </a:rPr>
              <a:t>respectant</a:t>
            </a:r>
            <a:r>
              <a:rPr sz="1500" b="0" i="1" dirty="0">
                <a:solidFill>
                  <a:srgbClr val="0F172A"/>
                </a:solidFill>
                <a:latin typeface="Segoe UI"/>
              </a:rPr>
              <a:t> les </a:t>
            </a:r>
            <a:r>
              <a:rPr sz="1500" b="0" i="1" dirty="0" err="1">
                <a:solidFill>
                  <a:srgbClr val="0F172A"/>
                </a:solidFill>
                <a:latin typeface="Segoe UI"/>
              </a:rPr>
              <a:t>contraintes</a:t>
            </a:r>
            <a:r>
              <a:rPr sz="1500" b="0" i="1" dirty="0">
                <a:solidFill>
                  <a:srgbClr val="0F172A"/>
                </a:solidFill>
                <a:latin typeface="Segoe UI"/>
              </a:rPr>
              <a:t> du LMD et les exigences de </a:t>
            </a:r>
            <a:r>
              <a:rPr sz="1500" b="0" i="1" dirty="0" err="1">
                <a:solidFill>
                  <a:srgbClr val="0F172A"/>
                </a:solidFill>
                <a:latin typeface="Segoe UI"/>
              </a:rPr>
              <a:t>sécurité</a:t>
            </a:r>
            <a:r>
              <a:rPr sz="1500" b="0" i="1" dirty="0">
                <a:solidFill>
                  <a:srgbClr val="0F172A"/>
                </a:solidFill>
                <a:latin typeface="Segoe UI"/>
              </a:rPr>
              <a:t> et de performance </a:t>
            </a:r>
            <a:r>
              <a:rPr sz="1500" b="0" i="1" dirty="0" err="1">
                <a:solidFill>
                  <a:srgbClr val="0F172A"/>
                </a:solidFill>
                <a:latin typeface="Segoe UI"/>
              </a:rPr>
              <a:t>d'une</a:t>
            </a:r>
            <a:r>
              <a:rPr sz="1500" b="0" i="1" dirty="0">
                <a:solidFill>
                  <a:srgbClr val="0F172A"/>
                </a:solidFill>
                <a:latin typeface="Segoe UI"/>
              </a:rPr>
              <a:t> application web </a:t>
            </a:r>
            <a:r>
              <a:rPr sz="1500" b="0" i="1" dirty="0" err="1">
                <a:solidFill>
                  <a:srgbClr val="0F172A"/>
                </a:solidFill>
                <a:latin typeface="Segoe UI"/>
              </a:rPr>
              <a:t>moderne</a:t>
            </a:r>
            <a:r>
              <a:rPr sz="1500" b="0" i="1" dirty="0">
                <a:solidFill>
                  <a:srgbClr val="0F172A"/>
                </a:solidFill>
                <a:latin typeface="Segoe UI"/>
              </a:rPr>
              <a:t> ?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5204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Segoe UI"/>
              </a:rPr>
              <a:t>Sous-questions de recherche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9414" y="3941063"/>
            <a:ext cx="1069848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50" dirty="0">
                <a:solidFill>
                  <a:srgbClr val="2563EB"/>
                </a:solidFill>
                <a:latin typeface="Segoe UI"/>
              </a:rPr>
              <a:t>●  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Comment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modéliser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la structure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académique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LMD de manière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générique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, pour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s'adapter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à des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établissements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différents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?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50" dirty="0">
                <a:solidFill>
                  <a:srgbClr val="2563EB"/>
                </a:solidFill>
                <a:latin typeface="Segoe UI"/>
              </a:rPr>
              <a:t>●  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Comment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garantir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la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cohérence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des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données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entre modules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fortement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interdépendants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(inscription, finance,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évaluation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,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présences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) ?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50" dirty="0">
                <a:solidFill>
                  <a:srgbClr val="2563EB"/>
                </a:solidFill>
                <a:latin typeface="Segoe UI"/>
              </a:rPr>
              <a:t>●  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Comment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implémenter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un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contrôle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d'accès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fin pour 13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profils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d'utilisateurs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sans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alourdir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l'expérience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?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50" dirty="0">
                <a:solidFill>
                  <a:srgbClr val="2563EB"/>
                </a:solidFill>
                <a:latin typeface="Segoe UI"/>
              </a:rPr>
              <a:t>●  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Comment exploiter les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données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comportementales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pour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détecter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précocement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le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risque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de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décrochage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scolaire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?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50" dirty="0">
                <a:solidFill>
                  <a:srgbClr val="2563EB"/>
                </a:solidFill>
                <a:latin typeface="Segoe UI"/>
              </a:rPr>
              <a:t>●  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Quelle architecture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garantit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à la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fois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richesse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fonctionnelle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,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réactivité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et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capacité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d'évolution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multi-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établissements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507266"/>
            <a:ext cx="1078992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 dirty="0" err="1">
                <a:solidFill>
                  <a:srgbClr val="0F172A"/>
                </a:solidFill>
                <a:latin typeface="Segoe UI Semibold"/>
              </a:rPr>
              <a:t>Objectifs</a:t>
            </a:r>
            <a:r>
              <a:rPr sz="4400" b="1" i="0" dirty="0">
                <a:solidFill>
                  <a:srgbClr val="0F172A"/>
                </a:solidFill>
                <a:latin typeface="Segoe UI Semibold"/>
              </a:rPr>
              <a:t> du </a:t>
            </a:r>
            <a:r>
              <a:rPr sz="4400" b="1" i="0" dirty="0" err="1">
                <a:solidFill>
                  <a:srgbClr val="0F172A"/>
                </a:solidFill>
                <a:latin typeface="Segoe UI Semibold"/>
              </a:rPr>
              <a:t>projet</a:t>
            </a:r>
            <a:endParaRPr sz="4400" b="1" i="0" dirty="0">
              <a:solidFill>
                <a:srgbClr val="0F172A"/>
              </a:solidFill>
              <a:latin typeface="Segoe UI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232" y="17830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334155"/>
                </a:solidFill>
                <a:latin typeface="Segoe UI"/>
              </a:rPr>
              <a:t>Objectif général : concevoir, développer et valider une plateforme fullstack couvrant l'intégralité du cycle de vie étudiant, de la candidature à la diplomation.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514600"/>
            <a:ext cx="251460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65632" y="266700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OS1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632" y="320040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Modéliser la structure académique LMD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0712" y="2514600"/>
            <a:ext cx="251460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563112" y="266700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OS2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3112" y="320040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Automatiser la gestion des inscriptions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08192" y="2514600"/>
            <a:ext cx="251460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60592" y="266700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OS3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0592" y="320040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Intégrer un module financier complet (FCFA)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05672" y="2514600"/>
            <a:ext cx="251460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958072" y="266700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OS4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58072" y="320040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Déployer un campus numérique (LMS)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206240"/>
            <a:ext cx="251460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65632" y="435864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OS5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632" y="489204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Automatiser évaluation &amp; délibérations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10712" y="4206240"/>
            <a:ext cx="251460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563112" y="435864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OS6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3112" y="489204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 dirty="0" err="1">
                <a:solidFill>
                  <a:srgbClr val="0F172A"/>
                </a:solidFill>
                <a:latin typeface="Segoe UI"/>
              </a:rPr>
              <a:t>Implémenter</a:t>
            </a:r>
            <a:r>
              <a:rPr sz="1250" b="1" i="0" dirty="0">
                <a:solidFill>
                  <a:srgbClr val="0F172A"/>
                </a:solidFill>
                <a:latin typeface="Segoe UI"/>
              </a:rPr>
              <a:t> un </a:t>
            </a:r>
            <a:r>
              <a:rPr sz="1250" b="1" i="0" dirty="0" err="1">
                <a:solidFill>
                  <a:srgbClr val="0F172A"/>
                </a:solidFill>
                <a:latin typeface="Segoe UI"/>
              </a:rPr>
              <a:t>contrôle</a:t>
            </a:r>
            <a:r>
              <a:rPr sz="1250" b="1" i="0" dirty="0">
                <a:solidFill>
                  <a:srgbClr val="0F172A"/>
                </a:solidFill>
                <a:latin typeface="Segoe UI"/>
              </a:rPr>
              <a:t> </a:t>
            </a:r>
            <a:r>
              <a:rPr sz="1250" b="1" i="0" dirty="0" err="1">
                <a:solidFill>
                  <a:srgbClr val="0F172A"/>
                </a:solidFill>
                <a:latin typeface="Segoe UI"/>
              </a:rPr>
              <a:t>d'accès</a:t>
            </a:r>
            <a:r>
              <a:rPr sz="1250" b="1" i="0" dirty="0">
                <a:solidFill>
                  <a:srgbClr val="0F172A"/>
                </a:solidFill>
                <a:latin typeface="Segoe UI"/>
              </a:rPr>
              <a:t> RBAC 13 </a:t>
            </a:r>
            <a:r>
              <a:rPr sz="1250" b="1" i="0" dirty="0" err="1">
                <a:solidFill>
                  <a:srgbClr val="0F172A"/>
                </a:solidFill>
                <a:latin typeface="Segoe UI"/>
              </a:rPr>
              <a:t>rôles</a:t>
            </a:r>
            <a:endParaRPr sz="1250" b="1" i="0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108192" y="4206240"/>
            <a:ext cx="251460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260592" y="435864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OS7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0592" y="489204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 dirty="0" err="1">
                <a:solidFill>
                  <a:srgbClr val="0F172A"/>
                </a:solidFill>
                <a:latin typeface="Segoe UI"/>
              </a:rPr>
              <a:t>Produire</a:t>
            </a:r>
            <a:r>
              <a:rPr sz="1250" b="1" i="0" dirty="0">
                <a:solidFill>
                  <a:srgbClr val="0F172A"/>
                </a:solidFill>
                <a:latin typeface="Segoe UI"/>
              </a:rPr>
              <a:t> des analytics </a:t>
            </a:r>
            <a:r>
              <a:rPr sz="1250" b="1" i="0" dirty="0" err="1">
                <a:solidFill>
                  <a:srgbClr val="0F172A"/>
                </a:solidFill>
                <a:latin typeface="Segoe UI"/>
              </a:rPr>
              <a:t>éducatifs</a:t>
            </a:r>
            <a:r>
              <a:rPr sz="1250" b="1" i="0" dirty="0">
                <a:solidFill>
                  <a:srgbClr val="0F172A"/>
                </a:solidFill>
                <a:latin typeface="Segoe UI"/>
              </a:rPr>
              <a:t> </a:t>
            </a:r>
            <a:r>
              <a:rPr sz="1250" b="1" i="0" dirty="0" err="1">
                <a:solidFill>
                  <a:srgbClr val="0F172A"/>
                </a:solidFill>
                <a:latin typeface="Segoe UI"/>
              </a:rPr>
              <a:t>prédictifs</a:t>
            </a:r>
            <a:endParaRPr sz="1250" b="1" i="0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805672" y="4206240"/>
            <a:ext cx="251460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958072" y="435864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OS8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58072" y="489204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 dirty="0" err="1">
                <a:solidFill>
                  <a:srgbClr val="0F172A"/>
                </a:solidFill>
                <a:latin typeface="Segoe UI"/>
              </a:rPr>
              <a:t>Garantir</a:t>
            </a:r>
            <a:r>
              <a:rPr sz="1250" b="1" i="0" dirty="0">
                <a:solidFill>
                  <a:srgbClr val="0F172A"/>
                </a:solidFill>
                <a:latin typeface="Segoe UI"/>
              </a:rPr>
              <a:t> </a:t>
            </a:r>
            <a:r>
              <a:rPr sz="1250" b="1" i="0" dirty="0" err="1">
                <a:solidFill>
                  <a:srgbClr val="0F172A"/>
                </a:solidFill>
                <a:latin typeface="Segoe UI"/>
              </a:rPr>
              <a:t>sécurité</a:t>
            </a:r>
            <a:r>
              <a:rPr sz="1250" b="1" i="0" dirty="0">
                <a:solidFill>
                  <a:srgbClr val="0F172A"/>
                </a:solidFill>
                <a:latin typeface="Segoe UI"/>
              </a:rPr>
              <a:t> &amp; </a:t>
            </a:r>
            <a:r>
              <a:rPr sz="1250" b="1" i="0" dirty="0" err="1">
                <a:solidFill>
                  <a:srgbClr val="0F172A"/>
                </a:solidFill>
                <a:latin typeface="Segoe UI"/>
              </a:rPr>
              <a:t>traçabilité</a:t>
            </a:r>
            <a:r>
              <a:rPr sz="1250" b="1" i="0" dirty="0">
                <a:solidFill>
                  <a:srgbClr val="0F172A"/>
                </a:solidFill>
                <a:latin typeface="Segoe UI"/>
              </a:rPr>
              <a:t> </a:t>
            </a:r>
            <a:r>
              <a:rPr sz="1250" b="1" i="0" dirty="0" err="1">
                <a:solidFill>
                  <a:srgbClr val="0F172A"/>
                </a:solidFill>
                <a:latin typeface="Segoe UI"/>
              </a:rPr>
              <a:t>complètes</a:t>
            </a:r>
            <a:endParaRPr sz="1250" b="1" i="0" dirty="0">
              <a:solidFill>
                <a:srgbClr val="0F172A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8503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548640"/>
            <a:ext cx="1078992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 dirty="0" err="1">
                <a:solidFill>
                  <a:srgbClr val="0F172A"/>
                </a:solidFill>
                <a:latin typeface="Segoe UI Semibold"/>
              </a:rPr>
              <a:t>Méthodologie</a:t>
            </a:r>
            <a:r>
              <a:rPr sz="3600" b="1" i="0" dirty="0">
                <a:solidFill>
                  <a:srgbClr val="0F172A"/>
                </a:solidFill>
                <a:latin typeface="Segoe UI Semibold"/>
              </a:rPr>
              <a:t> de conception et de </a:t>
            </a:r>
            <a:r>
              <a:rPr sz="3600" b="1" i="0" dirty="0" err="1">
                <a:solidFill>
                  <a:srgbClr val="0F172A"/>
                </a:solidFill>
                <a:latin typeface="Segoe UI Semibold"/>
              </a:rPr>
              <a:t>développement</a:t>
            </a:r>
            <a:endParaRPr sz="3600" b="1" i="0" dirty="0">
              <a:solidFill>
                <a:srgbClr val="0F172A"/>
              </a:solidFill>
              <a:latin typeface="Segoe UI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40080" y="1874519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54680" y="2011680"/>
            <a:ext cx="256032" cy="182880"/>
          </a:xfrm>
          <a:prstGeom prst="rightArrow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Segoe UI"/>
              </a:rPr>
              <a:t>Analyse des besoins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26060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Étude des processus universitaires, des textes LMD, des solutions existantes et des parties prenantes → 16 domaines fonctionnels, 13 profils.</a:t>
            </a:r>
          </a:p>
        </p:txBody>
      </p:sp>
      <p:sp>
        <p:nvSpPr>
          <p:cNvPr id="13" name="Oval 12"/>
          <p:cNvSpPr/>
          <p:nvPr/>
        </p:nvSpPr>
        <p:spPr>
          <a:xfrm>
            <a:off x="3429000" y="1874519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43600" y="2011680"/>
            <a:ext cx="256032" cy="182880"/>
          </a:xfrm>
          <a:prstGeom prst="rightArrow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29000" y="251460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Segoe UI"/>
              </a:rPr>
              <a:t>Conception UML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926080"/>
            <a:ext cx="26060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Cas d'utilisation, diagrammes de classes et de séquence ; architecture modulaire ; design-first API (OpenAPI).</a:t>
            </a:r>
          </a:p>
        </p:txBody>
      </p:sp>
      <p:sp>
        <p:nvSpPr>
          <p:cNvPr id="17" name="Oval 16"/>
          <p:cNvSpPr/>
          <p:nvPr/>
        </p:nvSpPr>
        <p:spPr>
          <a:xfrm>
            <a:off x="6217920" y="1874519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732520" y="2011680"/>
            <a:ext cx="256032" cy="182880"/>
          </a:xfrm>
          <a:prstGeom prst="rightArrow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251460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Segoe UI"/>
              </a:rPr>
              <a:t>Développement itératif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926080"/>
            <a:ext cx="26060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Chaque module traité de bout en bout (modèles → migrations → serializers → vues → tests → frontend) avant le suivant.</a:t>
            </a:r>
          </a:p>
        </p:txBody>
      </p:sp>
      <p:sp>
        <p:nvSpPr>
          <p:cNvPr id="21" name="Oval 20"/>
          <p:cNvSpPr/>
          <p:nvPr/>
        </p:nvSpPr>
        <p:spPr>
          <a:xfrm>
            <a:off x="9006840" y="1874519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251460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Segoe UI"/>
              </a:rPr>
              <a:t>Validation multi-niveaux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926080"/>
            <a:ext cx="26060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Tests unitaires, intégration API, fonctionnels par rôle, sécurité (accès non autorisé, rate limiting, JWT).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7287" y="344567"/>
            <a:ext cx="1078992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>
                <a:solidFill>
                  <a:srgbClr val="0F172A"/>
                </a:solidFill>
                <a:latin typeface="Segoe UI Semibold"/>
              </a:rPr>
              <a:t>Solutions </a:t>
            </a:r>
            <a:r>
              <a:rPr sz="4000" b="1" i="0" dirty="0" err="1">
                <a:solidFill>
                  <a:srgbClr val="0F172A"/>
                </a:solidFill>
                <a:latin typeface="Segoe UI Semibold"/>
              </a:rPr>
              <a:t>existantes</a:t>
            </a:r>
            <a:r>
              <a:rPr sz="4000" b="1" i="0" dirty="0">
                <a:solidFill>
                  <a:srgbClr val="0F172A"/>
                </a:solidFill>
                <a:latin typeface="Segoe UI Semibold"/>
              </a:rP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80BBE6E-AF61-4FC8-8F6E-5F115A2FE9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43182"/>
              </p:ext>
            </p:extLst>
          </p:nvPr>
        </p:nvGraphicFramePr>
        <p:xfrm>
          <a:off x="1015832" y="1014979"/>
          <a:ext cx="9946975" cy="54041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45276">
                  <a:extLst>
                    <a:ext uri="{9D8B030D-6E8A-4147-A177-3AD203B41FA5}">
                      <a16:colId xmlns:a16="http://schemas.microsoft.com/office/drawing/2014/main" val="1209947015"/>
                    </a:ext>
                  </a:extLst>
                </a:gridCol>
                <a:gridCol w="1744525">
                  <a:extLst>
                    <a:ext uri="{9D8B030D-6E8A-4147-A177-3AD203B41FA5}">
                      <a16:colId xmlns:a16="http://schemas.microsoft.com/office/drawing/2014/main" val="3579993644"/>
                    </a:ext>
                  </a:extLst>
                </a:gridCol>
                <a:gridCol w="1951348">
                  <a:extLst>
                    <a:ext uri="{9D8B030D-6E8A-4147-A177-3AD203B41FA5}">
                      <a16:colId xmlns:a16="http://schemas.microsoft.com/office/drawing/2014/main" val="2707879478"/>
                    </a:ext>
                  </a:extLst>
                </a:gridCol>
                <a:gridCol w="1979629">
                  <a:extLst>
                    <a:ext uri="{9D8B030D-6E8A-4147-A177-3AD203B41FA5}">
                      <a16:colId xmlns:a16="http://schemas.microsoft.com/office/drawing/2014/main" val="809585364"/>
                    </a:ext>
                  </a:extLst>
                </a:gridCol>
                <a:gridCol w="2026197">
                  <a:extLst>
                    <a:ext uri="{9D8B030D-6E8A-4147-A177-3AD203B41FA5}">
                      <a16:colId xmlns:a16="http://schemas.microsoft.com/office/drawing/2014/main" val="2989073508"/>
                    </a:ext>
                  </a:extLst>
                </a:gridCol>
              </a:tblGrid>
              <a:tr h="18083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Fonctionnalités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Banner / Oracle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OpenEduCat / ERPNext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Moodle / Canvas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TIRAHOU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extLst>
                  <a:ext uri="{0D108BD9-81ED-4DB2-BD59-A6C34878D82A}">
                    <a16:rowId xmlns:a16="http://schemas.microsoft.com/office/drawing/2014/main" val="713180337"/>
                  </a:ext>
                </a:extLst>
              </a:tr>
              <a:tr h="18083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Gestion des admissions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Oui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Oui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Non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Oui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extLst>
                  <a:ext uri="{0D108BD9-81ED-4DB2-BD59-A6C34878D82A}">
                    <a16:rowId xmlns:a16="http://schemas.microsoft.com/office/drawing/2014/main" val="2363199927"/>
                  </a:ext>
                </a:extLst>
              </a:tr>
              <a:tr h="18083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Gestion des inscriptions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Oui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Oui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Non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Oui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extLst>
                  <a:ext uri="{0D108BD9-81ED-4DB2-BD59-A6C34878D82A}">
                    <a16:rowId xmlns:a16="http://schemas.microsoft.com/office/drawing/2014/main" val="2761185538"/>
                  </a:ext>
                </a:extLst>
              </a:tr>
              <a:tr h="18083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Gestion financière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Oui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Oui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Non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Oui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extLst>
                  <a:ext uri="{0D108BD9-81ED-4DB2-BD59-A6C34878D82A}">
                    <a16:rowId xmlns:a16="http://schemas.microsoft.com/office/drawing/2014/main" val="1828051630"/>
                  </a:ext>
                </a:extLst>
              </a:tr>
              <a:tr h="18083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Gestion des évaluations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Oui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Oui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Oui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Oui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extLst>
                  <a:ext uri="{0D108BD9-81ED-4DB2-BD59-A6C34878D82A}">
                    <a16:rowId xmlns:a16="http://schemas.microsoft.com/office/drawing/2014/main" val="2937839386"/>
                  </a:ext>
                </a:extLst>
              </a:tr>
              <a:tr h="3530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Délibérations conformes au LMD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Partiellement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Partiellement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Non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Oui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extLst>
                  <a:ext uri="{0D108BD9-81ED-4DB2-BD59-A6C34878D82A}">
                    <a16:rowId xmlns:a16="http://schemas.microsoft.com/office/drawing/2014/main" val="686283230"/>
                  </a:ext>
                </a:extLst>
              </a:tr>
              <a:tr h="3404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Campus numérique (LMS)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Partiellement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 dirty="0">
                          <a:effectLst/>
                        </a:rPr>
                        <a:t>Oui</a:t>
                      </a:r>
                      <a:endParaRPr lang="fr-FR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Oui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Oui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extLst>
                  <a:ext uri="{0D108BD9-81ED-4DB2-BD59-A6C34878D82A}">
                    <a16:rowId xmlns:a16="http://schemas.microsoft.com/office/drawing/2014/main" val="1751877583"/>
                  </a:ext>
                </a:extLst>
              </a:tr>
              <a:tr h="18083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Classes virtuelles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Oui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Partiellement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Oui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Oui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extLst>
                  <a:ext uri="{0D108BD9-81ED-4DB2-BD59-A6C34878D82A}">
                    <a16:rowId xmlns:a16="http://schemas.microsoft.com/office/drawing/2014/main" val="3825967715"/>
                  </a:ext>
                </a:extLst>
              </a:tr>
              <a:tr h="18083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Application mobile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Oui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Partiellement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Oui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Oui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extLst>
                  <a:ext uri="{0D108BD9-81ED-4DB2-BD59-A6C34878D82A}">
                    <a16:rowId xmlns:a16="http://schemas.microsoft.com/office/drawing/2014/main" val="1042005358"/>
                  </a:ext>
                </a:extLst>
              </a:tr>
              <a:tr h="3404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Tableau de bord décisionnel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Oui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Oui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Partiellement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Oui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extLst>
                  <a:ext uri="{0D108BD9-81ED-4DB2-BD59-A6C34878D82A}">
                    <a16:rowId xmlns:a16="http://schemas.microsoft.com/office/drawing/2014/main" val="3648672711"/>
                  </a:ext>
                </a:extLst>
              </a:tr>
              <a:tr h="18083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Analytics prédictif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Oui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Non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Non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Oui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extLst>
                  <a:ext uri="{0D108BD9-81ED-4DB2-BD59-A6C34878D82A}">
                    <a16:rowId xmlns:a16="http://schemas.microsoft.com/office/drawing/2014/main" val="1399131373"/>
                  </a:ext>
                </a:extLst>
              </a:tr>
              <a:tr h="3530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Vérification des documents par QR Code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Non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Non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Non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Oui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extLst>
                  <a:ext uri="{0D108BD9-81ED-4DB2-BD59-A6C34878D82A}">
                    <a16:rowId xmlns:a16="http://schemas.microsoft.com/office/drawing/2014/main" val="964334895"/>
                  </a:ext>
                </a:extLst>
              </a:tr>
              <a:tr h="3404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Contrôle d'accès avancé (RBAC)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Oui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Oui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Partiellement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 dirty="0">
                          <a:effectLst/>
                        </a:rPr>
                        <a:t>Oui</a:t>
                      </a:r>
                      <a:endParaRPr lang="fr-FR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extLst>
                  <a:ext uri="{0D108BD9-81ED-4DB2-BD59-A6C34878D82A}">
                    <a16:rowId xmlns:a16="http://schemas.microsoft.com/office/drawing/2014/main" val="1291050452"/>
                  </a:ext>
                </a:extLst>
              </a:tr>
              <a:tr h="50661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Mode multi-établissements (Multi-tenant)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Oui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Oui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Non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Non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extLst>
                  <a:ext uri="{0D108BD9-81ED-4DB2-BD59-A6C34878D82A}">
                    <a16:rowId xmlns:a16="http://schemas.microsoft.com/office/drawing/2014/main" val="3666877846"/>
                  </a:ext>
                </a:extLst>
              </a:tr>
              <a:tr h="3404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Conformité SCORM/xAPI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Oui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Partiellement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Oui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Non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extLst>
                  <a:ext uri="{0D108BD9-81ED-4DB2-BD59-A6C34878D82A}">
                    <a16:rowId xmlns:a16="http://schemas.microsoft.com/office/drawing/2014/main" val="973197951"/>
                  </a:ext>
                </a:extLst>
              </a:tr>
              <a:tr h="18083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Gestion RH &amp; Paie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Oui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Oui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Non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Non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extLst>
                  <a:ext uri="{0D108BD9-81ED-4DB2-BD59-A6C34878D82A}">
                    <a16:rowId xmlns:a16="http://schemas.microsoft.com/office/drawing/2014/main" val="2607628488"/>
                  </a:ext>
                </a:extLst>
              </a:tr>
              <a:tr h="18083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API publique d'intégration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Oui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Oui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Partiellement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Non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extLst>
                  <a:ext uri="{0D108BD9-81ED-4DB2-BD59-A6C34878D82A}">
                    <a16:rowId xmlns:a16="http://schemas.microsoft.com/office/drawing/2014/main" val="1000848640"/>
                  </a:ext>
                </a:extLst>
              </a:tr>
              <a:tr h="3404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Business Intelligence avancée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Oui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Partiellement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Partiellement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Non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extLst>
                  <a:ext uri="{0D108BD9-81ED-4DB2-BD59-A6C34878D82A}">
                    <a16:rowId xmlns:a16="http://schemas.microsoft.com/office/drawing/2014/main" val="284588813"/>
                  </a:ext>
                </a:extLst>
              </a:tr>
              <a:tr h="3404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Adaptation au système LMD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Non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Partiellement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Non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Oui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extLst>
                  <a:ext uri="{0D108BD9-81ED-4DB2-BD59-A6C34878D82A}">
                    <a16:rowId xmlns:a16="http://schemas.microsoft.com/office/drawing/2014/main" val="1675078554"/>
                  </a:ext>
                </a:extLst>
              </a:tr>
              <a:tr h="3404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Adaptation au contexte africain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Non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Partiellement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>
                          <a:effectLst/>
                        </a:rPr>
                        <a:t>Non</a:t>
                      </a:r>
                      <a:endParaRPr lang="fr-F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 dirty="0">
                          <a:effectLst/>
                        </a:rPr>
                        <a:t>Oui</a:t>
                      </a:r>
                      <a:endParaRPr lang="fr-FR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91" marR="6891" marT="6891" marB="6891" anchor="ctr"/>
                </a:tc>
                <a:extLst>
                  <a:ext uri="{0D108BD9-81ED-4DB2-BD59-A6C34878D82A}">
                    <a16:rowId xmlns:a16="http://schemas.microsoft.com/office/drawing/2014/main" val="212321922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538043"/>
            <a:ext cx="1078992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>
                <a:solidFill>
                  <a:srgbClr val="0F172A"/>
                </a:solidFill>
                <a:latin typeface="Segoe UI Semibold"/>
              </a:rPr>
              <a:t>Choix </a:t>
            </a:r>
            <a:r>
              <a:rPr sz="4000" b="1" i="0" dirty="0" err="1">
                <a:solidFill>
                  <a:srgbClr val="0F172A"/>
                </a:solidFill>
                <a:latin typeface="Segoe UI Semibold"/>
              </a:rPr>
              <a:t>technologiques</a:t>
            </a:r>
            <a:r>
              <a:rPr sz="4000" b="1" i="0" dirty="0">
                <a:solidFill>
                  <a:srgbClr val="0F172A"/>
                </a:solidFill>
                <a:latin typeface="Segoe UI Semibold"/>
              </a:rPr>
              <a:t> —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232" y="1874519"/>
            <a:ext cx="5303520" cy="235122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50" dirty="0">
                <a:solidFill>
                  <a:srgbClr val="2563EB"/>
                </a:solidFill>
                <a:latin typeface="Segoe UI"/>
              </a:rPr>
              <a:t>●  </a:t>
            </a:r>
            <a:r>
              <a:rPr sz="1350" b="1" dirty="0">
                <a:solidFill>
                  <a:srgbClr val="0F172A"/>
                </a:solidFill>
                <a:latin typeface="Segoe UI"/>
              </a:rPr>
              <a:t>Django 5.2 (LTS) + DRF</a:t>
            </a:r>
            <a:r>
              <a:rPr lang="en-US" sz="1350" b="1" dirty="0">
                <a:solidFill>
                  <a:srgbClr val="0F172A"/>
                </a:solidFill>
                <a:latin typeface="Segoe UI"/>
              </a:rPr>
              <a:t> 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ORM puissant,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sécurité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intégrée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(CSRF/XSS/injection SQL), admin auto-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généré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, architecture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en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applications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modulaires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50" dirty="0">
                <a:solidFill>
                  <a:srgbClr val="2563EB"/>
                </a:solidFill>
                <a:latin typeface="Segoe UI"/>
              </a:rPr>
              <a:t>●  </a:t>
            </a:r>
            <a:r>
              <a:rPr sz="1350" b="1" dirty="0">
                <a:solidFill>
                  <a:srgbClr val="0F172A"/>
                </a:solidFill>
                <a:latin typeface="Segoe UI"/>
              </a:rPr>
              <a:t>JWT — </a:t>
            </a:r>
            <a:r>
              <a:rPr sz="1350" b="1" dirty="0" err="1">
                <a:solidFill>
                  <a:srgbClr val="0F172A"/>
                </a:solidFill>
                <a:latin typeface="Segoe UI"/>
              </a:rPr>
              <a:t>djangorestframework-simplejwt</a:t>
            </a:r>
            <a:r>
              <a:rPr lang="en-US" sz="1350" b="1" dirty="0">
                <a:solidFill>
                  <a:srgbClr val="0F172A"/>
                </a:solidFill>
                <a:latin typeface="Segoe UI"/>
              </a:rPr>
              <a:t> 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Access token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courte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durée + refresh token 7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jours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avec rotation et blacklist ;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adapté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aux SPA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découplées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50" dirty="0">
                <a:solidFill>
                  <a:srgbClr val="2563EB"/>
                </a:solidFill>
                <a:latin typeface="Segoe UI"/>
              </a:rPr>
              <a:t>●  </a:t>
            </a:r>
            <a:r>
              <a:rPr sz="1350" b="1" dirty="0">
                <a:solidFill>
                  <a:srgbClr val="0F172A"/>
                </a:solidFill>
                <a:latin typeface="Segoe UI"/>
              </a:rPr>
              <a:t>PostgreSQL (prod) / SQLite (dev)</a:t>
            </a:r>
            <a:r>
              <a:rPr lang="en-US" sz="1350" b="1" dirty="0">
                <a:solidFill>
                  <a:srgbClr val="0F172A"/>
                </a:solidFill>
                <a:latin typeface="Segoe UI"/>
              </a:rPr>
              <a:t> 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ORM Django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abstrait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totalement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la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différence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: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développement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local simple,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robustesse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ACID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en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production.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874519"/>
            <a:ext cx="5303520" cy="16781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50" dirty="0">
                <a:solidFill>
                  <a:srgbClr val="7C3AED"/>
                </a:solidFill>
                <a:latin typeface="Segoe UI"/>
              </a:rPr>
              <a:t>●  </a:t>
            </a:r>
            <a:r>
              <a:rPr sz="1350" b="1" dirty="0">
                <a:solidFill>
                  <a:srgbClr val="0F172A"/>
                </a:solidFill>
                <a:latin typeface="Segoe UI"/>
              </a:rPr>
              <a:t>Redis + Celery</a:t>
            </a:r>
            <a:r>
              <a:rPr lang="en-US" sz="1350" b="1" dirty="0">
                <a:solidFill>
                  <a:srgbClr val="0F172A"/>
                </a:solidFill>
                <a:latin typeface="Segoe UI"/>
              </a:rPr>
              <a:t> 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Cache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applicatif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(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statistiques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,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listes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) et broker pour les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tâches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asynchrones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: scores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d'engagement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, emails/SMS, rapports.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50" dirty="0">
                <a:solidFill>
                  <a:srgbClr val="7C3AED"/>
                </a:solidFill>
                <a:latin typeface="Segoe UI"/>
              </a:rPr>
              <a:t>●  </a:t>
            </a:r>
            <a:r>
              <a:rPr sz="1350" b="1" dirty="0" err="1">
                <a:solidFill>
                  <a:srgbClr val="0F172A"/>
                </a:solidFill>
                <a:latin typeface="Segoe UI"/>
              </a:rPr>
              <a:t>drf</a:t>
            </a:r>
            <a:r>
              <a:rPr sz="1350" b="1" dirty="0">
                <a:solidFill>
                  <a:srgbClr val="0F172A"/>
                </a:solidFill>
                <a:latin typeface="Segoe UI"/>
              </a:rPr>
              <a:t>-spectacular</a:t>
            </a:r>
            <a:r>
              <a:rPr lang="en-US" sz="1350" b="1" dirty="0">
                <a:solidFill>
                  <a:srgbClr val="0F172A"/>
                </a:solidFill>
                <a:latin typeface="Segoe UI"/>
              </a:rPr>
              <a:t>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Schéma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OpenAPI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3.0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généré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automatiquement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, exposé via Swagger UI interactive sur /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api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/docs/.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50" dirty="0">
                <a:solidFill>
                  <a:srgbClr val="7C3AED"/>
                </a:solidFill>
                <a:latin typeface="Segoe UI"/>
              </a:rPr>
              <a:t>●  </a:t>
            </a:r>
            <a:r>
              <a:rPr sz="1350" b="1" dirty="0" err="1">
                <a:solidFill>
                  <a:srgbClr val="0F172A"/>
                </a:solidFill>
                <a:latin typeface="Segoe UI"/>
              </a:rPr>
              <a:t>Sécurité</a:t>
            </a:r>
            <a:r>
              <a:rPr sz="1350" b="1" dirty="0">
                <a:solidFill>
                  <a:srgbClr val="0F172A"/>
                </a:solidFill>
                <a:latin typeface="Segoe UI"/>
              </a:rPr>
              <a:t> applicative</a:t>
            </a:r>
            <a:r>
              <a:rPr lang="en-US" sz="1350" b="1" dirty="0">
                <a:solidFill>
                  <a:srgbClr val="0F172A"/>
                </a:solidFill>
                <a:latin typeface="Segoe UI"/>
              </a:rPr>
              <a:t> 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Rate limiting par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classe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d'utilisateur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, CORS strict, audit log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exhaustif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sur les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opérations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 </a:t>
            </a:r>
            <a:r>
              <a:rPr sz="1350" dirty="0" err="1">
                <a:solidFill>
                  <a:srgbClr val="334155"/>
                </a:solidFill>
                <a:latin typeface="Segoe UI"/>
              </a:rPr>
              <a:t>sensibles</a:t>
            </a:r>
            <a:r>
              <a:rPr sz="1350" dirty="0">
                <a:solidFill>
                  <a:srgbClr val="334155"/>
                </a:solidFill>
                <a:latin typeface="Segoe UI"/>
              </a:rPr>
              <a:t>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8585D66-9353-46A8-B397-044348B88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1" y="4393553"/>
            <a:ext cx="3461994" cy="198907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7874587-FA23-403F-86D6-32CC647AD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6493" y="4393552"/>
            <a:ext cx="3536074" cy="19756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C8DAE0C-A58A-487E-BEA6-AD30DE948F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266" y="4393553"/>
            <a:ext cx="3374454" cy="21078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60321" y="3425952"/>
            <a:ext cx="4036806" cy="154626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78992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>
                <a:solidFill>
                  <a:srgbClr val="0F172A"/>
                </a:solidFill>
                <a:latin typeface="Segoe UI Semibold"/>
              </a:rPr>
              <a:t>Choix </a:t>
            </a:r>
            <a:r>
              <a:rPr sz="4000" b="1" i="0" dirty="0" err="1">
                <a:solidFill>
                  <a:srgbClr val="0F172A"/>
                </a:solidFill>
                <a:latin typeface="Segoe UI Semibold"/>
              </a:rPr>
              <a:t>technologiques</a:t>
            </a:r>
            <a:r>
              <a:rPr sz="4000" b="1" i="0" dirty="0">
                <a:solidFill>
                  <a:srgbClr val="0F172A"/>
                </a:solidFill>
                <a:latin typeface="Segoe UI Semibold"/>
              </a:rPr>
              <a:t> — Frontend, PWA &amp; Mobile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6877876"/>
              </p:ext>
            </p:extLst>
          </p:nvPr>
        </p:nvGraphicFramePr>
        <p:xfrm>
          <a:off x="713233" y="1874519"/>
          <a:ext cx="462076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3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7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Segoe UI"/>
                        </a:rPr>
                        <a:t>Bibliothèque</a:t>
                      </a:r>
                      <a:endParaRPr sz="1200" b="1" dirty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marL="101600" marR="101600" marT="50800" marB="508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Rôle</a:t>
                      </a:r>
                    </a:p>
                  </a:txBody>
                  <a:tcPr marL="101600" marR="101600" marT="50800" marB="5080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React 19 + TypeScript + Vite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SPA typée, build ultra-rapide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React Router v7</a:t>
                      </a:r>
                    </a:p>
                  </a:txBody>
                  <a:tcPr marL="101600" marR="101600" marT="50800" marB="508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Routage, routes protégées par rôle</a:t>
                      </a:r>
                    </a:p>
                  </a:txBody>
                  <a:tcPr marL="101600" marR="101600" marT="50800" marB="50800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TanStack Query v5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Cache serveur, synchronisation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Zustand</a:t>
                      </a:r>
                    </a:p>
                  </a:txBody>
                  <a:tcPr marL="101600" marR="101600" marT="50800" marB="508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État global (authentification)</a:t>
                      </a:r>
                    </a:p>
                  </a:txBody>
                  <a:tcPr marL="101600" marR="101600" marT="50800" marB="50800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Tailwind CSS + Radix UI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Design system utilitaire, accessible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Recharts</a:t>
                      </a:r>
                    </a:p>
                  </a:txBody>
                  <a:tcPr marL="101600" marR="101600" marT="50800" marB="508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Graphiques &amp; visualisations analytics</a:t>
                      </a:r>
                    </a:p>
                  </a:txBody>
                  <a:tcPr marL="101600" marR="101600" marT="50800" marB="50800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334155"/>
                          </a:solidFill>
                          <a:latin typeface="Segoe UI"/>
                        </a:rPr>
                        <a:t>React Hook Form + Zod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 err="1">
                          <a:solidFill>
                            <a:srgbClr val="334155"/>
                          </a:solidFill>
                          <a:latin typeface="Segoe UI"/>
                        </a:rPr>
                        <a:t>Formulaires</a:t>
                      </a:r>
                      <a:r>
                        <a:rPr sz="1200" b="0" dirty="0">
                          <a:solidFill>
                            <a:srgbClr val="334155"/>
                          </a:solidFill>
                          <a:latin typeface="Segoe UI"/>
                        </a:rPr>
                        <a:t> &amp; validation </a:t>
                      </a:r>
                      <a:r>
                        <a:rPr sz="1200" b="0" dirty="0" err="1">
                          <a:solidFill>
                            <a:srgbClr val="334155"/>
                          </a:solidFill>
                          <a:latin typeface="Segoe UI"/>
                        </a:rPr>
                        <a:t>typée</a:t>
                      </a:r>
                      <a:endParaRPr sz="1200" b="0" dirty="0">
                        <a:solidFill>
                          <a:srgbClr val="334155"/>
                        </a:solidFill>
                        <a:latin typeface="Segoe UI"/>
                      </a:endParaRP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16600" y="1933638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dirty="0">
                <a:solidFill>
                  <a:srgbClr val="0F172A"/>
                </a:solidFill>
                <a:latin typeface="Segoe UI"/>
              </a:rPr>
              <a:t>PWA &amp; Mobile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342855"/>
            <a:ext cx="484632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00" dirty="0">
                <a:solidFill>
                  <a:srgbClr val="7C3AED"/>
                </a:solidFill>
                <a:latin typeface="Segoe UI"/>
              </a:rPr>
              <a:t>●  </a:t>
            </a:r>
            <a:r>
              <a:rPr sz="1300" b="1" dirty="0">
                <a:solidFill>
                  <a:srgbClr val="0F172A"/>
                </a:solidFill>
                <a:latin typeface="Segoe UI"/>
              </a:rPr>
              <a:t>Progressive Web App </a:t>
            </a:r>
            <a:r>
              <a:rPr sz="1300" dirty="0">
                <a:solidFill>
                  <a:srgbClr val="334155"/>
                </a:solidFill>
                <a:latin typeface="Segoe UI"/>
              </a:rPr>
              <a:t>(</a:t>
            </a:r>
            <a:r>
              <a:rPr sz="1300" dirty="0" err="1">
                <a:solidFill>
                  <a:srgbClr val="334155"/>
                </a:solidFill>
                <a:latin typeface="Segoe UI"/>
              </a:rPr>
              <a:t>vite</a:t>
            </a:r>
            <a:r>
              <a:rPr sz="1300" dirty="0">
                <a:solidFill>
                  <a:srgbClr val="334155"/>
                </a:solidFill>
                <a:latin typeface="Segoe UI"/>
              </a:rPr>
              <a:t>-plugin-</a:t>
            </a:r>
            <a:r>
              <a:rPr sz="1300" dirty="0" err="1">
                <a:solidFill>
                  <a:srgbClr val="334155"/>
                </a:solidFill>
                <a:latin typeface="Segoe UI"/>
              </a:rPr>
              <a:t>pwa</a:t>
            </a:r>
            <a:r>
              <a:rPr sz="1300" dirty="0">
                <a:solidFill>
                  <a:srgbClr val="334155"/>
                </a:solidFill>
                <a:latin typeface="Segoe UI"/>
              </a:rPr>
              <a:t>) : installation mobile, </a:t>
            </a:r>
            <a:r>
              <a:rPr sz="1300" dirty="0" err="1">
                <a:solidFill>
                  <a:srgbClr val="334155"/>
                </a:solidFill>
                <a:latin typeface="Segoe UI"/>
              </a:rPr>
              <a:t>fonctionnement</a:t>
            </a:r>
            <a:r>
              <a:rPr sz="13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334155"/>
                </a:solidFill>
                <a:latin typeface="Segoe UI"/>
              </a:rPr>
              <a:t>partiel</a:t>
            </a:r>
            <a:r>
              <a:rPr sz="1300" dirty="0">
                <a:solidFill>
                  <a:srgbClr val="334155"/>
                </a:solidFill>
                <a:latin typeface="Segoe UI"/>
              </a:rPr>
              <a:t> hors-</a:t>
            </a:r>
            <a:r>
              <a:rPr sz="1300" dirty="0" err="1">
                <a:solidFill>
                  <a:srgbClr val="334155"/>
                </a:solidFill>
                <a:latin typeface="Segoe UI"/>
              </a:rPr>
              <a:t>ligne</a:t>
            </a:r>
            <a:r>
              <a:rPr sz="1300" dirty="0">
                <a:solidFill>
                  <a:srgbClr val="334155"/>
                </a:solidFill>
                <a:latin typeface="Segoe UI"/>
              </a:rPr>
              <a:t> — pertinent </a:t>
            </a:r>
            <a:r>
              <a:rPr sz="1300" dirty="0" err="1">
                <a:solidFill>
                  <a:srgbClr val="334155"/>
                </a:solidFill>
                <a:latin typeface="Segoe UI"/>
              </a:rPr>
              <a:t>en</a:t>
            </a:r>
            <a:r>
              <a:rPr sz="13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334155"/>
                </a:solidFill>
                <a:latin typeface="Segoe UI"/>
              </a:rPr>
              <a:t>contexte</a:t>
            </a:r>
            <a:r>
              <a:rPr sz="1300" dirty="0">
                <a:solidFill>
                  <a:srgbClr val="334155"/>
                </a:solidFill>
                <a:latin typeface="Segoe UI"/>
              </a:rPr>
              <a:t> de </a:t>
            </a:r>
            <a:r>
              <a:rPr sz="1300" dirty="0" err="1">
                <a:solidFill>
                  <a:srgbClr val="334155"/>
                </a:solidFill>
                <a:latin typeface="Segoe UI"/>
              </a:rPr>
              <a:t>connectivité</a:t>
            </a:r>
            <a:r>
              <a:rPr sz="13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334155"/>
                </a:solidFill>
                <a:latin typeface="Segoe UI"/>
              </a:rPr>
              <a:t>intermittente</a:t>
            </a:r>
            <a:r>
              <a:rPr sz="1300" dirty="0">
                <a:solidFill>
                  <a:srgbClr val="334155"/>
                </a:solidFill>
                <a:latin typeface="Segoe UI"/>
              </a:rPr>
              <a:t>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00" dirty="0">
                <a:solidFill>
                  <a:srgbClr val="7C3AED"/>
                </a:solidFill>
                <a:latin typeface="Segoe UI"/>
              </a:rPr>
              <a:t>●  </a:t>
            </a:r>
            <a:r>
              <a:rPr sz="1300" b="1" dirty="0">
                <a:solidFill>
                  <a:srgbClr val="0F172A"/>
                </a:solidFill>
                <a:latin typeface="Segoe UI"/>
              </a:rPr>
              <a:t>Application mobile native </a:t>
            </a:r>
            <a:r>
              <a:rPr sz="1300" dirty="0">
                <a:solidFill>
                  <a:srgbClr val="334155"/>
                </a:solidFill>
                <a:latin typeface="Segoe UI"/>
              </a:rPr>
              <a:t>(Expo / React Native + TypeScript) : </a:t>
            </a:r>
            <a:r>
              <a:rPr sz="1300" dirty="0" err="1">
                <a:solidFill>
                  <a:srgbClr val="334155"/>
                </a:solidFill>
                <a:latin typeface="Segoe UI"/>
              </a:rPr>
              <a:t>espace</a:t>
            </a:r>
            <a:r>
              <a:rPr sz="13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334155"/>
                </a:solidFill>
                <a:latin typeface="Segoe UI"/>
              </a:rPr>
              <a:t>dédié</a:t>
            </a:r>
            <a:r>
              <a:rPr sz="13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334155"/>
                </a:solidFill>
                <a:latin typeface="Segoe UI"/>
              </a:rPr>
              <a:t>étudiants</a:t>
            </a:r>
            <a:r>
              <a:rPr sz="1300" dirty="0">
                <a:solidFill>
                  <a:srgbClr val="334155"/>
                </a:solidFill>
                <a:latin typeface="Segoe UI"/>
              </a:rPr>
              <a:t> &amp; </a:t>
            </a:r>
            <a:r>
              <a:rPr sz="1300" dirty="0" err="1">
                <a:solidFill>
                  <a:srgbClr val="334155"/>
                </a:solidFill>
                <a:latin typeface="Segoe UI"/>
              </a:rPr>
              <a:t>enseignants</a:t>
            </a:r>
            <a:r>
              <a:rPr sz="1300" dirty="0">
                <a:solidFill>
                  <a:srgbClr val="334155"/>
                </a:solidFill>
                <a:latin typeface="Segoe UI"/>
              </a:rPr>
              <a:t>, </a:t>
            </a:r>
            <a:r>
              <a:rPr sz="1300" dirty="0" err="1">
                <a:solidFill>
                  <a:srgbClr val="334155"/>
                </a:solidFill>
                <a:latin typeface="Segoe UI"/>
              </a:rPr>
              <a:t>même</a:t>
            </a:r>
            <a:r>
              <a:rPr sz="1300" dirty="0">
                <a:solidFill>
                  <a:srgbClr val="334155"/>
                </a:solidFill>
                <a:latin typeface="Segoe UI"/>
              </a:rPr>
              <a:t> API REST.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480560"/>
            <a:ext cx="4389120" cy="2148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endParaRPr sz="1200" b="0" i="1" dirty="0">
              <a:solidFill>
                <a:srgbClr val="1D4ED8"/>
              </a:solidFill>
              <a:latin typeface="Segoe UI"/>
            </a:endParaRPr>
          </a:p>
        </p:txBody>
      </p:sp>
      <p:pic>
        <p:nvPicPr>
          <p:cNvPr id="1026" name="Picture 2" descr="React Logo Png | React Logo Vector  - freepng">
            <a:extLst>
              <a:ext uri="{FF2B5EF4-FFF2-40B4-BE49-F238E27FC236}">
                <a16:creationId xmlns:a16="http://schemas.microsoft.com/office/drawing/2014/main" id="{C5F9EDC0-0CDE-4AAF-B3D5-E7ACE99F5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1850" y="4057880"/>
            <a:ext cx="864870" cy="864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ypeScript - never타입?">
            <a:extLst>
              <a:ext uri="{FF2B5EF4-FFF2-40B4-BE49-F238E27FC236}">
                <a16:creationId xmlns:a16="http://schemas.microsoft.com/office/drawing/2014/main" id="{29A179E0-95A5-45D2-A3A4-80CAF51344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80" t="31684" r="9541" b="29571"/>
          <a:stretch/>
        </p:blipFill>
        <p:spPr bwMode="auto">
          <a:xfrm>
            <a:off x="7229649" y="4135580"/>
            <a:ext cx="2666192" cy="766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 script to live-edit Tailwind in your browser | by Italo Baeza Cabrera | Medium">
            <a:extLst>
              <a:ext uri="{FF2B5EF4-FFF2-40B4-BE49-F238E27FC236}">
                <a16:creationId xmlns:a16="http://schemas.microsoft.com/office/drawing/2014/main" id="{8B7815CE-FF06-49D3-8FE5-3779F4F3BC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147" b="40757"/>
          <a:stretch/>
        </p:blipFill>
        <p:spPr bwMode="auto">
          <a:xfrm>
            <a:off x="5911850" y="5240188"/>
            <a:ext cx="3475228" cy="594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eact Router Logo Png | React Router Logo Vector  - freepng">
            <a:extLst>
              <a:ext uri="{FF2B5EF4-FFF2-40B4-BE49-F238E27FC236}">
                <a16:creationId xmlns:a16="http://schemas.microsoft.com/office/drawing/2014/main" id="{DE167023-CC34-4747-8050-903D147BE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5083" y="4135580"/>
            <a:ext cx="1596053" cy="1596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538043"/>
            <a:ext cx="1078992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 err="1">
                <a:solidFill>
                  <a:srgbClr val="0F172A"/>
                </a:solidFill>
                <a:latin typeface="Segoe UI Semibold"/>
              </a:rPr>
              <a:t>Acteurs</a:t>
            </a:r>
            <a:r>
              <a:rPr sz="4000" b="1" i="0" dirty="0">
                <a:solidFill>
                  <a:srgbClr val="0F172A"/>
                </a:solidFill>
                <a:latin typeface="Segoe UI Semibold"/>
              </a:rPr>
              <a:t> du </a:t>
            </a:r>
            <a:r>
              <a:rPr sz="4000" b="1" i="0" dirty="0" err="1">
                <a:solidFill>
                  <a:srgbClr val="0F172A"/>
                </a:solidFill>
                <a:latin typeface="Segoe UI Semibold"/>
              </a:rPr>
              <a:t>système</a:t>
            </a:r>
            <a:r>
              <a:rPr sz="4000" b="1" i="0" dirty="0">
                <a:solidFill>
                  <a:srgbClr val="0F172A"/>
                </a:solidFill>
                <a:latin typeface="Segoe UI Semibold"/>
              </a:rPr>
              <a:t> — </a:t>
            </a:r>
            <a:r>
              <a:rPr sz="4000" b="1" i="0" dirty="0" err="1">
                <a:solidFill>
                  <a:srgbClr val="0F172A"/>
                </a:solidFill>
                <a:latin typeface="Segoe UI Semibold"/>
              </a:rPr>
              <a:t>profils</a:t>
            </a:r>
            <a:r>
              <a:rPr sz="4000" b="1" i="0" dirty="0">
                <a:solidFill>
                  <a:srgbClr val="0F172A"/>
                </a:solidFill>
                <a:latin typeface="Segoe UI Semibold"/>
              </a:rPr>
              <a:t> </a:t>
            </a:r>
            <a:r>
              <a:rPr sz="4000" b="1" i="0" dirty="0" err="1">
                <a:solidFill>
                  <a:srgbClr val="0F172A"/>
                </a:solidFill>
                <a:latin typeface="Segoe UI Semibold"/>
              </a:rPr>
              <a:t>utilisateurs</a:t>
            </a:r>
            <a:endParaRPr sz="4000" b="1" i="0" dirty="0">
              <a:solidFill>
                <a:srgbClr val="0F172A"/>
              </a:solidFill>
              <a:latin typeface="Segoe UI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10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13232" y="1874519"/>
            <a:ext cx="3520440" cy="502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1032" y="1965960"/>
            <a:ext cx="3164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Acteurs internes (9)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032" y="2560320"/>
            <a:ext cx="3164840" cy="29723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 dirty="0">
                <a:solidFill>
                  <a:srgbClr val="059669"/>
                </a:solidFill>
                <a:latin typeface="Segoe UI"/>
              </a:rPr>
              <a:t>●  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Super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Administrateur</a:t>
            </a:r>
            <a:endParaRPr sz="1250" dirty="0">
              <a:solidFill>
                <a:srgbClr val="334155"/>
              </a:solidFill>
              <a:latin typeface="Segoe UI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 dirty="0">
                <a:solidFill>
                  <a:srgbClr val="059669"/>
                </a:solidFill>
                <a:latin typeface="Segoe UI"/>
              </a:rPr>
              <a:t>●  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Admin.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Institutionnel</a:t>
            </a:r>
            <a:endParaRPr sz="1250" dirty="0">
              <a:solidFill>
                <a:srgbClr val="334155"/>
              </a:solidFill>
              <a:latin typeface="Segoe UI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 dirty="0">
                <a:solidFill>
                  <a:srgbClr val="059669"/>
                </a:solidFill>
                <a:latin typeface="Segoe UI"/>
              </a:rPr>
              <a:t>●  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Admin.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Scolarité</a:t>
            </a:r>
            <a:endParaRPr sz="1250" dirty="0">
              <a:solidFill>
                <a:srgbClr val="334155"/>
              </a:solidFill>
              <a:latin typeface="Segoe UI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 dirty="0">
                <a:solidFill>
                  <a:srgbClr val="059669"/>
                </a:solidFill>
                <a:latin typeface="Segoe UI"/>
              </a:rPr>
              <a:t>●  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Admin. Financier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 dirty="0">
                <a:solidFill>
                  <a:srgbClr val="059669"/>
                </a:solidFill>
                <a:latin typeface="Segoe UI"/>
              </a:rPr>
              <a:t>● 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Responsable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Pédagogique</a:t>
            </a:r>
            <a:endParaRPr sz="1250" dirty="0">
              <a:solidFill>
                <a:srgbClr val="334155"/>
              </a:solidFill>
              <a:latin typeface="Segoe UI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 dirty="0">
                <a:solidFill>
                  <a:srgbClr val="059669"/>
                </a:solidFill>
                <a:latin typeface="Segoe UI"/>
              </a:rPr>
              <a:t>●  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Chef de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Département</a:t>
            </a:r>
            <a:endParaRPr sz="1250" dirty="0">
              <a:solidFill>
                <a:srgbClr val="334155"/>
              </a:solidFill>
              <a:latin typeface="Segoe UI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 dirty="0">
                <a:solidFill>
                  <a:srgbClr val="059669"/>
                </a:solidFill>
                <a:latin typeface="Segoe UI"/>
              </a:rPr>
              <a:t>● 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Enseignant</a:t>
            </a:r>
            <a:endParaRPr sz="1250" dirty="0">
              <a:solidFill>
                <a:srgbClr val="334155"/>
              </a:solidFill>
              <a:latin typeface="Segoe UI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 dirty="0">
                <a:solidFill>
                  <a:srgbClr val="059669"/>
                </a:solidFill>
                <a:latin typeface="Segoe UI"/>
              </a:rPr>
              <a:t>● 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Encadreur</a:t>
            </a:r>
            <a:endParaRPr sz="1250" dirty="0">
              <a:solidFill>
                <a:srgbClr val="334155"/>
              </a:solidFill>
              <a:latin typeface="Segoe UI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 dirty="0">
                <a:solidFill>
                  <a:srgbClr val="059669"/>
                </a:solidFill>
                <a:latin typeface="Segoe UI"/>
              </a:rPr>
              <a:t>● 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Bibliothécaire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 · Support technique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874519"/>
            <a:ext cx="35204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61688" y="1874519"/>
            <a:ext cx="352044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9488" y="1965960"/>
            <a:ext cx="3164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Acteurs directs (2)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9488" y="2560320"/>
            <a:ext cx="3164840" cy="3383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2563EB"/>
                </a:solidFill>
                <a:latin typeface="Segoe UI"/>
              </a:rPr>
              <a:t>●  </a:t>
            </a:r>
            <a:r>
              <a:rPr sz="1250">
                <a:solidFill>
                  <a:srgbClr val="334155"/>
                </a:solidFill>
                <a:latin typeface="Segoe UI"/>
              </a:rPr>
              <a:t>Étudiant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2563EB"/>
                </a:solidFill>
                <a:latin typeface="Segoe UI"/>
              </a:rPr>
              <a:t>●  </a:t>
            </a:r>
            <a:r>
              <a:rPr sz="1250">
                <a:solidFill>
                  <a:srgbClr val="334155"/>
                </a:solidFill>
                <a:latin typeface="Segoe UI"/>
              </a:rPr>
              <a:t>Doctorant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1874519"/>
            <a:ext cx="35204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10144" y="1874519"/>
            <a:ext cx="3520440" cy="5029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87944" y="1965960"/>
            <a:ext cx="3164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Acteurs externes (3)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7944" y="2560320"/>
            <a:ext cx="3164840" cy="3383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 dirty="0">
                <a:solidFill>
                  <a:srgbClr val="7C3AED"/>
                </a:solidFill>
                <a:latin typeface="Segoe UI"/>
              </a:rPr>
              <a:t>● 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Candidat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 (non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inscrit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 dirty="0">
                <a:solidFill>
                  <a:srgbClr val="7C3AED"/>
                </a:solidFill>
                <a:latin typeface="Segoe UI"/>
              </a:rPr>
              <a:t>● 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Vérificateur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 (public, sans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compte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 dirty="0">
                <a:solidFill>
                  <a:srgbClr val="7C3AED"/>
                </a:solidFill>
                <a:latin typeface="Segoe UI"/>
              </a:rPr>
              <a:t>● 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Invité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 /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Intervenant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externe</a:t>
            </a:r>
            <a:endParaRPr sz="1250" dirty="0">
              <a:solidFill>
                <a:srgbClr val="334155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02920" y="605447"/>
            <a:ext cx="54864" cy="985401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272487"/>
            <a:ext cx="1078992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 err="1">
                <a:solidFill>
                  <a:srgbClr val="0F172A"/>
                </a:solidFill>
                <a:latin typeface="Segoe UI Semibold"/>
              </a:rPr>
              <a:t>Modélisation</a:t>
            </a:r>
            <a:r>
              <a:rPr sz="4000" b="1" i="0" dirty="0">
                <a:solidFill>
                  <a:srgbClr val="0F172A"/>
                </a:solidFill>
                <a:latin typeface="Segoe UI Semibold"/>
              </a:rPr>
              <a:t> UML — Cas </a:t>
            </a:r>
            <a:r>
              <a:rPr sz="4000" b="1" i="0" dirty="0" err="1">
                <a:solidFill>
                  <a:srgbClr val="0F172A"/>
                </a:solidFill>
                <a:latin typeface="Segoe UI Semibold"/>
              </a:rPr>
              <a:t>d'utilisation</a:t>
            </a:r>
            <a:r>
              <a:rPr sz="4000" b="1" i="0" dirty="0">
                <a:solidFill>
                  <a:srgbClr val="0F172A"/>
                </a:solidFill>
                <a:latin typeface="Segoe UI Semibold"/>
              </a:rPr>
              <a:t> (</a:t>
            </a:r>
            <a:r>
              <a:rPr sz="4000" b="1" i="0" dirty="0" err="1">
                <a:solidFill>
                  <a:srgbClr val="0F172A"/>
                </a:solidFill>
                <a:latin typeface="Segoe UI Semibold"/>
              </a:rPr>
              <a:t>vue</a:t>
            </a:r>
            <a:r>
              <a:rPr sz="4000" b="1" i="0" dirty="0">
                <a:solidFill>
                  <a:srgbClr val="0F172A"/>
                </a:solidFill>
                <a:latin typeface="Segoe UI Semibold"/>
              </a:rPr>
              <a:t> </a:t>
            </a:r>
            <a:r>
              <a:rPr sz="4000" b="1" i="0" dirty="0" err="1">
                <a:solidFill>
                  <a:srgbClr val="0F172A"/>
                </a:solidFill>
                <a:latin typeface="Segoe UI Semibold"/>
              </a:rPr>
              <a:t>globale</a:t>
            </a:r>
            <a:r>
              <a:rPr sz="4000" b="1" i="0" dirty="0">
                <a:solidFill>
                  <a:srgbClr val="0F172A"/>
                </a:solidFill>
                <a:latin typeface="Segoe UI Semibold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11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13232" y="1828800"/>
            <a:ext cx="1371600" cy="50292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Admin. Scolarité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04872" y="1783080"/>
            <a:ext cx="3611880" cy="4114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Gérer les candidatures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084832" y="1984248"/>
            <a:ext cx="320040" cy="91440"/>
          </a:xfrm>
          <a:prstGeom prst="line">
            <a:avLst/>
          </a:prstGeom>
          <a:ln w="1270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04872" y="2313432"/>
            <a:ext cx="3611880" cy="4114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Gérer les inscriptions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84832" y="2075688"/>
            <a:ext cx="320040" cy="438912"/>
          </a:xfrm>
          <a:prstGeom prst="line">
            <a:avLst/>
          </a:prstGeom>
          <a:ln w="1270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404872" y="2843784"/>
            <a:ext cx="3611880" cy="4114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Générer documents officiels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084832" y="2075688"/>
            <a:ext cx="320040" cy="969264"/>
          </a:xfrm>
          <a:prstGeom prst="line">
            <a:avLst/>
          </a:prstGeom>
          <a:ln w="1270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404872" y="3374136"/>
            <a:ext cx="3611880" cy="4114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Suivre les dossiers étudiants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084832" y="2075688"/>
            <a:ext cx="320040" cy="1499616"/>
          </a:xfrm>
          <a:prstGeom prst="line">
            <a:avLst/>
          </a:prstGeom>
          <a:ln w="1270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199632" y="1828800"/>
            <a:ext cx="1371600" cy="50292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Admin. Financier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91272" y="1783080"/>
            <a:ext cx="3611880" cy="4114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Gérer les factures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7571232" y="1984248"/>
            <a:ext cx="320040" cy="91440"/>
          </a:xfrm>
          <a:prstGeom prst="line">
            <a:avLst/>
          </a:prstGeom>
          <a:ln w="127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891272" y="2313432"/>
            <a:ext cx="3611880" cy="4114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Enregistrer les paiements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571232" y="2075688"/>
            <a:ext cx="320040" cy="438912"/>
          </a:xfrm>
          <a:prstGeom prst="line">
            <a:avLst/>
          </a:prstGeom>
          <a:ln w="127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891272" y="2843784"/>
            <a:ext cx="3611880" cy="4114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Gérer bourses / exonérations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571232" y="2075688"/>
            <a:ext cx="320040" cy="969264"/>
          </a:xfrm>
          <a:prstGeom prst="line">
            <a:avLst/>
          </a:prstGeom>
          <a:ln w="127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891272" y="3374136"/>
            <a:ext cx="3611880" cy="4114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Consulter le journal de caisse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571232" y="2075688"/>
            <a:ext cx="320040" cy="1499616"/>
          </a:xfrm>
          <a:prstGeom prst="line">
            <a:avLst/>
          </a:prstGeom>
          <a:ln w="127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13232" y="4069080"/>
            <a:ext cx="137160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Enseignant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04872" y="4023360"/>
            <a:ext cx="3611880" cy="4114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Gérer ses espaces LMS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2084832" y="4224528"/>
            <a:ext cx="320040" cy="91440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404872" y="4553712"/>
            <a:ext cx="3611880" cy="4114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Saisir les notes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084832" y="4315968"/>
            <a:ext cx="320040" cy="438912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2404872" y="5084064"/>
            <a:ext cx="3611880" cy="4114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Prendre les présences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084832" y="4315968"/>
            <a:ext cx="320040" cy="969264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2404872" y="5614416"/>
            <a:ext cx="3611880" cy="4114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Superviser devoirs &amp; classes virtuelles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084832" y="4315968"/>
            <a:ext cx="320040" cy="1499616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199632" y="4069080"/>
            <a:ext cx="137160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Étudiant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91272" y="4023360"/>
            <a:ext cx="3611880" cy="4114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Consulter notes &amp; emploi du temps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7571232" y="4224528"/>
            <a:ext cx="320040" cy="9144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891272" y="4553712"/>
            <a:ext cx="3611880" cy="4114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Accéder au campus numérique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571232" y="4315968"/>
            <a:ext cx="320040" cy="438912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891272" y="5084064"/>
            <a:ext cx="3611880" cy="4114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Suivre sa situation financière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571232" y="4315968"/>
            <a:ext cx="320040" cy="969264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891272" y="5614416"/>
            <a:ext cx="3611880" cy="4114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Vérifier ses documents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571232" y="4315968"/>
            <a:ext cx="320040" cy="1499616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A168E9F-662D-47E5-A074-2BC785B0787A}"/>
              </a:ext>
            </a:extLst>
          </p:cNvPr>
          <p:cNvCxnSpPr>
            <a:cxnSpLocks/>
          </p:cNvCxnSpPr>
          <p:nvPr/>
        </p:nvCxnSpPr>
        <p:spPr>
          <a:xfrm>
            <a:off x="-128833" y="3893272"/>
            <a:ext cx="12320833" cy="680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D850E2C-41E8-4E29-9A19-BDEA7483445A}"/>
              </a:ext>
            </a:extLst>
          </p:cNvPr>
          <p:cNvCxnSpPr>
            <a:cxnSpLocks/>
          </p:cNvCxnSpPr>
          <p:nvPr/>
        </p:nvCxnSpPr>
        <p:spPr>
          <a:xfrm flipH="1" flipV="1">
            <a:off x="6106686" y="1536192"/>
            <a:ext cx="1505" cy="4937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D7E85B8-1F92-4938-990B-4525857AF097}"/>
              </a:ext>
            </a:extLst>
          </p:cNvPr>
          <p:cNvCxnSpPr/>
          <p:nvPr/>
        </p:nvCxnSpPr>
        <p:spPr>
          <a:xfrm>
            <a:off x="-52225" y="1524977"/>
            <a:ext cx="12320833" cy="531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D560F64-9012-4F5D-ADC1-58454A3C0E27}"/>
              </a:ext>
            </a:extLst>
          </p:cNvPr>
          <p:cNvCxnSpPr/>
          <p:nvPr/>
        </p:nvCxnSpPr>
        <p:spPr>
          <a:xfrm>
            <a:off x="-52225" y="6453592"/>
            <a:ext cx="12320833" cy="531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A290A08-388C-4F39-984D-D88E9D38E70F}"/>
              </a:ext>
            </a:extLst>
          </p:cNvPr>
          <p:cNvCxnSpPr>
            <a:cxnSpLocks/>
          </p:cNvCxnSpPr>
          <p:nvPr/>
        </p:nvCxnSpPr>
        <p:spPr>
          <a:xfrm>
            <a:off x="-43835" y="8978"/>
            <a:ext cx="12320833" cy="74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BD346E-3D4C-46E6-AD99-1F1B8AB4DDDA}"/>
              </a:ext>
            </a:extLst>
          </p:cNvPr>
          <p:cNvSpPr/>
          <p:nvPr/>
        </p:nvSpPr>
        <p:spPr>
          <a:xfrm>
            <a:off x="497840" y="148247"/>
            <a:ext cx="54864" cy="985401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FFA97C-6738-41F7-B6E9-84504BA618B2}"/>
              </a:ext>
            </a:extLst>
          </p:cNvPr>
          <p:cNvSpPr txBox="1"/>
          <p:nvPr/>
        </p:nvSpPr>
        <p:spPr>
          <a:xfrm>
            <a:off x="713232" y="272487"/>
            <a:ext cx="1078992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 err="1">
                <a:solidFill>
                  <a:srgbClr val="0F172A"/>
                </a:solidFill>
                <a:latin typeface="Segoe UI Semibold"/>
              </a:rPr>
              <a:t>Modélisation</a:t>
            </a:r>
            <a:r>
              <a:rPr sz="4000" b="1" i="0" dirty="0">
                <a:solidFill>
                  <a:srgbClr val="0F172A"/>
                </a:solidFill>
                <a:latin typeface="Segoe UI Semibold"/>
              </a:rPr>
              <a:t> UML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D15ED0-71FD-40D7-96CE-CA04F38FB57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0800" y="762000"/>
            <a:ext cx="5354319" cy="60959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9E629C-5E92-41EB-891E-FB4EF15CEFD1}"/>
              </a:ext>
            </a:extLst>
          </p:cNvPr>
          <p:cNvSpPr txBox="1"/>
          <p:nvPr/>
        </p:nvSpPr>
        <p:spPr>
          <a:xfrm>
            <a:off x="497840" y="1678859"/>
            <a:ext cx="515410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Ce diagramme présente les principales fonctionnalités accessibles à l’administrateur institutionnel sur la plateforme universitaire TIRAHOU. Il lui permet de piloter les indicateurs académiques, générer des rapports et gérer l’organisation ainsi que les programmes de formation</a:t>
            </a:r>
          </a:p>
        </p:txBody>
      </p:sp>
    </p:spTree>
    <p:extLst>
      <p:ext uri="{BB962C8B-B14F-4D97-AF65-F5344CB8AC3E}">
        <p14:creationId xmlns:p14="http://schemas.microsoft.com/office/powerpoint/2010/main" val="1807286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C2C2EF-D649-4934-9E68-D20624D3F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238" y="788048"/>
            <a:ext cx="6498401" cy="6069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3A7E72-4ABF-4F37-9E53-F740A817F285}"/>
              </a:ext>
            </a:extLst>
          </p:cNvPr>
          <p:cNvSpPr txBox="1"/>
          <p:nvPr/>
        </p:nvSpPr>
        <p:spPr>
          <a:xfrm>
            <a:off x="604520" y="177925"/>
            <a:ext cx="11226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fr-FR" sz="3200" b="1" i="0" dirty="0">
                <a:latin typeface="Segoe UI Semibold"/>
              </a:rPr>
              <a:t>Modélisation UML — Diagramme de classe (vue globale)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F98674-3FA8-408B-A41E-05C34CA84B30}"/>
              </a:ext>
            </a:extLst>
          </p:cNvPr>
          <p:cNvSpPr/>
          <p:nvPr/>
        </p:nvSpPr>
        <p:spPr>
          <a:xfrm>
            <a:off x="360680" y="112746"/>
            <a:ext cx="54864" cy="985401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797302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9516" y="214030"/>
            <a:ext cx="10789920" cy="1231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 dirty="0" err="1">
                <a:solidFill>
                  <a:srgbClr val="0F172A"/>
                </a:solidFill>
                <a:latin typeface="Segoe UI Semibold"/>
              </a:rPr>
              <a:t>Identités</a:t>
            </a:r>
            <a:r>
              <a:rPr sz="4000" b="1" dirty="0">
                <a:solidFill>
                  <a:srgbClr val="0F172A"/>
                </a:solidFill>
                <a:latin typeface="Segoe UI Semibold"/>
              </a:rPr>
              <a:t> &amp; </a:t>
            </a:r>
            <a:r>
              <a:rPr sz="4000" b="1" dirty="0" err="1">
                <a:solidFill>
                  <a:srgbClr val="0F172A"/>
                </a:solidFill>
                <a:latin typeface="Segoe UI Semibold"/>
              </a:rPr>
              <a:t>sécurité</a:t>
            </a:r>
            <a:r>
              <a:rPr sz="4000" b="1" dirty="0">
                <a:solidFill>
                  <a:srgbClr val="0F172A"/>
                </a:solidFill>
                <a:latin typeface="Segoe UI Semibold"/>
              </a:rPr>
              <a:t> — </a:t>
            </a:r>
            <a:r>
              <a:rPr sz="4000" b="1" dirty="0" err="1">
                <a:solidFill>
                  <a:srgbClr val="0F172A"/>
                </a:solidFill>
                <a:latin typeface="Segoe UI Semibold"/>
              </a:rPr>
              <a:t>utilisateurs</a:t>
            </a:r>
            <a:r>
              <a:rPr sz="4000" b="1" dirty="0">
                <a:solidFill>
                  <a:srgbClr val="0F172A"/>
                </a:solidFill>
                <a:latin typeface="Segoe UI Semibold"/>
              </a:rPr>
              <a:t>, </a:t>
            </a:r>
            <a:r>
              <a:rPr sz="4000" b="1" dirty="0" err="1">
                <a:solidFill>
                  <a:srgbClr val="0F172A"/>
                </a:solidFill>
                <a:latin typeface="Segoe UI Semibold"/>
              </a:rPr>
              <a:t>rôles</a:t>
            </a:r>
            <a:r>
              <a:rPr sz="4000" b="1" dirty="0">
                <a:solidFill>
                  <a:srgbClr val="0F172A"/>
                </a:solidFill>
                <a:latin typeface="Segoe UI Semibold"/>
              </a:rPr>
              <a:t>, permissions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28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360096" y="1500000"/>
            <a:ext cx="7468760" cy="43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03_Ident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696" y="1728600"/>
            <a:ext cx="7011560" cy="3842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3224BD3-D585-4D60-B866-5F86436D0AD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560" y="1235710"/>
            <a:ext cx="9875520" cy="562229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A9C9F17-C497-4DD8-BA46-1E40FFCDE11D}"/>
              </a:ext>
            </a:extLst>
          </p:cNvPr>
          <p:cNvSpPr/>
          <p:nvPr/>
        </p:nvSpPr>
        <p:spPr>
          <a:xfrm>
            <a:off x="502920" y="402247"/>
            <a:ext cx="54864" cy="985401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B35641-92E4-488C-9FAE-01D21BFDC973}"/>
              </a:ext>
            </a:extLst>
          </p:cNvPr>
          <p:cNvSpPr txBox="1"/>
          <p:nvPr/>
        </p:nvSpPr>
        <p:spPr>
          <a:xfrm>
            <a:off x="713232" y="272487"/>
            <a:ext cx="1078992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 err="1">
                <a:solidFill>
                  <a:srgbClr val="0F172A"/>
                </a:solidFill>
                <a:latin typeface="Segoe UI Semibold"/>
              </a:rPr>
              <a:t>Modélisation</a:t>
            </a:r>
            <a:r>
              <a:rPr sz="4000" b="1" i="0" dirty="0">
                <a:solidFill>
                  <a:srgbClr val="0F172A"/>
                </a:solidFill>
                <a:latin typeface="Segoe UI Semibold"/>
              </a:rPr>
              <a:t> UML — </a:t>
            </a:r>
            <a:r>
              <a:rPr lang="en-US" sz="4000" b="1" i="0" dirty="0" err="1">
                <a:solidFill>
                  <a:srgbClr val="0F172A"/>
                </a:solidFill>
                <a:latin typeface="Segoe UI Semibold"/>
              </a:rPr>
              <a:t>diagramme</a:t>
            </a:r>
            <a:r>
              <a:rPr lang="en-US" sz="4000" b="1" i="0" dirty="0">
                <a:solidFill>
                  <a:srgbClr val="0F172A"/>
                </a:solidFill>
                <a:latin typeface="Segoe UI Semibold"/>
              </a:rPr>
              <a:t> de sequence </a:t>
            </a:r>
            <a:endParaRPr sz="4000" b="1" i="0" dirty="0">
              <a:solidFill>
                <a:srgbClr val="0F172A"/>
              </a:solidFill>
              <a:latin typeface="Segoe UI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939627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9516" y="538043"/>
            <a:ext cx="1078992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>
                <a:solidFill>
                  <a:srgbClr val="0F172A"/>
                </a:solidFill>
                <a:latin typeface="Segoe UI Semibold"/>
              </a:rPr>
              <a:t>Architecture du </a:t>
            </a:r>
            <a:r>
              <a:rPr sz="4000" b="1" i="0" dirty="0" err="1">
                <a:solidFill>
                  <a:srgbClr val="0F172A"/>
                </a:solidFill>
                <a:latin typeface="Segoe UI Semibold"/>
              </a:rPr>
              <a:t>système</a:t>
            </a:r>
            <a:r>
              <a:rPr sz="4000" b="1" i="0" dirty="0">
                <a:solidFill>
                  <a:srgbClr val="0F172A"/>
                </a:solidFill>
                <a:latin typeface="Segoe UI Semibold"/>
              </a:rPr>
              <a:t> — 3 couches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12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280160" y="1783080"/>
            <a:ext cx="9601200" cy="123444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54480" y="1910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COUCHE PRÉSENTATION — 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16480"/>
            <a:ext cx="9144000" cy="599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E2E8F0"/>
                </a:solidFill>
                <a:latin typeface="Segoe UI"/>
              </a:rPr>
              <a:t>React 19 SPA/PWA · TypeScript · Vite · Tailwind CSS + Radix UI · React Router v7 (routes protégées par rôle) · TanStack Query + Zustand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008376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64748B"/>
                </a:solidFill>
                <a:latin typeface="Segoe UI"/>
              </a:rPr>
              <a:t>HTTPS · JSON · JWT Bearer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43600" y="3209544"/>
            <a:ext cx="256032" cy="137160"/>
          </a:xfrm>
          <a:prstGeom prst="down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280160" y="3364992"/>
            <a:ext cx="9601200" cy="14173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54480" y="349199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COUCHE APPLICATIVE — API 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898392"/>
            <a:ext cx="9144000" cy="782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E2E8F0"/>
                </a:solidFill>
                <a:latin typeface="Segoe UI"/>
              </a:rPr>
              <a:t>Django 5.2 + DRF · 19 applications à responsabilité unique · JWT Auth · RBAC (Role/Permission) · Audit Log · Rate Limiting · CORS · OpenAPI/Swagger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291840" y="4828032"/>
            <a:ext cx="274320" cy="219456"/>
          </a:xfrm>
          <a:prstGeom prst="down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Down Arrow 17"/>
          <p:cNvSpPr/>
          <p:nvPr/>
        </p:nvSpPr>
        <p:spPr>
          <a:xfrm>
            <a:off x="8138160" y="4828032"/>
            <a:ext cx="274320" cy="219456"/>
          </a:xfrm>
          <a:prstGeom prst="down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280160" y="5074920"/>
            <a:ext cx="4663440" cy="1143000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08760" y="5148072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COUCHE DONNÉES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5468112"/>
            <a:ext cx="4297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E2E8F0"/>
                </a:solidFill>
                <a:latin typeface="Segoe UI"/>
              </a:rPr>
              <a:t>PostgreSQL (prod) / SQLite (dev) · Django ORM · Migrations versionnées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5074920"/>
            <a:ext cx="4663440" cy="114300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5148072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SERVICES EXTERNES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468112"/>
            <a:ext cx="4297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E2E8F0"/>
                </a:solidFill>
                <a:latin typeface="Segoe UI"/>
              </a:rPr>
              <a:t>Redis (cache + broker Celery) · SMTP · BBB/Jitsi/Zoom · Stockage fichiers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444063"/>
            <a:ext cx="1078992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>
                <a:solidFill>
                  <a:srgbClr val="0F172A"/>
                </a:solidFill>
                <a:latin typeface="Segoe UI Semibold"/>
              </a:rPr>
              <a:t>21 modules Django à </a:t>
            </a:r>
            <a:r>
              <a:rPr sz="4000" b="1" i="0" dirty="0" err="1">
                <a:solidFill>
                  <a:srgbClr val="0F172A"/>
                </a:solidFill>
                <a:latin typeface="Segoe UI Semibold"/>
              </a:rPr>
              <a:t>responsabilité</a:t>
            </a:r>
            <a:r>
              <a:rPr sz="4000" b="1" i="0" dirty="0">
                <a:solidFill>
                  <a:srgbClr val="0F172A"/>
                </a:solidFill>
                <a:latin typeface="Segoe UI Semibold"/>
              </a:rPr>
              <a:t> unique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13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13232" y="1828800"/>
            <a:ext cx="52578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1032" y="195580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Segoe UI"/>
              </a:rPr>
              <a:t>Académique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032" y="2489200"/>
            <a:ext cx="713232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/>
              </a:rPr>
              <a:t>apps.core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05864" y="2489200"/>
            <a:ext cx="1133856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/>
              </a:rPr>
              <a:t>apps.accounts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41320" y="2489200"/>
            <a:ext cx="1133856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/>
              </a:rPr>
              <a:t>apps.academic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76776" y="2489200"/>
            <a:ext cx="1133856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/>
              </a:rPr>
              <a:t>apps.programs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032" y="2946400"/>
            <a:ext cx="923544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/>
              </a:rPr>
              <a:t>apps.people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1828800"/>
            <a:ext cx="52578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77432" y="195580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Segoe UI"/>
              </a:rPr>
              <a:t>Parcours étudiant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77432" y="2489200"/>
            <a:ext cx="1344168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/>
              </a:rPr>
              <a:t>apps.admissions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23200" y="2489200"/>
            <a:ext cx="1344168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/>
              </a:rPr>
              <a:t>apps.enrollment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8968" y="2489200"/>
            <a:ext cx="1028700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/>
              </a:rPr>
              <a:t>apps.finance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7432" y="2946400"/>
            <a:ext cx="1239012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/>
              </a:rPr>
              <a:t>apps.documents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114800"/>
            <a:ext cx="52578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1032" y="424180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Segoe UI"/>
              </a:rPr>
              <a:t>Pédagogie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1032" y="4775200"/>
            <a:ext cx="1344168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/>
              </a:rPr>
              <a:t>apps.evaluation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36800" y="4775200"/>
            <a:ext cx="608076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/>
              </a:rPr>
              <a:t>apps.lms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46476" y="4775200"/>
            <a:ext cx="1659636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/>
              </a:rPr>
              <a:t>apps.virtual_class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1032" y="5232400"/>
            <a:ext cx="1344168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/>
              </a:rPr>
              <a:t>apps.attendance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36800" y="5232400"/>
            <a:ext cx="1764792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/>
              </a:rPr>
              <a:t>apps.scheduling_app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4114800"/>
            <a:ext cx="52578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77432" y="424180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Segoe UI"/>
              </a:rPr>
              <a:t>Support &amp; pilotage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77432" y="4775200"/>
            <a:ext cx="1449324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/>
              </a:rPr>
              <a:t>apps.internships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28356" y="4775200"/>
            <a:ext cx="1659636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/>
              </a:rPr>
              <a:t>apps.communication</a:t>
            </a:r>
          </a:p>
        </p:txBody>
      </p:sp>
      <p:sp>
        <p:nvSpPr>
          <p:cNvPr id="36" name="Rounded Rectangle 31"/>
          <p:cNvSpPr/>
          <p:nvPr/>
        </p:nvSpPr>
        <p:spPr>
          <a:xfrm>
            <a:off x="7928356" y="4775200"/>
            <a:ext cx="1659636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/>
              </a:rPr>
              <a:t>apps.communication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668" y="5232400"/>
            <a:ext cx="1028700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/>
              </a:rPr>
              <a:t>apps.library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77432" y="5232400"/>
            <a:ext cx="1659636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/>
              </a:rPr>
              <a:t>apps.analytics_app</a:t>
            </a:r>
          </a:p>
        </p:txBody>
      </p:sp>
      <p:sp>
        <p:nvSpPr>
          <p:cNvPr id="37" name="Rounded Rectangle 33"/>
          <p:cNvSpPr/>
          <p:nvPr/>
        </p:nvSpPr>
        <p:spPr>
          <a:xfrm>
            <a:off x="6377432" y="5689600"/>
            <a:ext cx="1659636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/>
              </a:rPr>
              <a:t>apps.marketplace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668" y="5689600"/>
            <a:ext cx="1028700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/>
              </a:rPr>
              <a:t>apps.chatbot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532090"/>
            <a:ext cx="1078992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 err="1">
                <a:solidFill>
                  <a:srgbClr val="0F172A"/>
                </a:solidFill>
                <a:latin typeface="Segoe UI Semibold"/>
              </a:rPr>
              <a:t>Sécurité</a:t>
            </a:r>
            <a:r>
              <a:rPr sz="4000" b="1" i="0" dirty="0">
                <a:solidFill>
                  <a:srgbClr val="0F172A"/>
                </a:solidFill>
                <a:latin typeface="Segoe UI Semibold"/>
              </a:rPr>
              <a:t> de la </a:t>
            </a:r>
            <a:r>
              <a:rPr sz="4000" b="1" i="0" dirty="0" err="1">
                <a:solidFill>
                  <a:srgbClr val="0F172A"/>
                </a:solidFill>
                <a:latin typeface="Segoe UI Semibold"/>
              </a:rPr>
              <a:t>plateforme</a:t>
            </a:r>
            <a:endParaRPr sz="4000" b="1" i="0" dirty="0">
              <a:solidFill>
                <a:srgbClr val="0F172A"/>
              </a:solidFill>
              <a:latin typeface="Segoe UI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14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13232" y="1874519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91032" y="2052319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FEF2F2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1032" y="2712719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Segoe UI"/>
              </a:rPr>
              <a:t>RBAC granulaire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032" y="3144519"/>
            <a:ext cx="3246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13 rôles × permissions par module et par action ; contrôle d'accès vérifié à chaque requête.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2" y="1874519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94352" y="2052319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FEF2F2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4352" y="2712719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Segoe UI"/>
              </a:rPr>
              <a:t>JWT avec rotation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4352" y="3144519"/>
            <a:ext cx="3246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Access token courte durée, refresh token 7 jours, blacklist des tokens révoqués à la déconnexion.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874519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97672" y="2052319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FEF2F2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97672" y="2712719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Segoe UI"/>
              </a:rPr>
              <a:t>Audit log exhaustif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7672" y="3144519"/>
            <a:ext cx="3246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Journalisation de toutes les opérations sensibles : qui, quoi, quand, sur quelle ressource.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023359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91032" y="4201159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FEF2F2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1032" y="4861559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Segoe UI"/>
              </a:rPr>
              <a:t>Rate limiting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032" y="5293359"/>
            <a:ext cx="3246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Throttling par classe d'utilisateur pour limiter les abus et les attaques par force brute.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16552" y="4023359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594352" y="4201159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FEF2F2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94352" y="4861559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Segoe UI"/>
              </a:rPr>
              <a:t>Vérification de documents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4352" y="5293359"/>
            <a:ext cx="3246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QR code + code unique sur chaque document généré, vérifiable publiquement sans compte (/verify/[code]).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19872" y="4023359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297672" y="4201159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FEF2F2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97672" y="4861559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Segoe UI"/>
              </a:rPr>
              <a:t>Sécurité HTTP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7672" y="5293359"/>
            <a:ext cx="3246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HTTPS forcé, HSTS, CORS strict, protections CSRF/XSS/injection SQL natives Django.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4383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541391"/>
            <a:ext cx="1078992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>
                <a:solidFill>
                  <a:srgbClr val="0F172A"/>
                </a:solidFill>
                <a:latin typeface="Segoe UI Semibold"/>
              </a:rPr>
              <a:t>Interface — Tableau de bord </a:t>
            </a:r>
            <a:r>
              <a:rPr sz="4000" b="1" i="0" dirty="0" err="1">
                <a:solidFill>
                  <a:srgbClr val="0F172A"/>
                </a:solidFill>
                <a:latin typeface="Segoe UI Semibold"/>
              </a:rPr>
              <a:t>institutionnel</a:t>
            </a:r>
            <a:endParaRPr sz="4000" b="1" i="0" dirty="0">
              <a:solidFill>
                <a:srgbClr val="0F172A"/>
              </a:solidFill>
              <a:latin typeface="Segoe UI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232" y="120700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64748B"/>
                </a:solidFill>
                <a:latin typeface="Segoe UI"/>
              </a:rPr>
              <a:t>Capture réelle de la plateforme déployée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15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286431" y="2245357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0F172A"/>
                </a:solidFill>
                <a:latin typeface="Segoe UI"/>
              </a:rPr>
              <a:t>Ce que </a:t>
            </a:r>
            <a:r>
              <a:rPr sz="1350" b="1" i="0" dirty="0" err="1">
                <a:solidFill>
                  <a:srgbClr val="0F172A"/>
                </a:solidFill>
                <a:latin typeface="Segoe UI"/>
              </a:rPr>
              <a:t>voit</a:t>
            </a:r>
            <a:r>
              <a:rPr sz="1350" b="1" i="0" dirty="0">
                <a:solidFill>
                  <a:srgbClr val="0F172A"/>
                </a:solidFill>
                <a:latin typeface="Segoe UI"/>
              </a:rPr>
              <a:t> </a:t>
            </a:r>
            <a:r>
              <a:rPr sz="1350" b="1" i="0" dirty="0" err="1">
                <a:solidFill>
                  <a:srgbClr val="0F172A"/>
                </a:solidFill>
                <a:latin typeface="Segoe UI"/>
              </a:rPr>
              <a:t>l'administrateur</a:t>
            </a:r>
            <a:endParaRPr sz="1350" b="1" i="0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494215" y="2623308"/>
            <a:ext cx="3063240" cy="212340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 dirty="0">
                <a:solidFill>
                  <a:srgbClr val="2563EB"/>
                </a:solidFill>
                <a:latin typeface="Segoe UI"/>
              </a:rPr>
              <a:t>●  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4 KPI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en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 un coup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d'œil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 :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étudiants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,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enseignants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,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revenus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,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cours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actifs</a:t>
            </a:r>
            <a:endParaRPr sz="1250" dirty="0">
              <a:solidFill>
                <a:srgbClr val="334155"/>
              </a:solidFill>
              <a:latin typeface="Segoe UI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 dirty="0">
                <a:solidFill>
                  <a:srgbClr val="2563EB"/>
                </a:solidFill>
                <a:latin typeface="Segoe UI"/>
              </a:rPr>
              <a:t>●  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Résumé financier :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encaissé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 vs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facturé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,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taux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 de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collecte</a:t>
            </a:r>
            <a:endParaRPr sz="1250" dirty="0">
              <a:solidFill>
                <a:srgbClr val="334155"/>
              </a:solidFill>
              <a:latin typeface="Segoe UI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 dirty="0">
                <a:solidFill>
                  <a:srgbClr val="2563EB"/>
                </a:solidFill>
                <a:latin typeface="Segoe UI"/>
              </a:rPr>
              <a:t>● 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Indicateurs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pédagogiques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 :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taux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 de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réussite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, documents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générés</a:t>
            </a:r>
            <a:endParaRPr sz="1250" dirty="0">
              <a:solidFill>
                <a:srgbClr val="334155"/>
              </a:solidFill>
              <a:latin typeface="Segoe UI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 dirty="0">
                <a:solidFill>
                  <a:srgbClr val="2563EB"/>
                </a:solidFill>
                <a:latin typeface="Segoe UI"/>
              </a:rPr>
              <a:t>●  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Journal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d'audit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 et actions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rapides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contextualisées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 par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rôle</a:t>
            </a:r>
            <a:endParaRPr sz="1250" dirty="0">
              <a:solidFill>
                <a:srgbClr val="334155"/>
              </a:solidFill>
              <a:latin typeface="Segoe U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C26DA7C-6406-4882-BC2A-753DC923D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622832"/>
            <a:ext cx="8482033" cy="469377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9516" y="538043"/>
            <a:ext cx="1078992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>
                <a:solidFill>
                  <a:srgbClr val="0F172A"/>
                </a:solidFill>
                <a:latin typeface="Segoe UI Semibold"/>
              </a:rPr>
              <a:t>Interfaces — </a:t>
            </a:r>
            <a:r>
              <a:rPr sz="4000" b="1" i="0" dirty="0" err="1">
                <a:solidFill>
                  <a:srgbClr val="0F172A"/>
                </a:solidFill>
                <a:latin typeface="Segoe UI Semibold"/>
              </a:rPr>
              <a:t>Espace</a:t>
            </a:r>
            <a:r>
              <a:rPr sz="4000" b="1" i="0" dirty="0">
                <a:solidFill>
                  <a:srgbClr val="0F172A"/>
                </a:solidFill>
                <a:latin typeface="Segoe UI Semibold"/>
              </a:rPr>
              <a:t> </a:t>
            </a:r>
            <a:r>
              <a:rPr sz="4000" b="1" i="0" dirty="0" err="1">
                <a:solidFill>
                  <a:srgbClr val="0F172A"/>
                </a:solidFill>
                <a:latin typeface="Segoe UI Semibold"/>
              </a:rPr>
              <a:t>étudiant</a:t>
            </a:r>
            <a:r>
              <a:rPr sz="4000" b="1" i="0" dirty="0">
                <a:solidFill>
                  <a:srgbClr val="0F172A"/>
                </a:solidFill>
                <a:latin typeface="Segoe UI Semibold"/>
              </a:rPr>
              <a:t> &amp; </a:t>
            </a:r>
            <a:r>
              <a:rPr sz="4000" b="1" i="0" dirty="0" err="1">
                <a:solidFill>
                  <a:srgbClr val="0F172A"/>
                </a:solidFill>
                <a:latin typeface="Segoe UI Semibold"/>
              </a:rPr>
              <a:t>enseignant</a:t>
            </a:r>
            <a:endParaRPr sz="4000" b="1" i="0" dirty="0">
              <a:solidFill>
                <a:srgbClr val="0F172A"/>
              </a:solidFill>
              <a:latin typeface="Segoe UI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232" y="1403095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64748B"/>
                </a:solidFill>
                <a:latin typeface="Segoe UI"/>
              </a:rPr>
              <a:t>Navigation simplifiée, une vue résumée par domaine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16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6111239"/>
            <a:ext cx="5440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64748B"/>
                </a:solidFill>
                <a:latin typeface="Segoe UI"/>
              </a:rPr>
              <a:t>Espace étudiant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6111239"/>
            <a:ext cx="5440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64748B"/>
                </a:solidFill>
                <a:latin typeface="Segoe UI"/>
              </a:rPr>
              <a:t>Espace enseignant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F651E8B-222C-4294-9164-A9EC0326F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998591"/>
            <a:ext cx="6040117" cy="406845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56B8264-CBC7-4491-B4FC-E339B6C76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9" y="2018354"/>
            <a:ext cx="5935963" cy="404741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9516" y="384047"/>
            <a:ext cx="1078992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 err="1">
                <a:solidFill>
                  <a:srgbClr val="0F172A"/>
                </a:solidFill>
                <a:latin typeface="Segoe UI Semibold"/>
              </a:rPr>
              <a:t>Fonctionnalité</a:t>
            </a:r>
            <a:r>
              <a:rPr sz="4000" b="1" i="0" dirty="0">
                <a:solidFill>
                  <a:srgbClr val="0F172A"/>
                </a:solidFill>
                <a:latin typeface="Segoe UI Semibold"/>
              </a:rPr>
              <a:t> phare — </a:t>
            </a:r>
            <a:r>
              <a:rPr sz="4000" b="1" i="0" dirty="0" err="1">
                <a:solidFill>
                  <a:srgbClr val="0F172A"/>
                </a:solidFill>
                <a:latin typeface="Segoe UI Semibold"/>
              </a:rPr>
              <a:t>Évaluation</a:t>
            </a:r>
            <a:r>
              <a:rPr sz="4000" b="1" i="0" dirty="0">
                <a:solidFill>
                  <a:srgbClr val="0F172A"/>
                </a:solidFill>
                <a:latin typeface="Segoe UI Semibold"/>
              </a:rPr>
              <a:t> &amp; </a:t>
            </a:r>
            <a:r>
              <a:rPr sz="4000" b="1" i="0" dirty="0" err="1">
                <a:solidFill>
                  <a:srgbClr val="0F172A"/>
                </a:solidFill>
                <a:latin typeface="Segoe UI Semibold"/>
              </a:rPr>
              <a:t>délibérations</a:t>
            </a:r>
            <a:r>
              <a:rPr sz="4000" b="1" i="0" dirty="0">
                <a:solidFill>
                  <a:srgbClr val="0F172A"/>
                </a:solidFill>
                <a:latin typeface="Segoe UI Semibold"/>
              </a:rPr>
              <a:t> LMD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17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" y="2103120"/>
            <a:ext cx="2011680" cy="100584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Saisie CC + Examen
par enseignant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77160" y="2450592"/>
            <a:ext cx="146304" cy="256032"/>
          </a:xfrm>
          <a:prstGeom prst="rightArrow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788920" y="2103120"/>
            <a:ext cx="2011680" cy="100584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Calcul auto pondéré
(40% / 60%)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26000" y="2450592"/>
            <a:ext cx="146304" cy="256032"/>
          </a:xfrm>
          <a:prstGeom prst="rightArrow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937760" y="2103120"/>
            <a:ext cx="2011680" cy="100584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Compensation
EC → UE → Semestre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974840" y="2450592"/>
            <a:ext cx="146304" cy="256032"/>
          </a:xfrm>
          <a:prstGeom prst="rightArrow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086600" y="2103120"/>
            <a:ext cx="2011680" cy="100584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Décision de jury
+ mentions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123680" y="2450592"/>
            <a:ext cx="146304" cy="256032"/>
          </a:xfrm>
          <a:prstGeom prst="rightArrow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235440" y="2103120"/>
            <a:ext cx="2011680" cy="100584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Publication
&amp; notification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657600"/>
            <a:ext cx="10607040" cy="2468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00">
                <a:solidFill>
                  <a:srgbClr val="2563EB"/>
                </a:solidFill>
                <a:latin typeface="Segoe UI"/>
              </a:rPr>
              <a:t>●  </a:t>
            </a:r>
            <a:r>
              <a:rPr sz="1400" b="1">
                <a:solidFill>
                  <a:srgbClr val="0F172A"/>
                </a:solidFill>
                <a:latin typeface="Segoe UI"/>
              </a:rPr>
              <a:t>Règles LMD respectées </a:t>
            </a:r>
            <a:r>
              <a:rPr sz="1400">
                <a:solidFill>
                  <a:srgbClr val="334155"/>
                </a:solidFill>
                <a:latin typeface="Segoe UI"/>
              </a:rPr>
              <a:t>— compensation entre EC d'une même UE, capitalisation des crédits validés.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00">
                <a:solidFill>
                  <a:srgbClr val="2563EB"/>
                </a:solidFill>
                <a:latin typeface="Segoe UI"/>
              </a:rPr>
              <a:t>●  </a:t>
            </a:r>
            <a:r>
              <a:rPr sz="1400" b="1">
                <a:solidFill>
                  <a:srgbClr val="0F172A"/>
                </a:solidFill>
                <a:latin typeface="Segoe UI"/>
              </a:rPr>
              <a:t>Réclamations gérées </a:t>
            </a:r>
            <a:r>
              <a:rPr sz="1400">
                <a:solidFill>
                  <a:srgbClr val="334155"/>
                </a:solidFill>
                <a:latin typeface="Segoe UI"/>
              </a:rPr>
              <a:t>— un étudiant peut contester une note publiée ; workflow de traitement dédié.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00">
                <a:solidFill>
                  <a:srgbClr val="2563EB"/>
                </a:solidFill>
                <a:latin typeface="Segoe UI"/>
              </a:rPr>
              <a:t>●  </a:t>
            </a:r>
            <a:r>
              <a:rPr sz="1400" b="1">
                <a:solidFill>
                  <a:srgbClr val="0F172A"/>
                </a:solidFill>
                <a:latin typeface="Segoe UI"/>
              </a:rPr>
              <a:t>Génération automatique </a:t>
            </a:r>
            <a:r>
              <a:rPr sz="1400">
                <a:solidFill>
                  <a:srgbClr val="334155"/>
                </a:solidFill>
                <a:latin typeface="Segoe UI"/>
              </a:rPr>
              <a:t>— relevés de notes, attestations, diplômes en PDF avec QR code de vérification.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00">
                <a:solidFill>
                  <a:srgbClr val="2563EB"/>
                </a:solidFill>
                <a:latin typeface="Segoe UI"/>
              </a:rPr>
              <a:t>●  </a:t>
            </a:r>
            <a:r>
              <a:rPr sz="1400" b="1">
                <a:solidFill>
                  <a:srgbClr val="0F172A"/>
                </a:solidFill>
                <a:latin typeface="Segoe UI"/>
              </a:rPr>
              <a:t>3 modes d'évaluation </a:t>
            </a:r>
            <a:r>
              <a:rPr sz="1400">
                <a:solidFill>
                  <a:srgbClr val="334155"/>
                </a:solidFill>
                <a:latin typeface="Segoe UI"/>
              </a:rPr>
              <a:t>supportés : Contrôle Continu, Examen, Mixte.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598149"/>
            <a:ext cx="1078992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 err="1">
                <a:solidFill>
                  <a:srgbClr val="0F172A"/>
                </a:solidFill>
                <a:latin typeface="Segoe UI Semibold"/>
              </a:rPr>
              <a:t>Fonctionnalité</a:t>
            </a:r>
            <a:r>
              <a:rPr sz="4000" b="1" i="0" dirty="0">
                <a:solidFill>
                  <a:srgbClr val="0F172A"/>
                </a:solidFill>
                <a:latin typeface="Segoe UI Semibold"/>
              </a:rPr>
              <a:t> phare — Analytics </a:t>
            </a:r>
            <a:r>
              <a:rPr sz="4000" b="1" i="0" dirty="0" err="1">
                <a:solidFill>
                  <a:srgbClr val="0F172A"/>
                </a:solidFill>
                <a:latin typeface="Segoe UI Semibold"/>
              </a:rPr>
              <a:t>prédictif</a:t>
            </a:r>
            <a:endParaRPr sz="4000" b="1" i="0" dirty="0">
              <a:solidFill>
                <a:srgbClr val="0F172A"/>
              </a:solidFill>
              <a:latin typeface="Segoe UI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18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232" y="1828800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Segoe UI"/>
              </a:rPr>
              <a:t>Score d'engagement — 7 indicateurs comportementaux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0242" y="2350199"/>
            <a:ext cx="576072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 dirty="0">
                <a:solidFill>
                  <a:srgbClr val="7C3AED"/>
                </a:solidFill>
                <a:latin typeface="Segoe UI"/>
              </a:rPr>
              <a:t>● 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Assiduité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 aux séances (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présentiel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 &amp;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virtuel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 dirty="0">
                <a:solidFill>
                  <a:srgbClr val="7C3AED"/>
                </a:solidFill>
                <a:latin typeface="Segoe UI"/>
              </a:rPr>
              <a:t>● 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Résultats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académiques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 (notes,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moyennes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 dirty="0">
                <a:solidFill>
                  <a:srgbClr val="7C3AED"/>
                </a:solidFill>
                <a:latin typeface="Segoe UI"/>
              </a:rPr>
              <a:t>● 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Activité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 sur le campus numérique (LMS)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 dirty="0">
                <a:solidFill>
                  <a:srgbClr val="7C3AED"/>
                </a:solidFill>
                <a:latin typeface="Segoe UI"/>
              </a:rPr>
              <a:t>● 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Ponctualité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 des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paiements</a:t>
            </a:r>
            <a:endParaRPr sz="1250" dirty="0">
              <a:solidFill>
                <a:srgbClr val="334155"/>
              </a:solidFill>
              <a:latin typeface="Segoe UI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 dirty="0">
                <a:solidFill>
                  <a:srgbClr val="7C3AED"/>
                </a:solidFill>
                <a:latin typeface="Segoe UI"/>
              </a:rPr>
              <a:t>●  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Interactions avec les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enseignants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 / forums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 dirty="0">
                <a:solidFill>
                  <a:srgbClr val="7C3AED"/>
                </a:solidFill>
                <a:latin typeface="Segoe UI"/>
              </a:rPr>
              <a:t>● 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Complétion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 des devoirs et quiz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 dirty="0">
                <a:solidFill>
                  <a:srgbClr val="7C3AED"/>
                </a:solidFill>
                <a:latin typeface="Segoe UI"/>
              </a:rPr>
              <a:t>● 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Régularité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 de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connexion</a:t>
            </a:r>
            <a:r>
              <a:rPr sz="1250" dirty="0">
                <a:solidFill>
                  <a:srgbClr val="334155"/>
                </a:solidFill>
                <a:latin typeface="Segoe UI"/>
              </a:rPr>
              <a:t> à la </a:t>
            </a:r>
            <a:r>
              <a:rPr sz="1250" dirty="0" err="1">
                <a:solidFill>
                  <a:srgbClr val="334155"/>
                </a:solidFill>
                <a:latin typeface="Segoe UI"/>
              </a:rPr>
              <a:t>plateforme</a:t>
            </a:r>
            <a:endParaRPr sz="1250" dirty="0">
              <a:solidFill>
                <a:srgbClr val="334155"/>
              </a:solidFill>
              <a:latin typeface="Segoe U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647688" y="2286000"/>
            <a:ext cx="4617720" cy="1588415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7059168" y="2743200"/>
            <a:ext cx="4206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1">
                <a:solidFill>
                  <a:srgbClr val="7C3AED"/>
                </a:solidFill>
                <a:latin typeface="Segoe UI"/>
              </a:rPr>
              <a:t>Objectif : permettre une intervention pédagogique précoce, avant l'échec ou l'abandon.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548640"/>
            <a:ext cx="1078992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 err="1">
                <a:solidFill>
                  <a:srgbClr val="0F172A"/>
                </a:solidFill>
                <a:latin typeface="Segoe UI Semibold"/>
              </a:rPr>
              <a:t>Fonctionnalité</a:t>
            </a:r>
            <a:r>
              <a:rPr sz="4000" b="1" i="0" dirty="0">
                <a:solidFill>
                  <a:srgbClr val="0F172A"/>
                </a:solidFill>
                <a:latin typeface="Segoe UI Semibold"/>
              </a:rPr>
              <a:t> phare — Campus numérique &amp; </a:t>
            </a:r>
            <a:r>
              <a:rPr sz="4000" b="1" i="0" dirty="0" err="1">
                <a:solidFill>
                  <a:srgbClr val="0F172A"/>
                </a:solidFill>
                <a:latin typeface="Segoe UI Semibold"/>
              </a:rPr>
              <a:t>présences</a:t>
            </a:r>
            <a:endParaRPr sz="4000" b="1" i="0" dirty="0">
              <a:solidFill>
                <a:srgbClr val="0F172A"/>
              </a:solidFill>
              <a:latin typeface="Segoe UI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19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13232" y="1874519"/>
            <a:ext cx="35204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" y="1874519"/>
            <a:ext cx="35204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5632" y="1947672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Campus numérique (LMS)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032" y="2514600"/>
            <a:ext cx="3246120" cy="3383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2563EB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Espaces de cours par EC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2563EB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Modules, ressources, devoirs, quiz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2563EB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Suivi de progression par étudiant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2563EB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Statistiques de vues/téléchargements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2" y="1874519"/>
            <a:ext cx="35204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16552" y="1874519"/>
            <a:ext cx="35204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68952" y="1947672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Classes virtuelles hybrides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4352" y="2514600"/>
            <a:ext cx="3246120" cy="3383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7C3AED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5 fournisseurs : BBB, Jitsi, Zoom, Meet, Teams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7C3AED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Sessions planifiées liées à l'emploi du temps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7C3AED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Suivi des participants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874519"/>
            <a:ext cx="35204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19872" y="1874519"/>
            <a:ext cx="3520440" cy="4572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2272" y="1947672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Présences intelligentes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7672" y="2514600"/>
            <a:ext cx="3246120" cy="3383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059669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QR code plein écran + minuterie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059669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Code de séance saisi par l'étudiant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059669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Pointage manuel en repli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059669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Alertes automatiques sous 75%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9516" y="583651"/>
            <a:ext cx="1078992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>
                <a:solidFill>
                  <a:srgbClr val="0F172A"/>
                </a:solidFill>
                <a:latin typeface="Segoe UI Semibold"/>
              </a:rPr>
              <a:t>Application mobile TIRAHOU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35607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64748B"/>
                </a:solidFill>
                <a:latin typeface="Segoe UI"/>
              </a:rPr>
              <a:t>Expo / React Native — étudiants &amp; enseignants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20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17880" y="1732280"/>
            <a:ext cx="2067560" cy="434441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mobile-slide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83080"/>
            <a:ext cx="1965960" cy="424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102096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64748B"/>
                </a:solidFill>
                <a:latin typeface="Segoe UI"/>
              </a:rPr>
              <a:t>Connexion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95320" y="1732280"/>
            <a:ext cx="2067560" cy="434441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mobile-slide-stud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783080"/>
            <a:ext cx="1965960" cy="42428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246120" y="6102096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64748B"/>
                </a:solidFill>
                <a:latin typeface="Segoe UI"/>
              </a:rPr>
              <a:t>Dashboard étudiant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1874519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Segoe UI"/>
              </a:rPr>
              <a:t>Pourquoi une app dédiée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2331720"/>
            <a:ext cx="576072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7C3AED"/>
                </a:solidFill>
                <a:latin typeface="Segoe UI"/>
              </a:rPr>
              <a:t>●  </a:t>
            </a:r>
            <a:r>
              <a:rPr sz="1250">
                <a:solidFill>
                  <a:srgbClr val="334155"/>
                </a:solidFill>
                <a:latin typeface="Segoe UI"/>
              </a:rPr>
              <a:t>Périmètre volontairement restreint (étudiant + enseignant) pour un développement rapide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7C3AED"/>
                </a:solidFill>
                <a:latin typeface="Segoe UI"/>
              </a:rPr>
              <a:t>●  </a:t>
            </a:r>
            <a:r>
              <a:rPr sz="1250">
                <a:solidFill>
                  <a:srgbClr val="334155"/>
                </a:solidFill>
                <a:latin typeface="Segoe UI"/>
              </a:rPr>
              <a:t>Réutilise directement l'API REST de production — aucun backend séparé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7C3AED"/>
                </a:solidFill>
                <a:latin typeface="Segoe UI"/>
              </a:rPr>
              <a:t>●  </a:t>
            </a:r>
            <a:r>
              <a:rPr sz="1250">
                <a:solidFill>
                  <a:srgbClr val="334155"/>
                </a:solidFill>
                <a:latin typeface="Segoe UI"/>
              </a:rPr>
              <a:t>Auth JWT avec refresh automatique, stockage sécurisé (Keychain/Keystore)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4663440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Segoe UI"/>
              </a:rPr>
              <a:t>Fonctionnalités livrées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5029200"/>
            <a:ext cx="576072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850">
                <a:solidFill>
                  <a:srgbClr val="2563EB"/>
                </a:solidFill>
                <a:latin typeface="Segoe UI"/>
              </a:rPr>
              <a:t>●  </a:t>
            </a:r>
            <a:r>
              <a:rPr sz="1150">
                <a:solidFill>
                  <a:srgbClr val="334155"/>
                </a:solidFill>
                <a:latin typeface="Segoe UI"/>
              </a:rPr>
              <a:t>Étudiant : dashboard, notes, emploi du temps, assiduité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850">
                <a:solidFill>
                  <a:srgbClr val="2563EB"/>
                </a:solidFill>
                <a:latin typeface="Segoe UI"/>
              </a:rPr>
              <a:t>●  </a:t>
            </a:r>
            <a:r>
              <a:rPr sz="1150">
                <a:solidFill>
                  <a:srgbClr val="334155"/>
                </a:solidFill>
                <a:latin typeface="Segoe UI"/>
              </a:rPr>
              <a:t>Enseignant : saisie des notes, cours, gestion des présences (code de séance)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344" y="-54864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515183"/>
            <a:ext cx="1078992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>
                <a:solidFill>
                  <a:srgbClr val="0F172A"/>
                </a:solidFill>
                <a:latin typeface="Segoe UI Semibold"/>
              </a:rPr>
              <a:t>Tests et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21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13232" y="1874519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5632" y="2011680"/>
            <a:ext cx="1737360" cy="3200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Django TestCase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5632" y="24688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Segoe UI"/>
              </a:rPr>
              <a:t>Tests unitaires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632" y="2880360"/>
            <a:ext cx="23774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Modèles, calculs de notes/moyennes/scores, règles de validation des données.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2152" y="1874519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654552" y="2011680"/>
            <a:ext cx="1737360" cy="3200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Swagger / Postman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4552" y="24688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Segoe UI"/>
              </a:rPr>
              <a:t>Tests d'intégration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4552" y="2880360"/>
            <a:ext cx="23774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Endpoints REST : authentification, permissions, filtres, pagination.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1874519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43472" y="2011680"/>
            <a:ext cx="1737360" cy="32004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Parcours par rôle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3472" y="24688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Segoe UI"/>
              </a:rPr>
              <a:t>Tests fonctionnels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3472" y="2880360"/>
            <a:ext cx="23774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Scénarios complets simulés pour étudiant, enseignant, scolarité, finance...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79992" y="1874519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232392" y="2011680"/>
            <a:ext cx="1737360" cy="32004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Accès &amp; JWT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2392" y="24688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Segoe UI"/>
              </a:rPr>
              <a:t>Tests de sécurité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2392" y="2880360"/>
            <a:ext cx="23774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Tentatives d'accès non autorisé, dépassement de rate limit, manipulation de token.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4434840"/>
            <a:ext cx="10744200" cy="16002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45720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Suite End-to-End automatisée (Playwright)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98348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41 scénarios couvrant authentification, RBAC, dashboards par rôle, saisie de notes, présences, thème sombre/clair, recherche globale — exécutés contre l'application réelle avant chaque déploiement.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567069"/>
            <a:ext cx="1078992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>
                <a:solidFill>
                  <a:srgbClr val="0F172A"/>
                </a:solidFill>
                <a:latin typeface="Segoe UI Semibold"/>
              </a:rPr>
              <a:t>Chiffres </a:t>
            </a:r>
            <a:r>
              <a:rPr sz="4000" b="1" i="0" dirty="0" err="1">
                <a:solidFill>
                  <a:srgbClr val="0F172A"/>
                </a:solidFill>
                <a:latin typeface="Segoe UI Semibold"/>
              </a:rPr>
              <a:t>clés</a:t>
            </a:r>
            <a:r>
              <a:rPr sz="4000" b="1" i="0" dirty="0">
                <a:solidFill>
                  <a:srgbClr val="0F172A"/>
                </a:solidFill>
                <a:latin typeface="Segoe UI Semibold"/>
              </a:rPr>
              <a:t> du </a:t>
            </a:r>
            <a:r>
              <a:rPr sz="4000" b="1" i="0" dirty="0" err="1">
                <a:solidFill>
                  <a:srgbClr val="0F172A"/>
                </a:solidFill>
                <a:latin typeface="Segoe UI Semibold"/>
              </a:rPr>
              <a:t>projet</a:t>
            </a:r>
            <a:endParaRPr sz="4000" b="1" i="0" dirty="0">
              <a:solidFill>
                <a:srgbClr val="0F172A"/>
              </a:solidFill>
              <a:latin typeface="Segoe UI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22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13232" y="1874519"/>
            <a:ext cx="251460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2052319"/>
            <a:ext cx="2514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Segoe UI Semibold"/>
              </a:rP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432" y="2819399"/>
            <a:ext cx="2362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Applications Django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1874519"/>
            <a:ext cx="251460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10712" y="2052319"/>
            <a:ext cx="2514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7C3AED"/>
                </a:solidFill>
                <a:latin typeface="Segoe UI Semibold"/>
              </a:rPr>
              <a:t>90+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6912" y="2819399"/>
            <a:ext cx="2362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Modèles de données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08192" y="1874519"/>
            <a:ext cx="251460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08192" y="2052319"/>
            <a:ext cx="2514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059669"/>
                </a:solidFill>
                <a:latin typeface="Segoe UI Semibold"/>
              </a:rPr>
              <a:t>108+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4392" y="2819399"/>
            <a:ext cx="2362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Tables en base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05672" y="1874519"/>
            <a:ext cx="251460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05672" y="2052319"/>
            <a:ext cx="2514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D97706"/>
                </a:solidFill>
                <a:latin typeface="Segoe UI Semibold"/>
              </a:rPr>
              <a:t>650+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1872" y="2819399"/>
            <a:ext cx="2362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Endpoints API REST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383279"/>
            <a:ext cx="251460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" y="3561079"/>
            <a:ext cx="2514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Segoe UI Semibold"/>
              </a:rPr>
              <a:t>78+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432" y="4328159"/>
            <a:ext cx="2362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Pages frontend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10712" y="3383279"/>
            <a:ext cx="251460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10712" y="3561079"/>
            <a:ext cx="2514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7C3AED"/>
                </a:solidFill>
                <a:latin typeface="Segoe UI Semibold"/>
              </a:rPr>
              <a:t>110+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86912" y="4328159"/>
            <a:ext cx="2362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Fichiers React (.tsx)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08192" y="3383279"/>
            <a:ext cx="251460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08192" y="3561079"/>
            <a:ext cx="2514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059669"/>
                </a:solidFill>
                <a:latin typeface="Segoe UI Semibold"/>
              </a:rPr>
              <a:t>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84392" y="4328159"/>
            <a:ext cx="2362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Rôles utilisateurs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05672" y="3383279"/>
            <a:ext cx="251460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05672" y="3561079"/>
            <a:ext cx="2514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D97706"/>
                </a:solidFill>
                <a:latin typeface="Segoe UI Semibold"/>
              </a:rPr>
              <a:t>16/16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1872" y="4328159"/>
            <a:ext cx="2362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Domaines fonctionnels couverts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" y="5074920"/>
            <a:ext cx="10744200" cy="96012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0120" y="5212080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59669"/>
                </a:solidFill>
                <a:latin typeface="Segoe UI"/>
              </a:rPr>
              <a:t>Taux de couverture fonctionnelle global : 16/16 domaines réalisés (100%) — les 8 objectifs spécifiques (OS1 à OS8) sont tous marqués « Complet » dans le cahier de recette.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3820" y="538043"/>
            <a:ext cx="1078992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 err="1">
                <a:solidFill>
                  <a:srgbClr val="0F172A"/>
                </a:solidFill>
                <a:latin typeface="Segoe UI Semibold"/>
              </a:rPr>
              <a:t>Déploiement</a:t>
            </a:r>
            <a:r>
              <a:rPr sz="4000" b="1" i="0" dirty="0">
                <a:solidFill>
                  <a:srgbClr val="0F172A"/>
                </a:solidFill>
                <a:latin typeface="Segoe UI Semibold"/>
              </a:rPr>
              <a:t> </a:t>
            </a:r>
            <a:r>
              <a:rPr sz="4000" b="1" i="0" dirty="0" err="1">
                <a:solidFill>
                  <a:srgbClr val="0F172A"/>
                </a:solidFill>
                <a:latin typeface="Segoe UI Semibold"/>
              </a:rPr>
              <a:t>en</a:t>
            </a:r>
            <a:r>
              <a:rPr sz="4000" b="1" i="0" dirty="0">
                <a:solidFill>
                  <a:srgbClr val="0F172A"/>
                </a:solidFill>
                <a:latin typeface="Segoe UI Semibold"/>
              </a:rPr>
              <a:t>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23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13232" y="1874519"/>
            <a:ext cx="521208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" y="1874519"/>
            <a:ext cx="5212080" cy="502920"/>
          </a:xfrm>
          <a:prstGeom prst="rect">
            <a:avLst/>
          </a:prstGeom>
          <a:solidFill>
            <a:srgbClr val="339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96596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Segoe UI"/>
              </a:rPr>
              <a:t>Backend — Render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39"/>
            <a:ext cx="475488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2563EB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Django + Daphne (ASGI, WebSocket temps réel), build automatisé (build.sh) : dépendances, collectstatic, migrations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2563EB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Base de données PostgreSQL managée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2563EB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Variables d'environnement : SECRET_KEY, DATABASE_URL, CORS_ALLOWED_ORIGINS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2563EB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Comptes de démonstration réamorcés à chaque déploiement (script idempotent)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2563EB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HTTPS forcé, HSTS, WhiteNoise pour les fichiers statiques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74519"/>
            <a:ext cx="521208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874519"/>
            <a:ext cx="521208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64808" y="196596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Segoe UI"/>
              </a:rPr>
              <a:t>Frontend — </a:t>
            </a:r>
            <a:r>
              <a:rPr sz="1350" b="1" i="0" dirty="0" err="1">
                <a:solidFill>
                  <a:srgbClr val="FFFFFF"/>
                </a:solidFill>
                <a:latin typeface="Segoe UI"/>
              </a:rPr>
              <a:t>Vercel</a:t>
            </a:r>
            <a:endParaRPr sz="135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64808" y="2560320"/>
            <a:ext cx="475488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2563EB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Build Vite (framework détecté explicitement dans vercel.json)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2563EB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Déploiement automatique à chaque push sur la branche main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2563EB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Variable VITE_API_URL pointant vers l'API Render de production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2563EB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CDN global, aperçus de déploiement (preview) par branche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172200"/>
            <a:ext cx="10744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 dirty="0">
                <a:solidFill>
                  <a:srgbClr val="64748B"/>
                </a:solidFill>
                <a:latin typeface="Segoe UI"/>
              </a:rPr>
              <a:t>CI/CD : </a:t>
            </a:r>
            <a:r>
              <a:rPr sz="1150" b="0" i="1" dirty="0" err="1">
                <a:solidFill>
                  <a:srgbClr val="64748B"/>
                </a:solidFill>
                <a:latin typeface="Segoe UI"/>
              </a:rPr>
              <a:t>chaque</a:t>
            </a:r>
            <a:r>
              <a:rPr sz="1150" b="0" i="1" dirty="0">
                <a:solidFill>
                  <a:srgbClr val="64748B"/>
                </a:solidFill>
                <a:latin typeface="Segoe UI"/>
              </a:rPr>
              <a:t> push </a:t>
            </a:r>
            <a:r>
              <a:rPr sz="1150" b="0" i="1" dirty="0" err="1">
                <a:solidFill>
                  <a:srgbClr val="64748B"/>
                </a:solidFill>
                <a:latin typeface="Segoe UI"/>
              </a:rPr>
              <a:t>déclenche</a:t>
            </a:r>
            <a:r>
              <a:rPr sz="1150" b="0" i="1" dirty="0">
                <a:solidFill>
                  <a:srgbClr val="64748B"/>
                </a:solidFill>
                <a:latin typeface="Segoe UI"/>
              </a:rPr>
              <a:t> </a:t>
            </a:r>
            <a:r>
              <a:rPr sz="1150" b="0" i="1" dirty="0" err="1">
                <a:solidFill>
                  <a:srgbClr val="64748B"/>
                </a:solidFill>
                <a:latin typeface="Segoe UI"/>
              </a:rPr>
              <a:t>automatiquement</a:t>
            </a:r>
            <a:r>
              <a:rPr sz="1150" b="0" i="1" dirty="0">
                <a:solidFill>
                  <a:srgbClr val="64748B"/>
                </a:solidFill>
                <a:latin typeface="Segoe UI"/>
              </a:rPr>
              <a:t> un nouveau build backend et frontend — de la modification de code à la mise </a:t>
            </a:r>
            <a:r>
              <a:rPr sz="1150" b="0" i="1" dirty="0" err="1">
                <a:solidFill>
                  <a:srgbClr val="64748B"/>
                </a:solidFill>
                <a:latin typeface="Segoe UI"/>
              </a:rPr>
              <a:t>en</a:t>
            </a:r>
            <a:r>
              <a:rPr sz="1150" b="0" i="1" dirty="0">
                <a:solidFill>
                  <a:srgbClr val="64748B"/>
                </a:solidFill>
                <a:latin typeface="Segoe UI"/>
              </a:rPr>
              <a:t> production </a:t>
            </a:r>
            <a:r>
              <a:rPr sz="1150" b="0" i="1" dirty="0" err="1">
                <a:solidFill>
                  <a:srgbClr val="64748B"/>
                </a:solidFill>
                <a:latin typeface="Segoe UI"/>
              </a:rPr>
              <a:t>en</a:t>
            </a:r>
            <a:r>
              <a:rPr sz="1150" b="0" i="1" dirty="0">
                <a:solidFill>
                  <a:srgbClr val="64748B"/>
                </a:solidFill>
                <a:latin typeface="Segoe UI"/>
              </a:rPr>
              <a:t> </a:t>
            </a:r>
            <a:r>
              <a:rPr sz="1150" b="0" i="1" dirty="0" err="1">
                <a:solidFill>
                  <a:srgbClr val="64748B"/>
                </a:solidFill>
                <a:latin typeface="Segoe UI"/>
              </a:rPr>
              <a:t>quelques</a:t>
            </a:r>
            <a:r>
              <a:rPr sz="1150" b="0" i="1" dirty="0">
                <a:solidFill>
                  <a:srgbClr val="64748B"/>
                </a:solidFill>
                <a:latin typeface="Segoe UI"/>
              </a:rPr>
              <a:t> minutes.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301EC9B-B998-4C3D-A616-AF48A154E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974" y="4619135"/>
            <a:ext cx="3276884" cy="140219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225332A-E5FF-4AC1-9505-EEAD62689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398" y="4413857"/>
            <a:ext cx="3149471" cy="125542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858000" y="0"/>
            <a:ext cx="5486400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8081" y="914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>
                <a:solidFill>
                  <a:srgbClr val="FFFFFF"/>
                </a:solidFill>
                <a:latin typeface="Segoe UI Semibold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081" y="1328237"/>
            <a:ext cx="10241280" cy="353943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just"/>
            <a:r>
              <a:rPr lang="fr-FR" sz="1600" dirty="0">
                <a:solidFill>
                  <a:schemeClr val="bg1"/>
                </a:solidFill>
              </a:rPr>
              <a:t>Pour conclure, ce travail m'a permis de concevoir, développer et déployer </a:t>
            </a:r>
            <a:r>
              <a:rPr lang="fr-FR" sz="1600" b="1" dirty="0">
                <a:solidFill>
                  <a:schemeClr val="bg1"/>
                </a:solidFill>
              </a:rPr>
              <a:t>TIRAHOU</a:t>
            </a:r>
            <a:r>
              <a:rPr lang="fr-FR" sz="1600" dirty="0">
                <a:solidFill>
                  <a:schemeClr val="bg1"/>
                </a:solidFill>
              </a:rPr>
              <a:t>, une plateforme universitaire intégrée répondant aux exigences du système LMD. </a:t>
            </a:r>
          </a:p>
          <a:p>
            <a:pPr algn="just"/>
            <a:r>
              <a:rPr lang="fr-FR" sz="1600" dirty="0">
                <a:solidFill>
                  <a:schemeClr val="bg1"/>
                </a:solidFill>
              </a:rPr>
              <a:t>Au cours de ce projet, nous avons développé une architecture moderne et sécurisée basée sur une API REST,</a:t>
            </a:r>
          </a:p>
          <a:p>
            <a:pPr algn="just"/>
            <a:r>
              <a:rPr lang="fr-FR" sz="1600" dirty="0">
                <a:solidFill>
                  <a:schemeClr val="bg1"/>
                </a:solidFill>
              </a:rPr>
              <a:t> </a:t>
            </a:r>
            <a:r>
              <a:rPr lang="fr-FR" sz="1600" b="1" dirty="0">
                <a:solidFill>
                  <a:schemeClr val="bg1"/>
                </a:solidFill>
              </a:rPr>
              <a:t>21 modules fonctionnels</a:t>
            </a:r>
            <a:r>
              <a:rPr lang="fr-FR" sz="1600" dirty="0">
                <a:solidFill>
                  <a:schemeClr val="bg1"/>
                </a:solidFill>
              </a:rPr>
              <a:t> couvrant </a:t>
            </a:r>
            <a:r>
              <a:rPr lang="fr-FR" sz="1600" b="1" dirty="0">
                <a:solidFill>
                  <a:schemeClr val="bg1"/>
                </a:solidFill>
              </a:rPr>
              <a:t>16 domaines</a:t>
            </a:r>
            <a:r>
              <a:rPr lang="fr-FR" sz="1600" dirty="0">
                <a:solidFill>
                  <a:schemeClr val="bg1"/>
                </a:solidFill>
              </a:rPr>
              <a:t> de gestion universitaire, </a:t>
            </a:r>
          </a:p>
          <a:p>
            <a:pPr algn="just"/>
            <a:r>
              <a:rPr lang="fr-FR" sz="1600" dirty="0">
                <a:solidFill>
                  <a:schemeClr val="bg1"/>
                </a:solidFill>
              </a:rPr>
              <a:t>un campus numérique,</a:t>
            </a:r>
          </a:p>
          <a:p>
            <a:pPr algn="just"/>
            <a:r>
              <a:rPr lang="fr-FR" sz="1600" dirty="0">
                <a:solidFill>
                  <a:schemeClr val="bg1"/>
                </a:solidFill>
              </a:rPr>
              <a:t> une application mobile,</a:t>
            </a:r>
          </a:p>
          <a:p>
            <a:pPr algn="just"/>
            <a:r>
              <a:rPr lang="fr-FR" sz="1600" dirty="0">
                <a:solidFill>
                  <a:schemeClr val="bg1"/>
                </a:solidFill>
              </a:rPr>
              <a:t> un système d'évaluation et de délibération conforme au LMD, ainsi qu'un module </a:t>
            </a:r>
            <a:r>
              <a:rPr lang="fr-FR" sz="1600" dirty="0" err="1">
                <a:solidFill>
                  <a:schemeClr val="bg1"/>
                </a:solidFill>
              </a:rPr>
              <a:t>d'analytics</a:t>
            </a:r>
            <a:r>
              <a:rPr lang="fr-FR" sz="1600" dirty="0">
                <a:solidFill>
                  <a:schemeClr val="bg1"/>
                </a:solidFill>
              </a:rPr>
              <a:t> prédictif pour le suivi des étudiants. </a:t>
            </a:r>
          </a:p>
          <a:p>
            <a:pPr algn="just"/>
            <a:r>
              <a:rPr lang="fr-FR" sz="1600" dirty="0">
                <a:solidFill>
                  <a:schemeClr val="bg1"/>
                </a:solidFill>
              </a:rPr>
              <a:t>Cette plateforme apporte une réelle valeur ajoutée à chaque acteur : </a:t>
            </a:r>
            <a:r>
              <a:rPr lang="fr-FR" sz="1600" b="1" dirty="0">
                <a:solidFill>
                  <a:schemeClr val="bg1"/>
                </a:solidFill>
              </a:rPr>
              <a:t>l'étudiant</a:t>
            </a:r>
            <a:r>
              <a:rPr lang="fr-FR" sz="1600" dirty="0">
                <a:solidFill>
                  <a:schemeClr val="bg1"/>
                </a:solidFill>
              </a:rPr>
              <a:t> bénéficie d'un tableau de bord personnalisé et d'un système de points, </a:t>
            </a:r>
            <a:r>
              <a:rPr lang="fr-FR" sz="1600" b="1" dirty="0">
                <a:solidFill>
                  <a:schemeClr val="bg1"/>
                </a:solidFill>
              </a:rPr>
              <a:t>l'enseignant</a:t>
            </a:r>
            <a:r>
              <a:rPr lang="fr-FR" sz="1600" dirty="0">
                <a:solidFill>
                  <a:schemeClr val="bg1"/>
                </a:solidFill>
              </a:rPr>
              <a:t> peut gérer ses cours, ses classes virtuelles et ses évaluations, </a:t>
            </a:r>
            <a:r>
              <a:rPr lang="fr-FR" sz="1600" b="1" dirty="0">
                <a:solidFill>
                  <a:schemeClr val="bg1"/>
                </a:solidFill>
              </a:rPr>
              <a:t>l'administrateur</a:t>
            </a:r>
            <a:r>
              <a:rPr lang="fr-FR" sz="1600" dirty="0">
                <a:solidFill>
                  <a:schemeClr val="bg1"/>
                </a:solidFill>
              </a:rPr>
              <a:t> dispose d'une gestion centralisée des activités universitaires, tandis que </a:t>
            </a:r>
            <a:r>
              <a:rPr lang="fr-FR" sz="1600" b="1" dirty="0">
                <a:solidFill>
                  <a:schemeClr val="bg1"/>
                </a:solidFill>
              </a:rPr>
              <a:t>le super administrateur</a:t>
            </a:r>
            <a:r>
              <a:rPr lang="fr-FR" sz="1600" dirty="0">
                <a:solidFill>
                  <a:schemeClr val="bg1"/>
                </a:solidFill>
              </a:rPr>
              <a:t> assure la sécurité et la gouvernance de la plateforme grâce au contrôle d'accès RBAC.</a:t>
            </a:r>
          </a:p>
          <a:p>
            <a:pPr algn="just"/>
            <a:r>
              <a:rPr lang="fr-FR" sz="1600" dirty="0">
                <a:solidFill>
                  <a:schemeClr val="bg1"/>
                </a:solidFill>
              </a:rPr>
              <a:t>Enfin, la solution a été validée par plusieurs séries de tests puis déployée en production, démontrant sa faisabilité technique et son potentiel pour accompagner la transformation numérique des établissements d'enseignement supérieur.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54864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78992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 err="1">
                <a:solidFill>
                  <a:srgbClr val="0F172A"/>
                </a:solidFill>
                <a:latin typeface="Segoe UI Semibold"/>
              </a:rPr>
              <a:t>Limites</a:t>
            </a:r>
            <a:r>
              <a:rPr sz="4000" b="1" i="0" dirty="0">
                <a:solidFill>
                  <a:srgbClr val="0F172A"/>
                </a:solidFill>
                <a:latin typeface="Segoe UI Semibold"/>
              </a:rPr>
              <a:t> </a:t>
            </a:r>
            <a:r>
              <a:rPr sz="4000" b="1" i="0" dirty="0" err="1">
                <a:solidFill>
                  <a:srgbClr val="0F172A"/>
                </a:solidFill>
                <a:latin typeface="Segoe UI Semibold"/>
              </a:rPr>
              <a:t>actuelles</a:t>
            </a:r>
            <a:r>
              <a:rPr sz="4000" b="1" i="0" dirty="0">
                <a:solidFill>
                  <a:srgbClr val="0F172A"/>
                </a:solidFill>
                <a:latin typeface="Segoe UI Semibold"/>
              </a:rPr>
              <a:t> &amp; perspectives </a:t>
            </a:r>
            <a:r>
              <a:rPr sz="4000" b="1" i="0" dirty="0" err="1">
                <a:solidFill>
                  <a:srgbClr val="0F172A"/>
                </a:solidFill>
                <a:latin typeface="Segoe UI Semibold"/>
              </a:rPr>
              <a:t>d'évolution</a:t>
            </a:r>
            <a:endParaRPr sz="4000" b="1" i="0" dirty="0">
              <a:solidFill>
                <a:srgbClr val="0F172A"/>
              </a:solidFill>
              <a:latin typeface="Segoe UI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24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232" y="18288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C2626"/>
                </a:solidFill>
                <a:latin typeface="Segoe UI"/>
              </a:rPr>
              <a:t>Limites traitées pendant la préparation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40280"/>
            <a:ext cx="521208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 dirty="0">
                <a:solidFill>
                  <a:srgbClr val="DC2626"/>
                </a:solidFill>
                <a:latin typeface="Segoe UI"/>
              </a:rPr>
              <a:t>●  </a:t>
            </a:r>
            <a:r>
              <a:rPr sz="1200" dirty="0">
                <a:solidFill>
                  <a:srgbClr val="334155"/>
                </a:solidFill>
                <a:latin typeface="Segoe UI"/>
              </a:rPr>
              <a:t>Mobile Money (</a:t>
            </a:r>
            <a:r>
              <a:rPr sz="1200" dirty="0" err="1">
                <a:solidFill>
                  <a:srgbClr val="334155"/>
                </a:solidFill>
                <a:latin typeface="Segoe UI"/>
              </a:rPr>
              <a:t>CinetPay</a:t>
            </a:r>
            <a:r>
              <a:rPr sz="1200" dirty="0">
                <a:solidFill>
                  <a:srgbClr val="334155"/>
                </a:solidFill>
                <a:latin typeface="Segoe UI"/>
              </a:rPr>
              <a:t>) &amp; notifications push : déjà </a:t>
            </a:r>
            <a:r>
              <a:rPr sz="1200" dirty="0" err="1">
                <a:solidFill>
                  <a:srgbClr val="334155"/>
                </a:solidFill>
                <a:latin typeface="Segoe UI"/>
              </a:rPr>
              <a:t>opérationnels</a:t>
            </a:r>
            <a:r>
              <a:rPr sz="1200" dirty="0">
                <a:solidFill>
                  <a:srgbClr val="334155"/>
                </a:solidFill>
                <a:latin typeface="Segoe UI"/>
              </a:rPr>
              <a:t> de bout </a:t>
            </a:r>
            <a:r>
              <a:rPr sz="1200" dirty="0" err="1">
                <a:solidFill>
                  <a:srgbClr val="334155"/>
                </a:solidFill>
                <a:latin typeface="Segoe UI"/>
              </a:rPr>
              <a:t>en</a:t>
            </a:r>
            <a:r>
              <a:rPr sz="1200" dirty="0">
                <a:solidFill>
                  <a:srgbClr val="334155"/>
                </a:solidFill>
                <a:latin typeface="Segoe UI"/>
              </a:rPr>
              <a:t> bout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 dirty="0">
                <a:solidFill>
                  <a:srgbClr val="DC2626"/>
                </a:solidFill>
                <a:latin typeface="Segoe UI"/>
              </a:rPr>
              <a:t>●  </a:t>
            </a:r>
            <a:r>
              <a:rPr sz="1200" dirty="0">
                <a:solidFill>
                  <a:srgbClr val="334155"/>
                </a:solidFill>
                <a:latin typeface="Segoe UI"/>
              </a:rPr>
              <a:t>Bug critique </a:t>
            </a:r>
            <a:r>
              <a:rPr sz="1200" dirty="0" err="1">
                <a:solidFill>
                  <a:srgbClr val="334155"/>
                </a:solidFill>
                <a:latin typeface="Segoe UI"/>
              </a:rPr>
              <a:t>corrigé</a:t>
            </a:r>
            <a:r>
              <a:rPr sz="1200" dirty="0">
                <a:solidFill>
                  <a:srgbClr val="334155"/>
                </a:solidFill>
                <a:latin typeface="Segoe UI"/>
              </a:rPr>
              <a:t> sur le score </a:t>
            </a:r>
            <a:r>
              <a:rPr sz="1200" dirty="0" err="1">
                <a:solidFill>
                  <a:srgbClr val="334155"/>
                </a:solidFill>
                <a:latin typeface="Segoe UI"/>
              </a:rPr>
              <a:t>prédictif</a:t>
            </a:r>
            <a:r>
              <a:rPr sz="1200" dirty="0">
                <a:solidFill>
                  <a:srgbClr val="334155"/>
                </a:solidFill>
                <a:latin typeface="Segoe UI"/>
              </a:rPr>
              <a:t> + calibration </a:t>
            </a:r>
            <a:r>
              <a:rPr sz="1200" dirty="0" err="1">
                <a:solidFill>
                  <a:srgbClr val="334155"/>
                </a:solidFill>
                <a:latin typeface="Segoe UI"/>
              </a:rPr>
              <a:t>empirique</a:t>
            </a:r>
            <a:r>
              <a:rPr sz="12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334155"/>
                </a:solidFill>
                <a:latin typeface="Segoe UI"/>
              </a:rPr>
              <a:t>outillée</a:t>
            </a:r>
            <a:endParaRPr sz="1200" dirty="0">
              <a:solidFill>
                <a:srgbClr val="334155"/>
              </a:solidFill>
              <a:latin typeface="Segoe UI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 dirty="0">
                <a:solidFill>
                  <a:srgbClr val="DC2626"/>
                </a:solidFill>
                <a:latin typeface="Segoe UI"/>
              </a:rPr>
              <a:t>●  </a:t>
            </a:r>
            <a:r>
              <a:rPr sz="1200" dirty="0">
                <a:solidFill>
                  <a:srgbClr val="334155"/>
                </a:solidFill>
                <a:latin typeface="Segoe UI"/>
              </a:rPr>
              <a:t>Test de charge </a:t>
            </a:r>
            <a:r>
              <a:rPr sz="1200" dirty="0" err="1">
                <a:solidFill>
                  <a:srgbClr val="334155"/>
                </a:solidFill>
                <a:latin typeface="Segoe UI"/>
              </a:rPr>
              <a:t>réel</a:t>
            </a:r>
            <a:r>
              <a:rPr sz="12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334155"/>
                </a:solidFill>
                <a:latin typeface="Segoe UI"/>
              </a:rPr>
              <a:t>exécuté</a:t>
            </a:r>
            <a:r>
              <a:rPr sz="1200" dirty="0">
                <a:solidFill>
                  <a:srgbClr val="334155"/>
                </a:solidFill>
                <a:latin typeface="Segoe UI"/>
              </a:rPr>
              <a:t> (40 util.) — rate limiting </a:t>
            </a:r>
            <a:r>
              <a:rPr sz="1200" dirty="0" err="1">
                <a:solidFill>
                  <a:srgbClr val="334155"/>
                </a:solidFill>
                <a:latin typeface="Segoe UI"/>
              </a:rPr>
              <a:t>confirmé</a:t>
            </a:r>
            <a:r>
              <a:rPr sz="1200" dirty="0">
                <a:solidFill>
                  <a:srgbClr val="334155"/>
                </a:solidFill>
                <a:latin typeface="Segoe UI"/>
              </a:rPr>
              <a:t>, </a:t>
            </a:r>
            <a:r>
              <a:rPr sz="1200" dirty="0" err="1">
                <a:solidFill>
                  <a:srgbClr val="334155"/>
                </a:solidFill>
                <a:latin typeface="Segoe UI"/>
              </a:rPr>
              <a:t>latence</a:t>
            </a:r>
            <a:r>
              <a:rPr sz="1200" dirty="0">
                <a:solidFill>
                  <a:srgbClr val="334155"/>
                </a:solidFill>
                <a:latin typeface="Segoe UI"/>
              </a:rPr>
              <a:t> de </a:t>
            </a:r>
            <a:r>
              <a:rPr sz="1200" dirty="0" err="1">
                <a:solidFill>
                  <a:srgbClr val="334155"/>
                </a:solidFill>
                <a:latin typeface="Segoe UI"/>
              </a:rPr>
              <a:t>connexion</a:t>
            </a:r>
            <a:r>
              <a:rPr sz="12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334155"/>
                </a:solidFill>
                <a:latin typeface="Segoe UI"/>
              </a:rPr>
              <a:t>identifiée</a:t>
            </a:r>
            <a:endParaRPr sz="1200" dirty="0">
              <a:solidFill>
                <a:srgbClr val="334155"/>
              </a:solidFill>
              <a:latin typeface="Segoe UI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 dirty="0">
                <a:solidFill>
                  <a:srgbClr val="DC2626"/>
                </a:solidFill>
                <a:latin typeface="Segoe UI"/>
              </a:rPr>
              <a:t>●  </a:t>
            </a:r>
            <a:r>
              <a:rPr sz="1200" dirty="0">
                <a:solidFill>
                  <a:srgbClr val="334155"/>
                </a:solidFill>
                <a:latin typeface="Segoe UI"/>
              </a:rPr>
              <a:t>Row-Level Security PostgreSQL </a:t>
            </a:r>
            <a:r>
              <a:rPr sz="1200" dirty="0" err="1">
                <a:solidFill>
                  <a:srgbClr val="334155"/>
                </a:solidFill>
                <a:latin typeface="Segoe UI"/>
              </a:rPr>
              <a:t>implémentée</a:t>
            </a:r>
            <a:r>
              <a:rPr sz="1200" dirty="0">
                <a:solidFill>
                  <a:srgbClr val="334155"/>
                </a:solidFill>
                <a:latin typeface="Segoe UI"/>
              </a:rPr>
              <a:t> et </a:t>
            </a:r>
            <a:r>
              <a:rPr sz="1200" dirty="0" err="1">
                <a:solidFill>
                  <a:srgbClr val="334155"/>
                </a:solidFill>
                <a:latin typeface="Segoe UI"/>
              </a:rPr>
              <a:t>testée</a:t>
            </a:r>
            <a:r>
              <a:rPr sz="1200" dirty="0">
                <a:solidFill>
                  <a:srgbClr val="334155"/>
                </a:solidFill>
                <a:latin typeface="Segoe UI"/>
              </a:rPr>
              <a:t> (</a:t>
            </a:r>
            <a:r>
              <a:rPr sz="1200" dirty="0" err="1">
                <a:solidFill>
                  <a:srgbClr val="334155"/>
                </a:solidFill>
                <a:latin typeface="Segoe UI"/>
              </a:rPr>
              <a:t>défense</a:t>
            </a:r>
            <a:r>
              <a:rPr sz="12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334155"/>
                </a:solidFill>
                <a:latin typeface="Segoe UI"/>
              </a:rPr>
              <a:t>en</a:t>
            </a:r>
            <a:r>
              <a:rPr sz="12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334155"/>
                </a:solidFill>
                <a:latin typeface="Segoe UI"/>
              </a:rPr>
              <a:t>profondeur</a:t>
            </a:r>
            <a:r>
              <a:rPr sz="1200" dirty="0">
                <a:solidFill>
                  <a:srgbClr val="334155"/>
                </a:solidFill>
                <a:latin typeface="Segoe UI"/>
              </a:rPr>
              <a:t>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 dirty="0">
                <a:solidFill>
                  <a:srgbClr val="DC2626"/>
                </a:solidFill>
                <a:latin typeface="Segoe UI"/>
              </a:rPr>
              <a:t>●  </a:t>
            </a:r>
            <a:r>
              <a:rPr sz="1200" dirty="0">
                <a:solidFill>
                  <a:srgbClr val="334155"/>
                </a:solidFill>
                <a:latin typeface="Segoe UI"/>
              </a:rPr>
              <a:t>Notifications temps réel (WebSocket) implémentées ; accès aux fichiers uploadés corrigé en production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8288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59669"/>
                </a:solidFill>
                <a:latin typeface="Segoe UI"/>
              </a:rPr>
              <a:t>Perspectives d'évolution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240280"/>
            <a:ext cx="521208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059669"/>
                </a:solidFill>
                <a:latin typeface="Segoe UI"/>
              </a:rPr>
              <a:t>●  </a:t>
            </a:r>
            <a:r>
              <a:rPr sz="1200" b="1">
                <a:solidFill>
                  <a:srgbClr val="0F172A"/>
                </a:solidFill>
                <a:latin typeface="Segoe UI"/>
              </a:rPr>
              <a:t>Court terme — </a:t>
            </a:r>
            <a:r>
              <a:rPr sz="1200">
                <a:solidFill>
                  <a:srgbClr val="334155"/>
                </a:solidFill>
                <a:latin typeface="Segoe UI"/>
              </a:rPr>
              <a:t>recalibrer le modèle prédictif sur des données réelles de production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059669"/>
                </a:solidFill>
                <a:latin typeface="Segoe UI"/>
              </a:rPr>
              <a:t>●  </a:t>
            </a:r>
            <a:r>
              <a:rPr sz="1200" b="1">
                <a:solidFill>
                  <a:srgbClr val="0F172A"/>
                </a:solidFill>
                <a:latin typeface="Segoe UI"/>
              </a:rPr>
              <a:t>Moyen terme — </a:t>
            </a:r>
            <a:r>
              <a:rPr sz="1200">
                <a:solidFill>
                  <a:srgbClr val="334155"/>
                </a:solidFill>
                <a:latin typeface="Segoe UI"/>
              </a:rPr>
              <a:t>architecture multi-tenant (note de conception rédigée), module RH &amp; paie, SCORM/xAPI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059669"/>
                </a:solidFill>
                <a:latin typeface="Segoe UI"/>
              </a:rPr>
              <a:t>●  </a:t>
            </a:r>
            <a:r>
              <a:rPr sz="1200" b="1">
                <a:solidFill>
                  <a:srgbClr val="0F172A"/>
                </a:solidFill>
                <a:latin typeface="Segoe UI"/>
              </a:rPr>
              <a:t>Long terme — </a:t>
            </a:r>
            <a:r>
              <a:rPr sz="1200">
                <a:solidFill>
                  <a:srgbClr val="334155"/>
                </a:solidFill>
                <a:latin typeface="Segoe UI"/>
              </a:rPr>
              <a:t>BI avancée, API publique inter-établissements, IA dans le LMS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Images de Merci pour votre attention francais – Téléchargement gratuit ...">
            <a:extLst>
              <a:ext uri="{FF2B5EF4-FFF2-40B4-BE49-F238E27FC236}">
                <a16:creationId xmlns:a16="http://schemas.microsoft.com/office/drawing/2014/main" id="{7FF0DEF8-BF44-46B4-BE77-EFB92EF9C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3971" y="525544"/>
            <a:ext cx="8639594" cy="5067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75898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1">
                <a:solidFill>
                  <a:srgbClr val="2563EB"/>
                </a:solidFill>
                <a:latin typeface="Segoe UI"/>
              </a:rPr>
              <a:t>ANNEXES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Segoe UI Semibold"/>
              </a:rPr>
              <a:t>Diagramme de classes — vue d'ensemble du domaine métier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27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183466" y="1300000"/>
            <a:ext cx="5822019" cy="51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Diagramme_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643" y="1400000"/>
            <a:ext cx="9379669" cy="4900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1">
                <a:solidFill>
                  <a:srgbClr val="2563EB"/>
                </a:solidFill>
                <a:latin typeface="Segoe UI"/>
              </a:rPr>
              <a:t>ANNEXES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Segoe UI Semibold"/>
              </a:rPr>
              <a:t>Structure LMD — niveaux, semestres, UE, EC, crédits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29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676135" y="1500000"/>
            <a:ext cx="2836682" cy="43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08_LM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4735" y="1728600"/>
            <a:ext cx="2379482" cy="3842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950000"/>
            <a:ext cx="11183112" cy="3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i="1">
                <a:solidFill>
                  <a:srgbClr val="64748B"/>
                </a:solidFill>
                <a:latin typeface="Segoe UI"/>
              </a:rPr>
              <a:t>Modélisation générique du système LMD, réutilisable pour tout programme Licence ou Master.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1">
                <a:solidFill>
                  <a:srgbClr val="2563EB"/>
                </a:solidFill>
                <a:latin typeface="Segoe UI"/>
              </a:rPr>
              <a:t>ANNEXES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Segoe UI Semibold"/>
              </a:rPr>
              <a:t>Évaluations — modèle polymorphe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30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516278" y="1500000"/>
            <a:ext cx="5156395" cy="43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17_Evalu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878" y="1728600"/>
            <a:ext cx="4699195" cy="3842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950000"/>
            <a:ext cx="11183112" cy="3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i="1">
                <a:solidFill>
                  <a:srgbClr val="64748B"/>
                </a:solidFill>
                <a:latin typeface="Segoe UI"/>
              </a:rPr>
              <a:t>Une évaluation abstraite spécialisée en Examen, Quiz, Devoir ou Projet — extensible sans casser l'existant.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1">
                <a:solidFill>
                  <a:srgbClr val="2563EB"/>
                </a:solidFill>
                <a:latin typeface="Segoe UI"/>
              </a:rPr>
              <a:t>ANNEXES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Segoe UI Semibold"/>
              </a:rPr>
              <a:t>Emploi du temps — créneaux, salles, réservations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31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31177" y="1500000"/>
            <a:ext cx="3726597" cy="43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24_EmploiTem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9777" y="1728600"/>
            <a:ext cx="3269397" cy="3842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950000"/>
            <a:ext cx="11183112" cy="3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i="1">
                <a:solidFill>
                  <a:srgbClr val="64748B"/>
                </a:solidFill>
                <a:latin typeface="Segoe UI"/>
              </a:rPr>
              <a:t>Structure support de la planification des séances et de la gestion des salles (présentiel/hybride).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2349</TotalTime>
  <Words>2901</Words>
  <Application>Microsoft Office PowerPoint</Application>
  <PresentationFormat>Widescreen</PresentationFormat>
  <Paragraphs>489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Ali Bréhima Cissé</cp:lastModifiedBy>
  <cp:revision>37</cp:revision>
  <dcterms:created xsi:type="dcterms:W3CDTF">2013-01-27T09:14:16Z</dcterms:created>
  <dcterms:modified xsi:type="dcterms:W3CDTF">2026-07-30T12:27:56Z</dcterms:modified>
  <cp:category/>
</cp:coreProperties>
</file>